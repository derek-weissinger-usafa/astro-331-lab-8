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9144000"/>
  <p:notesSz cx="6858000" cy="9144000"/>
  <p:embeddedFontLst>
    <p:embeddedFont>
      <p:font typeface="Quattrocento Sans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jdeCnu8lAzD9+tydpnVE8c63/G3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QuattrocentoSans-bold.fntdata"/><Relationship Id="rId12" Type="http://schemas.openxmlformats.org/officeDocument/2006/relationships/font" Target="fonts/QuattrocentoSans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QuattrocentoSans-boldItalic.fntdata"/><Relationship Id="rId14" Type="http://schemas.openxmlformats.org/officeDocument/2006/relationships/font" Target="fonts/QuattrocentoSans-italic.fntdata"/><Relationship Id="rId16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https://www.youtube.com/watch?v=jVXgWGK9Kr8</a:t>
            </a:r>
            <a:endParaRPr/>
          </a:p>
        </p:txBody>
      </p:sp>
      <p:sp>
        <p:nvSpPr>
          <p:cNvPr id="81" name="Google Shape;81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" name="Google Shape;87;p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" name="Google Shape;96;p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h1e1805356538ab88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" name="Google Shape;103;h1e1805356538ab88_0_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h1e1805356538ab88_0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0" name="Google Shape;110;h1e1805356538ab88_0_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h1e1805356538ab88_0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7" name="Google Shape;117;h1e1805356538ab88_0_1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h1e1805356538ab88_0_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4" name="Google Shape;124;h1e1805356538ab88_0_1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"/>
          <p:cNvSpPr txBox="1"/>
          <p:nvPr>
            <p:ph type="ctrTitle"/>
          </p:nvPr>
        </p:nvSpPr>
        <p:spPr>
          <a:xfrm>
            <a:off x="1177505" y="1287560"/>
            <a:ext cx="678899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Quattrocento Sans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6"/>
          <p:cNvSpPr txBox="1"/>
          <p:nvPr>
            <p:ph idx="1" type="subTitle"/>
          </p:nvPr>
        </p:nvSpPr>
        <p:spPr>
          <a:xfrm>
            <a:off x="1143000" y="3781865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0" name="Google Shape;20;p6"/>
          <p:cNvSpPr txBox="1"/>
          <p:nvPr>
            <p:ph idx="10" type="dt"/>
          </p:nvPr>
        </p:nvSpPr>
        <p:spPr>
          <a:xfrm>
            <a:off x="38291" y="6465105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6"/>
          <p:cNvSpPr txBox="1"/>
          <p:nvPr>
            <p:ph idx="12" type="sldNum"/>
          </p:nvPr>
        </p:nvSpPr>
        <p:spPr>
          <a:xfrm>
            <a:off x="7040236" y="646510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" name="Google Shape;22;p6"/>
          <p:cNvSpPr txBox="1"/>
          <p:nvPr/>
        </p:nvSpPr>
        <p:spPr>
          <a:xfrm>
            <a:off x="1028701" y="111639"/>
            <a:ext cx="7226780" cy="696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Quattrocento Sans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USAFA ASTRO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6"/>
          <p:cNvSpPr txBox="1"/>
          <p:nvPr/>
        </p:nvSpPr>
        <p:spPr>
          <a:xfrm>
            <a:off x="1143000" y="6288282"/>
            <a:ext cx="6858000" cy="5012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ASTRO 331 – Space Systems Engineering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7"/>
          <p:cNvSpPr txBox="1"/>
          <p:nvPr>
            <p:ph type="title"/>
          </p:nvPr>
        </p:nvSpPr>
        <p:spPr>
          <a:xfrm>
            <a:off x="866966" y="133186"/>
            <a:ext cx="7886700" cy="6521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7"/>
          <p:cNvSpPr txBox="1"/>
          <p:nvPr>
            <p:ph idx="1" type="body"/>
          </p:nvPr>
        </p:nvSpPr>
        <p:spPr>
          <a:xfrm>
            <a:off x="200025" y="1002506"/>
            <a:ext cx="8793015" cy="52275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7"/>
          <p:cNvSpPr txBox="1"/>
          <p:nvPr>
            <p:ph idx="10" type="dt"/>
          </p:nvPr>
        </p:nvSpPr>
        <p:spPr>
          <a:xfrm>
            <a:off x="38291" y="6465105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7040236" y="646510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Quattrocento Sans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8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2" name="Google Shape;32;p8"/>
          <p:cNvSpPr txBox="1"/>
          <p:nvPr>
            <p:ph idx="10" type="dt"/>
          </p:nvPr>
        </p:nvSpPr>
        <p:spPr>
          <a:xfrm>
            <a:off x="38291" y="6465105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8"/>
          <p:cNvSpPr txBox="1"/>
          <p:nvPr>
            <p:ph idx="12" type="sldNum"/>
          </p:nvPr>
        </p:nvSpPr>
        <p:spPr>
          <a:xfrm>
            <a:off x="7040236" y="646510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/>
          <p:nvPr>
            <p:ph type="title"/>
          </p:nvPr>
        </p:nvSpPr>
        <p:spPr>
          <a:xfrm>
            <a:off x="866966" y="133186"/>
            <a:ext cx="7886700" cy="6521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9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9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9"/>
          <p:cNvSpPr txBox="1"/>
          <p:nvPr>
            <p:ph idx="10" type="dt"/>
          </p:nvPr>
        </p:nvSpPr>
        <p:spPr>
          <a:xfrm>
            <a:off x="38291" y="6465105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9"/>
          <p:cNvSpPr txBox="1"/>
          <p:nvPr>
            <p:ph idx="12" type="sldNum"/>
          </p:nvPr>
        </p:nvSpPr>
        <p:spPr>
          <a:xfrm>
            <a:off x="7040236" y="646510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0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0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0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10"/>
          <p:cNvSpPr txBox="1"/>
          <p:nvPr>
            <p:ph idx="10" type="dt"/>
          </p:nvPr>
        </p:nvSpPr>
        <p:spPr>
          <a:xfrm>
            <a:off x="38291" y="6465105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7040236" y="646510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/>
          <p:nvPr>
            <p:ph type="title"/>
          </p:nvPr>
        </p:nvSpPr>
        <p:spPr>
          <a:xfrm>
            <a:off x="866966" y="133186"/>
            <a:ext cx="7886700" cy="6521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1"/>
          <p:cNvSpPr txBox="1"/>
          <p:nvPr>
            <p:ph idx="10" type="dt"/>
          </p:nvPr>
        </p:nvSpPr>
        <p:spPr>
          <a:xfrm>
            <a:off x="38291" y="6465105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1"/>
          <p:cNvSpPr txBox="1"/>
          <p:nvPr>
            <p:ph idx="11" type="ftr"/>
          </p:nvPr>
        </p:nvSpPr>
        <p:spPr>
          <a:xfrm>
            <a:off x="3028950" y="6501692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7040236" y="646510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0" type="dt"/>
          </p:nvPr>
        </p:nvSpPr>
        <p:spPr>
          <a:xfrm>
            <a:off x="38291" y="6465105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2"/>
          <p:cNvSpPr txBox="1"/>
          <p:nvPr>
            <p:ph idx="12" type="sldNum"/>
          </p:nvPr>
        </p:nvSpPr>
        <p:spPr>
          <a:xfrm>
            <a:off x="7040236" y="646510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3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Quattrocento Sans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3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9" name="Google Shape;59;p13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0" name="Google Shape;60;p13"/>
          <p:cNvSpPr txBox="1"/>
          <p:nvPr>
            <p:ph idx="10" type="dt"/>
          </p:nvPr>
        </p:nvSpPr>
        <p:spPr>
          <a:xfrm>
            <a:off x="38291" y="6465105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3"/>
          <p:cNvSpPr txBox="1"/>
          <p:nvPr>
            <p:ph idx="12" type="sldNum"/>
          </p:nvPr>
        </p:nvSpPr>
        <p:spPr>
          <a:xfrm>
            <a:off x="7040236" y="646510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Quattrocento Sans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4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6" name="Google Shape;66;p14"/>
          <p:cNvSpPr txBox="1"/>
          <p:nvPr>
            <p:ph idx="10" type="dt"/>
          </p:nvPr>
        </p:nvSpPr>
        <p:spPr>
          <a:xfrm>
            <a:off x="38291" y="6465105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4"/>
          <p:cNvSpPr txBox="1"/>
          <p:nvPr>
            <p:ph idx="12" type="sldNum"/>
          </p:nvPr>
        </p:nvSpPr>
        <p:spPr>
          <a:xfrm>
            <a:off x="7040236" y="646510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866966" y="133186"/>
            <a:ext cx="7886700" cy="6521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 rot="5400000">
            <a:off x="1982756" y="-780225"/>
            <a:ext cx="5227553" cy="87930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10" type="dt"/>
          </p:nvPr>
        </p:nvSpPr>
        <p:spPr>
          <a:xfrm>
            <a:off x="38291" y="6465105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5"/>
          <p:cNvSpPr txBox="1"/>
          <p:nvPr>
            <p:ph idx="12" type="sldNum"/>
          </p:nvPr>
        </p:nvSpPr>
        <p:spPr>
          <a:xfrm>
            <a:off x="7040236" y="646510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10" type="dt"/>
          </p:nvPr>
        </p:nvSpPr>
        <p:spPr>
          <a:xfrm>
            <a:off x="38291" y="6465105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6"/>
          <p:cNvSpPr txBox="1"/>
          <p:nvPr>
            <p:ph idx="12" type="sldNum"/>
          </p:nvPr>
        </p:nvSpPr>
        <p:spPr>
          <a:xfrm>
            <a:off x="7040236" y="646510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/>
          <p:nvPr>
            <p:ph type="title"/>
          </p:nvPr>
        </p:nvSpPr>
        <p:spPr>
          <a:xfrm>
            <a:off x="866966" y="133186"/>
            <a:ext cx="7886700" cy="6521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None/>
              <a:defRPr b="1" i="0" sz="2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5"/>
          <p:cNvSpPr txBox="1"/>
          <p:nvPr>
            <p:ph idx="1" type="body"/>
          </p:nvPr>
        </p:nvSpPr>
        <p:spPr>
          <a:xfrm>
            <a:off x="200025" y="1002506"/>
            <a:ext cx="8793015" cy="52275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5"/>
          <p:cNvSpPr txBox="1"/>
          <p:nvPr>
            <p:ph idx="10" type="dt"/>
          </p:nvPr>
        </p:nvSpPr>
        <p:spPr>
          <a:xfrm>
            <a:off x="38291" y="6465105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5"/>
          <p:cNvSpPr txBox="1"/>
          <p:nvPr>
            <p:ph idx="12" type="sldNum"/>
          </p:nvPr>
        </p:nvSpPr>
        <p:spPr>
          <a:xfrm>
            <a:off x="7040236" y="646510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" name="Google Shape;14;p5"/>
          <p:cNvSpPr txBox="1"/>
          <p:nvPr/>
        </p:nvSpPr>
        <p:spPr>
          <a:xfrm>
            <a:off x="8115301" y="72097"/>
            <a:ext cx="97047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2025 Fall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5"/>
          <p:cNvSpPr/>
          <p:nvPr/>
        </p:nvSpPr>
        <p:spPr>
          <a:xfrm>
            <a:off x="46364" y="855395"/>
            <a:ext cx="9039409" cy="59616"/>
          </a:xfrm>
          <a:prstGeom prst="rect">
            <a:avLst/>
          </a:prstGeom>
          <a:solidFill>
            <a:schemeClr val="dk1"/>
          </a:solidFill>
          <a:ln cap="flat" cmpd="sng" w="19050">
            <a:solidFill>
              <a:schemeClr val="dk1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" name="Google Shape;16;p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46365" y="18574"/>
            <a:ext cx="734686" cy="827487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"/>
          <p:cNvSpPr txBox="1"/>
          <p:nvPr>
            <p:ph type="ctrTitle"/>
          </p:nvPr>
        </p:nvSpPr>
        <p:spPr>
          <a:xfrm>
            <a:off x="1177505" y="1287560"/>
            <a:ext cx="678899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Quattrocento Sans"/>
              <a:buNone/>
            </a:pPr>
            <a:r>
              <a:rPr b="1" lang="en-US" sz="4800"/>
              <a:t>Lab 8: </a:t>
            </a:r>
            <a:r>
              <a:rPr lang="en-US" sz="4800"/>
              <a:t>Preliminary Data Review</a:t>
            </a:r>
            <a:endParaRPr/>
          </a:p>
        </p:txBody>
      </p:sp>
      <p:sp>
        <p:nvSpPr>
          <p:cNvPr id="84" name="Google Shape;84;p1"/>
          <p:cNvSpPr txBox="1"/>
          <p:nvPr>
            <p:ph idx="1" type="subTitle"/>
          </p:nvPr>
        </p:nvSpPr>
        <p:spPr>
          <a:xfrm>
            <a:off x="1143000" y="3429000"/>
            <a:ext cx="6858000" cy="23168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30"/>
              <a:buNone/>
            </a:pPr>
            <a:r>
              <a:rPr b="1" lang="en-US" sz="3630"/>
              <a:t>2/3 Body Problem</a:t>
            </a:r>
            <a:endParaRPr sz="2520"/>
          </a:p>
          <a:p>
            <a:pPr indent="0" lvl="0" marL="0" rtl="0" algn="ctr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20"/>
              <a:buNone/>
            </a:pPr>
            <a:r>
              <a:t/>
            </a:r>
            <a:endParaRPr b="1" sz="2520"/>
          </a:p>
          <a:p>
            <a:pPr indent="0" lvl="0" marL="0" rtl="0" algn="ctr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20"/>
              <a:buNone/>
            </a:pPr>
            <a:r>
              <a:rPr b="1" lang="en-US" sz="2520"/>
              <a:t>C2C Gowri Ramaprasad</a:t>
            </a:r>
            <a:endParaRPr sz="2520"/>
          </a:p>
          <a:p>
            <a:pPr indent="0" lvl="0" marL="0" rtl="0" algn="ctr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20"/>
              <a:buNone/>
            </a:pPr>
            <a:r>
              <a:rPr b="1" lang="en-US" sz="2520"/>
              <a:t>C2C Derek Weissinger</a:t>
            </a:r>
            <a:endParaRPr b="1" sz="2520"/>
          </a:p>
          <a:p>
            <a:pPr indent="0" lvl="0" marL="0" rtl="0" algn="ctr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20"/>
              <a:buNone/>
            </a:pPr>
            <a:r>
              <a:rPr b="1" lang="en-US" sz="2520"/>
              <a:t>C2C Owen Crawley</a:t>
            </a:r>
            <a:endParaRPr b="1" sz="2520"/>
          </a:p>
          <a:p>
            <a:pPr indent="0" lvl="0" marL="0" rtl="0" algn="ctr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20"/>
              <a:buNone/>
            </a:pPr>
            <a:r>
              <a:t/>
            </a:r>
            <a:endParaRPr b="1" sz="252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"/>
          <p:cNvSpPr txBox="1"/>
          <p:nvPr>
            <p:ph type="title"/>
          </p:nvPr>
        </p:nvSpPr>
        <p:spPr>
          <a:xfrm>
            <a:off x="866966" y="133186"/>
            <a:ext cx="7886700" cy="6521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None/>
            </a:pPr>
            <a:r>
              <a:rPr lang="en-US"/>
              <a:t>Overview</a:t>
            </a:r>
            <a:endParaRPr/>
          </a:p>
        </p:txBody>
      </p:sp>
      <p:sp>
        <p:nvSpPr>
          <p:cNvPr id="90" name="Google Shape;90;p3"/>
          <p:cNvSpPr txBox="1"/>
          <p:nvPr>
            <p:ph idx="1" type="body"/>
          </p:nvPr>
        </p:nvSpPr>
        <p:spPr>
          <a:xfrm>
            <a:off x="200025" y="1002506"/>
            <a:ext cx="8793015" cy="57223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Using the small air bearing table, develop a reaction wheel control system in 3 degrees of freedom (pitch, yaw, roll).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Develop a robust sensor fusion algorithm using gyroscopes, magnetometers and accelerometers to accurately determine attitude at any given state.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91" name="Google Shape;91;p3"/>
          <p:cNvSpPr txBox="1"/>
          <p:nvPr>
            <p:ph idx="12" type="sldNum"/>
          </p:nvPr>
        </p:nvSpPr>
        <p:spPr>
          <a:xfrm>
            <a:off x="7040236" y="646510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2" name="Google Shape;9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6975" y="3683750"/>
            <a:ext cx="2280799" cy="3041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57900" y="3683750"/>
            <a:ext cx="2280799" cy="3041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"/>
          <p:cNvSpPr txBox="1"/>
          <p:nvPr>
            <p:ph type="title"/>
          </p:nvPr>
        </p:nvSpPr>
        <p:spPr>
          <a:xfrm>
            <a:off x="866966" y="133186"/>
            <a:ext cx="7886700" cy="6521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None/>
            </a:pPr>
            <a:r>
              <a:rPr lang="en-US"/>
              <a:t>Requirements</a:t>
            </a:r>
            <a:endParaRPr/>
          </a:p>
        </p:txBody>
      </p:sp>
      <p:sp>
        <p:nvSpPr>
          <p:cNvPr id="99" name="Google Shape;99;p4"/>
          <p:cNvSpPr txBox="1"/>
          <p:nvPr>
            <p:ph idx="1" type="body"/>
          </p:nvPr>
        </p:nvSpPr>
        <p:spPr>
          <a:xfrm>
            <a:off x="200025" y="1002506"/>
            <a:ext cx="8793015" cy="52275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Primary Requirements: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AutoNum type="arabicParenBoth"/>
            </a:pPr>
            <a:r>
              <a:rPr lang="en-US"/>
              <a:t>The system shall maintain a specified heading without visible jitter or drift.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arenBoth"/>
            </a:pPr>
            <a:r>
              <a:rPr lang="en-US"/>
              <a:t>The system shall be able to determine true attitude +/- 1 degree in all 3 fundamental axes.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arenBoth"/>
            </a:pPr>
            <a:r>
              <a:rPr lang="en-US"/>
              <a:t>The system shall automatically detect simulated or real wheel failure and compensate, still fulfilling above requirements.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/>
              <a:t>Stretch Requirement: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AutoNum type="arabicParenBoth"/>
            </a:pPr>
            <a:r>
              <a:rPr lang="en-US"/>
              <a:t>The system shall slew to a series of 4 points following the optimal path, coming within +/- 1 degree of each point in all 3 fundamental axes.</a:t>
            </a:r>
            <a:endParaRPr/>
          </a:p>
        </p:txBody>
      </p:sp>
      <p:sp>
        <p:nvSpPr>
          <p:cNvPr id="100" name="Google Shape;100;p4"/>
          <p:cNvSpPr txBox="1"/>
          <p:nvPr>
            <p:ph idx="12" type="sldNum"/>
          </p:nvPr>
        </p:nvSpPr>
        <p:spPr>
          <a:xfrm>
            <a:off x="7040236" y="646510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h1e1805356538ab88_0_0"/>
          <p:cNvSpPr txBox="1"/>
          <p:nvPr>
            <p:ph type="title"/>
          </p:nvPr>
        </p:nvSpPr>
        <p:spPr>
          <a:xfrm>
            <a:off x="866966" y="133186"/>
            <a:ext cx="7886700" cy="65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None/>
            </a:pPr>
            <a:r>
              <a:rPr lang="en-US"/>
              <a:t>Theory</a:t>
            </a:r>
            <a:endParaRPr/>
          </a:p>
        </p:txBody>
      </p:sp>
      <p:sp>
        <p:nvSpPr>
          <p:cNvPr id="106" name="Google Shape;106;h1e1805356538ab88_0_0"/>
          <p:cNvSpPr txBox="1"/>
          <p:nvPr>
            <p:ph idx="1" type="body"/>
          </p:nvPr>
        </p:nvSpPr>
        <p:spPr>
          <a:xfrm>
            <a:off x="200025" y="1002506"/>
            <a:ext cx="8793000" cy="52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t/>
            </a:r>
            <a:endParaRPr/>
          </a:p>
        </p:txBody>
      </p:sp>
      <p:sp>
        <p:nvSpPr>
          <p:cNvPr id="107" name="Google Shape;107;h1e1805356538ab88_0_0"/>
          <p:cNvSpPr txBox="1"/>
          <p:nvPr>
            <p:ph idx="12" type="sldNum"/>
          </p:nvPr>
        </p:nvSpPr>
        <p:spPr>
          <a:xfrm>
            <a:off x="7040236" y="6465106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h1e1805356538ab88_0_6"/>
          <p:cNvSpPr txBox="1"/>
          <p:nvPr>
            <p:ph type="title"/>
          </p:nvPr>
        </p:nvSpPr>
        <p:spPr>
          <a:xfrm>
            <a:off x="866966" y="133186"/>
            <a:ext cx="7886700" cy="65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None/>
            </a:pPr>
            <a:r>
              <a:rPr lang="en-US"/>
              <a:t>Build Progress</a:t>
            </a:r>
            <a:endParaRPr/>
          </a:p>
        </p:txBody>
      </p:sp>
      <p:sp>
        <p:nvSpPr>
          <p:cNvPr id="113" name="Google Shape;113;h1e1805356538ab88_0_6"/>
          <p:cNvSpPr txBox="1"/>
          <p:nvPr>
            <p:ph idx="1" type="body"/>
          </p:nvPr>
        </p:nvSpPr>
        <p:spPr>
          <a:xfrm>
            <a:off x="200025" y="1002506"/>
            <a:ext cx="8793000" cy="52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t/>
            </a:r>
            <a:endParaRPr/>
          </a:p>
        </p:txBody>
      </p:sp>
      <p:sp>
        <p:nvSpPr>
          <p:cNvPr id="114" name="Google Shape;114;h1e1805356538ab88_0_6"/>
          <p:cNvSpPr txBox="1"/>
          <p:nvPr>
            <p:ph idx="12" type="sldNum"/>
          </p:nvPr>
        </p:nvSpPr>
        <p:spPr>
          <a:xfrm>
            <a:off x="7040236" y="6465106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h1e1805356538ab88_0_12"/>
          <p:cNvSpPr txBox="1"/>
          <p:nvPr>
            <p:ph type="title"/>
          </p:nvPr>
        </p:nvSpPr>
        <p:spPr>
          <a:xfrm>
            <a:off x="866966" y="133186"/>
            <a:ext cx="7886700" cy="65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None/>
            </a:pPr>
            <a:r>
              <a:rPr lang="en-US"/>
              <a:t>Data</a:t>
            </a:r>
            <a:endParaRPr/>
          </a:p>
        </p:txBody>
      </p:sp>
      <p:sp>
        <p:nvSpPr>
          <p:cNvPr id="120" name="Google Shape;120;h1e1805356538ab88_0_12"/>
          <p:cNvSpPr txBox="1"/>
          <p:nvPr>
            <p:ph idx="1" type="body"/>
          </p:nvPr>
        </p:nvSpPr>
        <p:spPr>
          <a:xfrm>
            <a:off x="200025" y="1002506"/>
            <a:ext cx="8793000" cy="52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t/>
            </a:r>
            <a:endParaRPr/>
          </a:p>
        </p:txBody>
      </p:sp>
      <p:sp>
        <p:nvSpPr>
          <p:cNvPr id="121" name="Google Shape;121;h1e1805356538ab88_0_12"/>
          <p:cNvSpPr txBox="1"/>
          <p:nvPr>
            <p:ph idx="12" type="sldNum"/>
          </p:nvPr>
        </p:nvSpPr>
        <p:spPr>
          <a:xfrm>
            <a:off x="7040236" y="6465106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h1e1805356538ab88_0_18"/>
          <p:cNvSpPr txBox="1"/>
          <p:nvPr>
            <p:ph type="title"/>
          </p:nvPr>
        </p:nvSpPr>
        <p:spPr>
          <a:xfrm>
            <a:off x="866966" y="133186"/>
            <a:ext cx="7886700" cy="65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None/>
            </a:pPr>
            <a:r>
              <a:rPr lang="en-US"/>
              <a:t>Future Plans</a:t>
            </a:r>
            <a:endParaRPr/>
          </a:p>
        </p:txBody>
      </p:sp>
      <p:sp>
        <p:nvSpPr>
          <p:cNvPr id="127" name="Google Shape;127;h1e1805356538ab88_0_18"/>
          <p:cNvSpPr txBox="1"/>
          <p:nvPr>
            <p:ph idx="1" type="body"/>
          </p:nvPr>
        </p:nvSpPr>
        <p:spPr>
          <a:xfrm>
            <a:off x="200025" y="1002506"/>
            <a:ext cx="8793000" cy="52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t/>
            </a:r>
            <a:endParaRPr/>
          </a:p>
        </p:txBody>
      </p:sp>
      <p:sp>
        <p:nvSpPr>
          <p:cNvPr id="128" name="Google Shape;128;h1e1805356538ab88_0_18"/>
          <p:cNvSpPr txBox="1"/>
          <p:nvPr>
            <p:ph idx="12" type="sldNum"/>
          </p:nvPr>
        </p:nvSpPr>
        <p:spPr>
          <a:xfrm>
            <a:off x="7040236" y="6465106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2025-07-17T17:53:42Z</dcterms:created>
  <dc:creator>Harris, Wyatt J Lt Col USAF USAFA DF/DFAS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0x01010079E104B47FA86644A46CA5C8803E74CD</vt:lpwstr>
  </property>
  <property fmtid="{D5CDD505-2E9C-101B-9397-08002B2CF9AE}" pid="3" name="MediaServiceImageTags">
    <vt:lpwstr/>
  </property>
</Properties>
</file>