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63" r:id="rId4"/>
    <p:sldId id="259" r:id="rId5"/>
    <p:sldId id="264" r:id="rId6"/>
    <p:sldId id="260" r:id="rId7"/>
    <p:sldId id="273" r:id="rId8"/>
    <p:sldId id="265" r:id="rId9"/>
    <p:sldId id="261" r:id="rId10"/>
    <p:sldId id="266" r:id="rId11"/>
    <p:sldId id="267" r:id="rId12"/>
    <p:sldId id="268" r:id="rId13"/>
    <p:sldId id="269" r:id="rId14"/>
    <p:sldId id="270" r:id="rId15"/>
    <p:sldId id="274" r:id="rId16"/>
    <p:sldId id="275" r:id="rId17"/>
    <p:sldId id="262" r:id="rId18"/>
    <p:sldId id="271" r:id="rId19"/>
    <p:sldId id="272" r:id="rId20"/>
  </p:sldIdLst>
  <p:sldSz cx="9144000" cy="6858000" type="screen4x3"/>
  <p:notesSz cx="6858000" cy="9144000"/>
  <p:embeddedFontLst>
    <p:embeddedFont>
      <p:font typeface="Quattrocento Sans" panose="020B0502050000020003" pitchFamily="34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6" roundtripDataSignature="AMtx7mjdeCnu8lAzD9+tydpnVE8c63/G3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8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customschemas.google.com/relationships/presentationmetadata" Target="meta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0" name="Google Shape;80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https://www.youtube.com/watch?v=jVXgWGK9Kr8</a:t>
            </a:r>
            <a:endParaRPr/>
          </a:p>
        </p:txBody>
      </p:sp>
      <p:sp>
        <p:nvSpPr>
          <p:cNvPr id="81" name="Google Shape;81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" name="Google Shape;8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h1e1805356538ab88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3" name="Google Shape;103;h1e1805356538ab8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tabLst/>
              <a:defRPr/>
            </a:pPr>
            <a:r>
              <a:rPr lang="en-US" dirty="0"/>
              <a:t>I * </a:t>
            </a:r>
            <a:r>
              <a:rPr lang="en-US" dirty="0" err="1"/>
              <a:t>alpha_ref</a:t>
            </a:r>
            <a:r>
              <a:rPr lang="en-US" dirty="0"/>
              <a:t> is feed-forward: we know acceleration dynamics, so we just put it in control law instead of waiting for error to build up. </a:t>
            </a:r>
          </a:p>
          <a:p>
            <a:pPr marL="4572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tabLst/>
              <a:defRPr/>
            </a:pPr>
            <a:endParaRPr lang="en-US" sz="1200" dirty="0"/>
          </a:p>
          <a:p>
            <a:pPr marL="4572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tabLst/>
              <a:defRPr/>
            </a:pPr>
            <a:r>
              <a:rPr lang="en-US" sz="1200" dirty="0"/>
              <a:t>D⁺: pseudo-inverse of D, gives least wheel torque for desired body torque</a:t>
            </a:r>
            <a:endParaRPr lang="en-US" sz="1050" b="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lang="en-US"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822302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h1e1805356538ab88_0_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0" name="Google Shape;110;h1e1805356538ab88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h1e1805356538ab88_0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7" name="Google Shape;117;h1e1805356538ab88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h1e1805356538ab88_0_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4" name="Google Shape;124;h1e1805356538ab88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6"/>
          <p:cNvSpPr txBox="1">
            <a:spLocks noGrp="1"/>
          </p:cNvSpPr>
          <p:nvPr>
            <p:ph type="ctrTitle"/>
          </p:nvPr>
        </p:nvSpPr>
        <p:spPr>
          <a:xfrm>
            <a:off x="1177505" y="1287560"/>
            <a:ext cx="678899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Quattrocento Sans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6"/>
          <p:cNvSpPr txBox="1">
            <a:spLocks noGrp="1"/>
          </p:cNvSpPr>
          <p:nvPr>
            <p:ph type="subTitle" idx="1"/>
          </p:nvPr>
        </p:nvSpPr>
        <p:spPr>
          <a:xfrm>
            <a:off x="1143000" y="3781865"/>
            <a:ext cx="6858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0" name="Google Shape;20;p6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6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" name="Google Shape;22;p6"/>
          <p:cNvSpPr txBox="1"/>
          <p:nvPr/>
        </p:nvSpPr>
        <p:spPr>
          <a:xfrm>
            <a:off x="1028701" y="111639"/>
            <a:ext cx="7226780" cy="696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Quattrocento Sans"/>
              <a:buNone/>
            </a:pPr>
            <a:r>
              <a:rPr lang="en-US" sz="3600" b="1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USAFA ASTRO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6"/>
          <p:cNvSpPr txBox="1"/>
          <p:nvPr/>
        </p:nvSpPr>
        <p:spPr>
          <a:xfrm>
            <a:off x="1143000" y="6288282"/>
            <a:ext cx="6858000" cy="501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en-US" sz="2000" b="1" i="1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ASTRO 331 – Space Systems Engineering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7"/>
          <p:cNvSpPr txBox="1">
            <a:spLocks noGrp="1"/>
          </p:cNvSpPr>
          <p:nvPr>
            <p:ph type="body" idx="1"/>
          </p:nvPr>
        </p:nvSpPr>
        <p:spPr>
          <a:xfrm>
            <a:off x="200025" y="1002506"/>
            <a:ext cx="8793015" cy="5227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7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Quattrocento Sans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8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body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"/>
          <p:cNvSpPr txBox="1"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body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0"/>
          <p:cNvSpPr txBox="1">
            <a:spLocks noGrp="1"/>
          </p:cNvSpPr>
          <p:nvPr>
            <p:ph type="body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0"/>
          <p:cNvSpPr txBox="1">
            <a:spLocks noGrp="1"/>
          </p:cNvSpPr>
          <p:nvPr>
            <p:ph type="body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1"/>
          <p:cNvSpPr txBox="1">
            <a:spLocks noGrp="1"/>
          </p:cNvSpPr>
          <p:nvPr>
            <p:ph type="ftr" idx="11"/>
          </p:nvPr>
        </p:nvSpPr>
        <p:spPr>
          <a:xfrm>
            <a:off x="3028950" y="650169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2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3"/>
          <p:cNvSpPr txBox="1"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Quattrocento Sans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body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Quattrocento Sans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4"/>
          <p:cNvSpPr>
            <a:spLocks noGrp="1"/>
          </p:cNvSpPr>
          <p:nvPr>
            <p:ph type="pic" idx="2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5" name="Google Shape;65;p14"/>
          <p:cNvSpPr txBox="1">
            <a:spLocks noGrp="1"/>
          </p:cNvSpPr>
          <p:nvPr>
            <p:ph type="body" idx="1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4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body" idx="1"/>
          </p:nvPr>
        </p:nvSpPr>
        <p:spPr>
          <a:xfrm rot="5400000">
            <a:off x="1982756" y="-780225"/>
            <a:ext cx="5227553" cy="87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>
            <a:spLocks noGrp="1"/>
          </p:cNvSpPr>
          <p:nvPr>
            <p:ph type="title"/>
          </p:nvPr>
        </p:nvSpPr>
        <p:spPr>
          <a:xfrm rot="5400000">
            <a:off x="4623594" y="2285207"/>
            <a:ext cx="5811838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6"/>
          <p:cNvSpPr txBox="1">
            <a:spLocks noGrp="1"/>
          </p:cNvSpPr>
          <p:nvPr>
            <p:ph type="body" idx="1"/>
          </p:nvPr>
        </p:nvSpPr>
        <p:spPr>
          <a:xfrm rot="5400000">
            <a:off x="623094" y="370681"/>
            <a:ext cx="5811838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16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5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Quattrocento Sans"/>
              <a:buNone/>
              <a:defRPr sz="2800" b="1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5"/>
          <p:cNvSpPr txBox="1">
            <a:spLocks noGrp="1"/>
          </p:cNvSpPr>
          <p:nvPr>
            <p:ph type="body" idx="1"/>
          </p:nvPr>
        </p:nvSpPr>
        <p:spPr>
          <a:xfrm>
            <a:off x="200025" y="1002506"/>
            <a:ext cx="8793015" cy="5227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5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" name="Google Shape;14;p5"/>
          <p:cNvSpPr txBox="1"/>
          <p:nvPr/>
        </p:nvSpPr>
        <p:spPr>
          <a:xfrm>
            <a:off x="8115301" y="72097"/>
            <a:ext cx="97047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Fall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5"/>
          <p:cNvSpPr/>
          <p:nvPr/>
        </p:nvSpPr>
        <p:spPr>
          <a:xfrm>
            <a:off x="46364" y="855395"/>
            <a:ext cx="9039409" cy="59616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" name="Google Shape;16;p5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46365" y="18574"/>
            <a:ext cx="734686" cy="827487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"/>
          <p:cNvSpPr txBox="1">
            <a:spLocks noGrp="1"/>
          </p:cNvSpPr>
          <p:nvPr>
            <p:ph type="ctrTitle"/>
          </p:nvPr>
        </p:nvSpPr>
        <p:spPr>
          <a:xfrm>
            <a:off x="1177505" y="1287560"/>
            <a:ext cx="678899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Quattrocento Sans"/>
              <a:buNone/>
            </a:pPr>
            <a:r>
              <a:rPr lang="en-US" sz="4800" b="1"/>
              <a:t>Lab 8: </a:t>
            </a:r>
            <a:r>
              <a:rPr lang="en-US" sz="4800"/>
              <a:t>Preliminary Data Review</a:t>
            </a:r>
            <a:endParaRPr/>
          </a:p>
        </p:txBody>
      </p:sp>
      <p:sp>
        <p:nvSpPr>
          <p:cNvPr id="84" name="Google Shape;84;p1"/>
          <p:cNvSpPr txBox="1">
            <a:spLocks noGrp="1"/>
          </p:cNvSpPr>
          <p:nvPr>
            <p:ph type="subTitle" idx="1"/>
          </p:nvPr>
        </p:nvSpPr>
        <p:spPr>
          <a:xfrm>
            <a:off x="1143000" y="3429000"/>
            <a:ext cx="6858000" cy="23168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30"/>
              <a:buNone/>
            </a:pPr>
            <a:r>
              <a:rPr lang="en-US" sz="3630" b="1"/>
              <a:t>2/3 Body Problem</a:t>
            </a:r>
            <a:endParaRPr sz="2520"/>
          </a:p>
          <a:p>
            <a:pPr marL="0" lvl="0" indent="0" algn="ctr" rtl="0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20"/>
              <a:buNone/>
            </a:pPr>
            <a:endParaRPr sz="2520" b="1"/>
          </a:p>
          <a:p>
            <a:pPr marL="0" lvl="0" indent="0" algn="ctr" rtl="0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20"/>
              <a:buNone/>
            </a:pPr>
            <a:r>
              <a:rPr lang="en-US" sz="2520" b="1"/>
              <a:t>C2C Gowri Ramaprasad</a:t>
            </a:r>
            <a:endParaRPr sz="2520"/>
          </a:p>
          <a:p>
            <a:pPr marL="0" lvl="0" indent="0" algn="ctr" rtl="0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20"/>
              <a:buNone/>
            </a:pPr>
            <a:r>
              <a:rPr lang="en-US" sz="2520" b="1"/>
              <a:t>C2C Derek Weissinger</a:t>
            </a:r>
            <a:endParaRPr sz="2520" b="1"/>
          </a:p>
          <a:p>
            <a:pPr marL="0" lvl="0" indent="0" algn="ctr" rtl="0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20"/>
              <a:buNone/>
            </a:pPr>
            <a:r>
              <a:rPr lang="en-US" sz="2520" b="1"/>
              <a:t>C2C Owen Crawley</a:t>
            </a:r>
            <a:endParaRPr sz="2520" b="1"/>
          </a:p>
          <a:p>
            <a:pPr marL="0" lvl="0" indent="0" algn="ctr" rtl="0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20"/>
              <a:buNone/>
            </a:pPr>
            <a:endParaRPr sz="2520" b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Quattrocento Sans"/>
              <a:buNone/>
            </a:pPr>
            <a:r>
              <a:rPr lang="en-US"/>
              <a:t>Overview</a:t>
            </a:r>
            <a:endParaRPr/>
          </a:p>
        </p:txBody>
      </p:sp>
      <p:sp>
        <p:nvSpPr>
          <p:cNvPr id="90" name="Google Shape;90;p3"/>
          <p:cNvSpPr txBox="1">
            <a:spLocks noGrp="1"/>
          </p:cNvSpPr>
          <p:nvPr>
            <p:ph type="body" idx="1"/>
          </p:nvPr>
        </p:nvSpPr>
        <p:spPr>
          <a:xfrm>
            <a:off x="200025" y="1002506"/>
            <a:ext cx="8793015" cy="57223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 dirty="0"/>
              <a:t>Using the small air bearing table, develop a 3 degrees of freedom (3DoF) reaction wheel attitude control system.</a:t>
            </a:r>
            <a:endParaRPr dirty="0"/>
          </a:p>
          <a:p>
            <a:pPr marL="4572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 dirty="0"/>
              <a:t>Develop a robust sensor fusion algorithm using gyroscopes, magnetometers and accelerometers to accurately determine attitude at any given state.</a:t>
            </a:r>
            <a:endParaRPr dirty="0"/>
          </a:p>
          <a:p>
            <a:pPr marL="228600" lvl="0" indent="-50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dirty="0"/>
          </a:p>
          <a:p>
            <a:pPr marL="685800" lvl="1" indent="-76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dirty="0"/>
          </a:p>
          <a:p>
            <a:pPr marL="685800" lvl="1" indent="-76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dirty="0"/>
          </a:p>
          <a:p>
            <a:pPr marL="685800" lvl="1" indent="-76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dirty="0"/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pic>
        <p:nvPicPr>
          <p:cNvPr id="92" name="Google Shape;92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66975" y="3683750"/>
            <a:ext cx="2280799" cy="3041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57900" y="3683750"/>
            <a:ext cx="2280799" cy="30410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Requirements: Verification &amp; Status</a:t>
            </a:r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graphicFrame>
        <p:nvGraphicFramePr>
          <p:cNvPr id="92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9387416"/>
              </p:ext>
            </p:extLst>
          </p:nvPr>
        </p:nvGraphicFramePr>
        <p:xfrm>
          <a:off x="274320" y="1005840"/>
          <a:ext cx="8595360" cy="457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144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Quattrocento Sans"/>
                        </a:rPr>
                        <a:t>Requirement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Quattrocento Sans"/>
                        </a:rPr>
                        <a:t>Verification method / pass criterion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Quattrocento Sans"/>
                        </a:rPr>
                        <a:t>Status at review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(1) Hold heading, no visible jitter or drift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ARM on the free-floating table, hold yaw = 0 for 5 min, log attitude. Pass: |yaw error| &lt; 1°, no visible oscillation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In progress: controller built and simulated; closed-loop test blocked by table balance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(2) Attitude ±1° in all 3 axes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Logged EKF vs. references: accelerometer level (roll/pitch), magnetometer + marked turns (yaw). Pass: error &lt; 1° over the run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Roll/pitch verified at rest (σ = 0.02°). Yaw: 3 °/h after warm-up (replay); moving-table test next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(3) Detect wheel failure and compensate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Disable a wheel (command or unplug) during a hold. Pass: fault flagged &lt; 1 s and (1), (2) still met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In progress: 3-wheel allocation implemented; detection not started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Stretch: 4-attitude optimal slew</a:t>
                      </a:r>
                      <a:r>
                        <a:rPr lang="en-US"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and hold</a:t>
                      </a:r>
                      <a:endParaRPr sz="125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Command 4 attitudes along quaternion (shortest) paths. Pass: each reached </a:t>
                      </a:r>
                      <a:r>
                        <a:rPr lang="en-US"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and held for 5 s </a:t>
                      </a:r>
                      <a:r>
                        <a:rPr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within ±1°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Planned: DEMO SPIN</a:t>
                      </a:r>
                      <a:r>
                        <a:rPr lang="en-US"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optimal</a:t>
                      </a:r>
                      <a:r>
                        <a:rPr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trajectory generator is reusable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h1e1805356538ab88_0_0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Quattrocento Sans"/>
              <a:buNone/>
            </a:pPr>
            <a:r>
              <a:rPr lang="en-US"/>
              <a:t>Theory: Estimation &amp; Control Loop</a:t>
            </a:r>
            <a:endParaRPr/>
          </a:p>
        </p:txBody>
      </p:sp>
      <p:sp>
        <p:nvSpPr>
          <p:cNvPr id="107" name="Google Shape;107;h1e1805356538ab88_0_0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pic>
        <p:nvPicPr>
          <p:cNvPr id="108" name="Picture 107" descr="diag_control_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96112"/>
            <a:ext cx="8595360" cy="3154680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274320" y="4160520"/>
            <a:ext cx="8595360" cy="199900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300000" indent="-228600">
              <a:lnSpc>
                <a:spcPct val="95000"/>
              </a:lnSpc>
              <a:spcBef>
                <a:spcPts val="700"/>
              </a:spcBef>
              <a:buChar char="•"/>
            </a:pPr>
            <a:r>
              <a:rPr sz="1600" b="0" dirty="0">
                <a:latin typeface="Quattrocento Sans"/>
              </a:rPr>
              <a:t>Multiplicative EKF on the Teensy: 6 error states (3 attitude + 3 gyro bias), attitude kept as a quaternion</a:t>
            </a:r>
          </a:p>
          <a:p>
            <a:pPr marL="300000" indent="-228600">
              <a:lnSpc>
                <a:spcPct val="95000"/>
              </a:lnSpc>
              <a:spcBef>
                <a:spcPts val="700"/>
              </a:spcBef>
              <a:buChar char="•"/>
            </a:pPr>
            <a:r>
              <a:rPr sz="1600" b="0" dirty="0">
                <a:latin typeface="Quattrocento Sans"/>
              </a:rPr>
              <a:t>Predict at 100 Hz with the gyro; update with the accelerometer (gravity direction) → corrects roll and pitch; rejects when |a| is not ≈ 1 g (accelerating)</a:t>
            </a:r>
          </a:p>
          <a:p>
            <a:pPr marL="300000" indent="-228600">
              <a:lnSpc>
                <a:spcPct val="95000"/>
              </a:lnSpc>
              <a:spcBef>
                <a:spcPts val="700"/>
              </a:spcBef>
              <a:buChar char="•"/>
            </a:pPr>
            <a:r>
              <a:rPr sz="1600" b="0" dirty="0">
                <a:latin typeface="Quattrocento Sans"/>
              </a:rPr>
              <a:t>Yaw is gyro-only: gravity carries no heading, and the magnetometer is disturbed by the wheel motors (see Data). The z-gyro bias comes from a 60–180 s calibration at rest</a:t>
            </a:r>
          </a:p>
          <a:p>
            <a:pPr marL="300000" indent="-228600">
              <a:lnSpc>
                <a:spcPct val="95000"/>
              </a:lnSpc>
              <a:spcBef>
                <a:spcPts val="700"/>
              </a:spcBef>
              <a:buChar char="•"/>
            </a:pPr>
            <a:r>
              <a:rPr sz="1600" b="0" dirty="0">
                <a:latin typeface="Quattrocento Sans"/>
              </a:rPr>
              <a:t>Frames: body z up, x = roll, y = pitch (right-handed); q maps inertial → body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Theory: Control Law &amp; Wheel Allocation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168" y="914400"/>
            <a:ext cx="5074920" cy="5440680"/>
          </a:xfrm>
        </p:spPr>
        <p:txBody>
          <a:bodyPr wrap="square">
            <a:normAutofit/>
          </a:bodyPr>
          <a:lstStyle/>
          <a:p>
            <a:pPr marL="300000" indent="-228600">
              <a:lnSpc>
                <a:spcPct val="95000"/>
              </a:lnSpc>
              <a:spcBef>
                <a:spcPts val="1000"/>
              </a:spcBef>
              <a:buChar char="•"/>
            </a:pPr>
            <a:r>
              <a:rPr sz="1700" b="1" dirty="0"/>
              <a:t>Quaternion PD with feed-forward:</a:t>
            </a:r>
          </a:p>
          <a:p>
            <a:pPr marL="300000" indent="0">
              <a:lnSpc>
                <a:spcPct val="95000"/>
              </a:lnSpc>
              <a:spcBef>
                <a:spcPts val="400"/>
              </a:spcBef>
              <a:buNone/>
            </a:pPr>
            <a:r>
              <a:rPr sz="1550" b="0" i="1" dirty="0"/>
              <a:t>τ = −</a:t>
            </a:r>
            <a:r>
              <a:rPr sz="1550" b="0" i="1" dirty="0" err="1"/>
              <a:t>Kp</a:t>
            </a:r>
            <a:r>
              <a:rPr sz="1550" b="0" i="1" dirty="0"/>
              <a:t> θₑ − </a:t>
            </a:r>
            <a:r>
              <a:rPr sz="1550" b="0" i="1" dirty="0" err="1"/>
              <a:t>Kd</a:t>
            </a:r>
            <a:r>
              <a:rPr sz="1550" b="0" i="1" dirty="0"/>
              <a:t> (ω − </a:t>
            </a:r>
            <a:r>
              <a:rPr sz="1550" b="0" i="1" dirty="0" err="1"/>
              <a:t>ω_ref</a:t>
            </a:r>
            <a:r>
              <a:rPr sz="1550" b="0" i="1" dirty="0"/>
              <a:t>) + I α_ref + ω × (</a:t>
            </a:r>
            <a:r>
              <a:rPr sz="1550" b="0" i="1" dirty="0" err="1"/>
              <a:t>Iω</a:t>
            </a:r>
            <a:r>
              <a:rPr sz="1550" b="0" i="1" dirty="0"/>
              <a:t> + </a:t>
            </a:r>
            <a:r>
              <a:rPr sz="1550" b="0" i="1" dirty="0" err="1"/>
              <a:t>h_w</a:t>
            </a:r>
            <a:r>
              <a:rPr sz="1550" b="0" i="1" dirty="0"/>
              <a:t>)</a:t>
            </a:r>
          </a:p>
          <a:p>
            <a:pPr marL="351400" indent="0">
              <a:lnSpc>
                <a:spcPct val="95000"/>
              </a:lnSpc>
              <a:spcBef>
                <a:spcPts val="1000"/>
              </a:spcBef>
              <a:buNone/>
            </a:pPr>
            <a:r>
              <a:rPr sz="1500" b="0" dirty="0" err="1"/>
              <a:t>Kp</a:t>
            </a:r>
            <a:r>
              <a:rPr sz="1500" b="0" dirty="0"/>
              <a:t> = I ωₙ², </a:t>
            </a:r>
            <a:r>
              <a:rPr sz="1500" b="0" dirty="0" err="1"/>
              <a:t>Kd</a:t>
            </a:r>
            <a:r>
              <a:rPr sz="1500" b="0" dirty="0"/>
              <a:t> = 2ζ I ωₙ (</a:t>
            </a:r>
            <a:r>
              <a:rPr lang="en-US" sz="1500" dirty="0"/>
              <a:t>ref. Engr 341 2</a:t>
            </a:r>
            <a:r>
              <a:rPr lang="en-US" sz="1500" baseline="30000" dirty="0"/>
              <a:t>nd</a:t>
            </a:r>
            <a:r>
              <a:rPr lang="en-US" sz="1500" dirty="0"/>
              <a:t>-order system, </a:t>
            </a:r>
            <a:r>
              <a:rPr sz="1500" b="0" dirty="0"/>
              <a:t>ωₙ = 2 rad/s, ζ = 0.9</a:t>
            </a:r>
            <a:r>
              <a:rPr lang="en-US" sz="1500" b="0" dirty="0"/>
              <a:t>)</a:t>
            </a:r>
            <a:endParaRPr sz="1500" b="0" dirty="0"/>
          </a:p>
          <a:p>
            <a:pPr marL="300000" indent="-228600">
              <a:lnSpc>
                <a:spcPct val="95000"/>
              </a:lnSpc>
              <a:spcBef>
                <a:spcPts val="1000"/>
              </a:spcBef>
              <a:buChar char="•"/>
            </a:pPr>
            <a:r>
              <a:rPr sz="1700" b="0" dirty="0"/>
              <a:t>4 wheels in a 45° pyramid: any 3 still span all axes → the basis for wheel-failure tolerance (Req. 3)</a:t>
            </a:r>
          </a:p>
          <a:p>
            <a:pPr marL="300000" indent="-228600">
              <a:lnSpc>
                <a:spcPct val="95000"/>
              </a:lnSpc>
              <a:spcBef>
                <a:spcPts val="1000"/>
              </a:spcBef>
              <a:buChar char="•"/>
            </a:pPr>
            <a:r>
              <a:rPr sz="1700" b="0" dirty="0"/>
              <a:t>Minimum-norm allocation u = −</a:t>
            </a:r>
            <a:r>
              <a:rPr sz="1700" b="0" dirty="0" err="1"/>
              <a:t>D⁺τ</a:t>
            </a:r>
            <a:r>
              <a:rPr sz="1700" b="0" dirty="0"/>
              <a:t> over the enabled wheels; the 4th-wheel null mode [+1, −1, +1, −1] holds a bias speed</a:t>
            </a:r>
            <a:endParaRPr lang="en-US" sz="1700" b="0" dirty="0"/>
          </a:p>
          <a:p>
            <a:pPr marL="300000" indent="-228600">
              <a:lnSpc>
                <a:spcPct val="95000"/>
              </a:lnSpc>
              <a:spcBef>
                <a:spcPts val="1000"/>
              </a:spcBef>
              <a:buChar char="•"/>
            </a:pPr>
            <a:r>
              <a:rPr sz="1700" b="0" dirty="0"/>
              <a:t>Inner loop: 100 Hz wheel-speed PI with a back-EMF current limit (2.5 A, no current sensor)</a:t>
            </a:r>
          </a:p>
          <a:p>
            <a:pPr marL="300000" indent="-228600">
              <a:lnSpc>
                <a:spcPct val="95000"/>
              </a:lnSpc>
              <a:spcBef>
                <a:spcPts val="1000"/>
              </a:spcBef>
              <a:buChar char="•"/>
            </a:pPr>
            <a:r>
              <a:rPr sz="1700" b="0" dirty="0"/>
              <a:t>Physics limit: wheels cannot dump momentum. A constant torque τ fills them in </a:t>
            </a:r>
            <a:r>
              <a:rPr sz="1700" b="0" dirty="0" err="1"/>
              <a:t>h_max</a:t>
            </a:r>
            <a:r>
              <a:rPr sz="1700" b="0" dirty="0"/>
              <a:t> / τ seconds</a:t>
            </a:r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pic>
        <p:nvPicPr>
          <p:cNvPr id="92" name="Picture 91" descr="diag_wheel_pyra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1463040"/>
            <a:ext cx="3611880" cy="2045523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5349240" y="3657600"/>
            <a:ext cx="3611880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400"/>
              </a:spcBef>
              <a:buNone/>
            </a:pPr>
            <a:r>
              <a:rPr sz="1250" b="0">
                <a:latin typeface="Quattrocento Sans"/>
              </a:rPr>
              <a:t>Wheel J = 3.06×10⁻⁴ kg·m² (CAD); table I ≈ 0.062 kg·m² (model)</a:t>
            </a:r>
          </a:p>
          <a:p>
            <a:pPr marL="0" indent="0">
              <a:lnSpc>
                <a:spcPct val="95000"/>
              </a:lnSpc>
              <a:spcBef>
                <a:spcPts val="400"/>
              </a:spcBef>
              <a:buNone/>
            </a:pPr>
            <a:r>
              <a:rPr sz="1250" b="0">
                <a:latin typeface="Quattrocento Sans"/>
              </a:rPr>
              <a:t>Speed limit 60 rad/s → ≈ 24 mN·m·s per tilt axis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h1e1805356538ab88_0_6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Quattrocento Sans"/>
              <a:buNone/>
            </a:pPr>
            <a:r>
              <a:rPr lang="en-US" dirty="0"/>
              <a:t>Build Progress: Hardware</a:t>
            </a:r>
            <a:endParaRPr dirty="0"/>
          </a:p>
        </p:txBody>
      </p:sp>
      <p:sp>
        <p:nvSpPr>
          <p:cNvPr id="114" name="Google Shape;114;h1e1805356538ab88_0_6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pic>
        <p:nvPicPr>
          <p:cNvPr id="115" name="Picture 114" descr="diag_hardw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96112"/>
            <a:ext cx="8595360" cy="365760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274320" y="4617720"/>
            <a:ext cx="8595360" cy="134267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300000" indent="-228600">
              <a:lnSpc>
                <a:spcPct val="95000"/>
              </a:lnSpc>
              <a:spcBef>
                <a:spcPts val="600"/>
              </a:spcBef>
              <a:buChar char="•"/>
            </a:pPr>
            <a:r>
              <a:rPr sz="1500" b="0" dirty="0">
                <a:latin typeface="Quattrocento Sans"/>
              </a:rPr>
              <a:t>Power system: separate </a:t>
            </a:r>
            <a:r>
              <a:rPr lang="en-US" sz="1500" b="0" dirty="0">
                <a:latin typeface="Quattrocento Sans"/>
              </a:rPr>
              <a:t>5V </a:t>
            </a:r>
            <a:r>
              <a:rPr sz="1500" b="0" dirty="0">
                <a:latin typeface="Quattrocento Sans"/>
              </a:rPr>
              <a:t>logic pack, one 12 V pack per wheel, low-side motor switch, star ground, bench wiring sheet</a:t>
            </a:r>
          </a:p>
          <a:p>
            <a:pPr marL="300000" indent="-228600">
              <a:lnSpc>
                <a:spcPct val="95000"/>
              </a:lnSpc>
              <a:spcBef>
                <a:spcPts val="600"/>
              </a:spcBef>
              <a:buChar char="•"/>
            </a:pPr>
            <a:r>
              <a:rPr sz="1500" b="0" dirty="0">
                <a:latin typeface="Quattrocento Sans"/>
              </a:rPr>
              <a:t>Verified on the table: pin map and encoder wiring corrected, wheel/encoder signs set; gearboxes found to be 6.3:1, not 10:1 (hand-turn encoder counts)</a:t>
            </a:r>
          </a:p>
          <a:p>
            <a:pPr marL="300000" indent="-228600">
              <a:lnSpc>
                <a:spcPct val="95000"/>
              </a:lnSpc>
              <a:spcBef>
                <a:spcPts val="600"/>
              </a:spcBef>
              <a:buChar char="•"/>
            </a:pPr>
            <a:r>
              <a:rPr sz="1500" b="0" dirty="0">
                <a:latin typeface="Quattrocento Sans"/>
              </a:rPr>
              <a:t>Added IMU data-ready (INT) and reset (RST) wires → reliable data</a:t>
            </a:r>
            <a:r>
              <a:rPr lang="en-US" sz="1500" b="0" dirty="0">
                <a:latin typeface="Quattrocento Sans"/>
              </a:rPr>
              <a:t> at 100 Hz</a:t>
            </a:r>
            <a:endParaRPr sz="1500" b="0" dirty="0">
              <a:latin typeface="Quattrocento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C7459-B7DA-A256-5DBC-3AE9FFF6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Progress: Hardware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FFFE82-F02B-0CFC-1696-B22F28CF4F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D085C1-AA9C-29C3-F1E0-2F4B25557EF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6190245-89F9-1C1C-9F28-69037EABE29A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4319" y="1791372"/>
            <a:ext cx="2573028" cy="343070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11B78DB-089E-69E3-DC83-6BFC4E5D62E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21668" y="1791372"/>
            <a:ext cx="2573028" cy="343070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C862525-2BF7-5F35-3DB3-63BF813D58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9016" y="1791372"/>
            <a:ext cx="2900663" cy="3430703"/>
          </a:xfrm>
          <a:prstGeom prst="rect">
            <a:avLst/>
          </a:prstGeom>
        </p:spPr>
      </p:pic>
      <p:sp>
        <p:nvSpPr>
          <p:cNvPr id="15" name="Caption: Overall View"/>
          <p:cNvSpPr txBox="1"/>
          <p:nvPr/>
        </p:nvSpPr>
        <p:spPr>
          <a:xfrm>
            <a:off x="274319" y="5276939"/>
            <a:ext cx="257302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>
                <a:solidFill>
                  <a:srgbClr val="000000"/>
                </a:solidFill>
                <a:latin typeface="Quattrocento Sans"/>
              </a:rPr>
              <a:t>Overall View</a:t>
            </a:r>
          </a:p>
        </p:txBody>
      </p:sp>
      <p:sp>
        <p:nvSpPr>
          <p:cNvPr id="16" name="Caption: Battery Holder Detail"/>
          <p:cNvSpPr txBox="1"/>
          <p:nvPr/>
        </p:nvSpPr>
        <p:spPr>
          <a:xfrm>
            <a:off x="3121668" y="5276939"/>
            <a:ext cx="257302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>
                <a:solidFill>
                  <a:srgbClr val="000000"/>
                </a:solidFill>
                <a:latin typeface="Quattrocento Sans"/>
              </a:rPr>
              <a:t>Battery Holder Detail</a:t>
            </a:r>
          </a:p>
        </p:txBody>
      </p:sp>
      <p:sp>
        <p:nvSpPr>
          <p:cNvPr id="17" name="Caption: Battery Holder CAD"/>
          <p:cNvSpPr txBox="1"/>
          <p:nvPr/>
        </p:nvSpPr>
        <p:spPr>
          <a:xfrm>
            <a:off x="5969016" y="5276939"/>
            <a:ext cx="2900663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>
                <a:solidFill>
                  <a:srgbClr val="000000"/>
                </a:solidFill>
                <a:latin typeface="Quattrocento Sans"/>
              </a:rPr>
              <a:t>Battery Holder CAD</a:t>
            </a:r>
          </a:p>
        </p:txBody>
      </p:sp>
    </p:spTree>
    <p:extLst>
      <p:ext uri="{BB962C8B-B14F-4D97-AF65-F5344CB8AC3E}">
        <p14:creationId xmlns:p14="http://schemas.microsoft.com/office/powerpoint/2010/main" val="379221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Progress: Software</a:t>
            </a:r>
            <a:r>
              <a:rPr lang="en-US" dirty="0"/>
              <a:t> Build</a:t>
            </a:r>
            <a:r>
              <a:rPr dirty="0"/>
              <a:t> &amp; Tes</a:t>
            </a:r>
            <a:r>
              <a:rPr lang="en-US" dirty="0"/>
              <a:t>ts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168" y="914400"/>
            <a:ext cx="3977639" cy="5440680"/>
          </a:xfrm>
        </p:spPr>
        <p:txBody>
          <a:bodyPr wrap="square">
            <a:normAutofit/>
          </a:bodyPr>
          <a:lstStyle/>
          <a:p>
            <a:pPr marL="0" indent="0">
              <a:lnSpc>
                <a:spcPct val="95000"/>
              </a:lnSpc>
              <a:spcBef>
                <a:spcPts val="900"/>
              </a:spcBef>
              <a:buNone/>
            </a:pPr>
            <a:r>
              <a:rPr sz="1600" b="1" dirty="0"/>
              <a:t>Teensy </a:t>
            </a:r>
            <a:r>
              <a:rPr lang="en-US" sz="1600" b="1" dirty="0"/>
              <a:t>soft</a:t>
            </a:r>
            <a:r>
              <a:rPr sz="1600" b="1" dirty="0"/>
              <a:t>ware (C++, </a:t>
            </a:r>
            <a:r>
              <a:rPr sz="1600" b="1" dirty="0" err="1"/>
              <a:t>PlatformIO</a:t>
            </a:r>
            <a:r>
              <a:rPr sz="1600" b="1" dirty="0"/>
              <a:t>):</a:t>
            </a:r>
          </a:p>
          <a:p>
            <a:pPr marL="300000" indent="-228600">
              <a:lnSpc>
                <a:spcPct val="95000"/>
              </a:lnSpc>
              <a:spcBef>
                <a:spcPts val="900"/>
              </a:spcBef>
              <a:buChar char="•"/>
            </a:pPr>
            <a:r>
              <a:rPr sz="1600" b="0" dirty="0"/>
              <a:t>EKF, attitude controller, wheel allocation, wheel speed loops, safety supervisor</a:t>
            </a:r>
          </a:p>
          <a:p>
            <a:pPr marL="300000" indent="-228600">
              <a:lnSpc>
                <a:spcPct val="95000"/>
              </a:lnSpc>
              <a:spcBef>
                <a:spcPts val="900"/>
              </a:spcBef>
              <a:buChar char="•"/>
            </a:pPr>
            <a:r>
              <a:rPr sz="1600" b="0" dirty="0"/>
              <a:t>Logger: every sample to SD (100 Hz), </a:t>
            </a:r>
            <a:r>
              <a:rPr lang="en-US" sz="1600" b="0" dirty="0"/>
              <a:t>fractional </a:t>
            </a:r>
            <a:r>
              <a:rPr sz="1600" b="0" dirty="0"/>
              <a:t>live stream over </a:t>
            </a:r>
            <a:r>
              <a:rPr sz="1600" b="0" dirty="0" err="1"/>
              <a:t>XBee</a:t>
            </a:r>
            <a:endParaRPr sz="1600" b="0" dirty="0"/>
          </a:p>
          <a:p>
            <a:pPr marL="300000" indent="-228600">
              <a:lnSpc>
                <a:spcPct val="95000"/>
              </a:lnSpc>
              <a:spcBef>
                <a:spcPts val="900"/>
              </a:spcBef>
              <a:buChar char="•"/>
            </a:pPr>
            <a:r>
              <a:rPr sz="1600" b="0" dirty="0" err="1"/>
              <a:t>XBee</a:t>
            </a:r>
            <a:r>
              <a:rPr sz="1600" b="0" dirty="0"/>
              <a:t>/USB commands: ARM, KILL, STATUS, SPEED, TEST, CALIBRATE, BEGIN STATIC TEST, MAG MAP, DEMO SPIN</a:t>
            </a:r>
          </a:p>
          <a:p>
            <a:pPr marL="300000" indent="-228600">
              <a:lnSpc>
                <a:spcPct val="95000"/>
              </a:lnSpc>
              <a:spcBef>
                <a:spcPts val="900"/>
              </a:spcBef>
              <a:buChar char="•"/>
            </a:pPr>
            <a:r>
              <a:rPr sz="1600" b="0" dirty="0"/>
              <a:t>SPEED manual closed-loop wheel mode with ramps and filtering</a:t>
            </a:r>
            <a:r>
              <a:rPr lang="en-US" sz="1600" b="0" dirty="0"/>
              <a:t> to analyze motor control</a:t>
            </a:r>
            <a:endParaRPr sz="1600" b="0" dirty="0"/>
          </a:p>
          <a:p>
            <a:pPr marL="71400" indent="0">
              <a:lnSpc>
                <a:spcPct val="95000"/>
              </a:lnSpc>
              <a:spcBef>
                <a:spcPts val="900"/>
              </a:spcBef>
              <a:buNone/>
            </a:pPr>
            <a:endParaRPr sz="1600" b="0" dirty="0"/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graphicFrame>
        <p:nvGraphicFramePr>
          <p:cNvPr id="92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8711891"/>
              </p:ext>
            </p:extLst>
          </p:nvPr>
        </p:nvGraphicFramePr>
        <p:xfrm>
          <a:off x="4343400" y="1005840"/>
          <a:ext cx="4572000" cy="540772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0191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Quattrocento Sans"/>
                        </a:rPr>
                        <a:t>Date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Quattrocento Sans"/>
                        </a:rPr>
                        <a:t>Test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Quattrocento Sans"/>
                        </a:rPr>
                        <a:t>Key result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019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10-08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Wheel 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spin direction 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sign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s</a:t>
                      </a:r>
                      <a:endParaRPr sz="12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Wiring 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corrected, signs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019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10-15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Bench speed sweeps, hand-turn counts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6.3:1 gearing; 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Motor 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A rubs; 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Motor 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C oscillates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019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10-15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Static IMU test (37 min)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Roll/pitch 0.02°; 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gyro yaw drift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−27 °/h; ¼ of samples lost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019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10-16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Motors-on static test, MAG MAP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Gyro warm-up drift; magnetometer disturbance mapped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019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10-16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First DEMO SPIN on air bearing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Table is pendulous; wheels saturate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6019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10-20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IMU INT/RST + driver fixes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Sample loss 25% → 0.085%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27903"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10-21</a:t>
                      </a:r>
                      <a:endParaRPr sz="12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Battery Holders and </a:t>
                      </a:r>
                      <a:r>
                        <a:rPr lang="en-US" sz="1200" b="0" dirty="0" err="1">
                          <a:solidFill>
                            <a:srgbClr val="000000"/>
                          </a:solidFill>
                          <a:latin typeface="Quattrocento Sans"/>
                        </a:rPr>
                        <a:t>CoM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Calibration; Automatic Leveler Test via DEMO SPIN</a:t>
                      </a:r>
                      <a:endParaRPr sz="12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Visible leveling, not meeting 1° error requirement.</a:t>
                      </a:r>
                      <a:endParaRPr sz="12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486463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h1e1805356538ab88_0_12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Quattrocento Sans"/>
              <a:buNone/>
            </a:pPr>
            <a:r>
              <a:rPr lang="en-US"/>
              <a:t>Data: Wheel Speed Control</a:t>
            </a:r>
            <a:endParaRPr/>
          </a:p>
        </p:txBody>
      </p:sp>
      <p:sp>
        <p:nvSpPr>
          <p:cNvPr id="121" name="Google Shape;121;h1e1805356538ab88_0_12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pic>
        <p:nvPicPr>
          <p:cNvPr id="122" name="Picture 121" descr="fig1_wheel_speed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96112"/>
            <a:ext cx="8595360" cy="3210767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274320" y="4169663"/>
            <a:ext cx="8595360" cy="19620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MEASURE:  </a:t>
            </a:r>
            <a:r>
              <a:rPr sz="1500" b="0" dirty="0">
                <a:latin typeface="Quattrocento Sans"/>
              </a:rPr>
              <a:t>Commanded vs. measured speed, all 4 wheels, 0 → 480 → 0 rpm cosine </a:t>
            </a:r>
            <a:r>
              <a:rPr lang="en-US" sz="1500" b="0" dirty="0">
                <a:latin typeface="Quattrocento Sans"/>
              </a:rPr>
              <a:t>command </a:t>
            </a:r>
            <a:r>
              <a:rPr sz="1500" b="0" dirty="0">
                <a:latin typeface="Quattrocento Sans"/>
              </a:rPr>
              <a:t>profile (12 V packs</a:t>
            </a:r>
            <a:r>
              <a:rPr lang="en-US" sz="1500" b="0" dirty="0">
                <a:latin typeface="Quattrocento Sans"/>
              </a:rPr>
              <a:t>).</a:t>
            </a:r>
            <a:endParaRPr sz="1500" b="0" dirty="0">
              <a:latin typeface="Quattrocento Sans"/>
            </a:endParaRP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COMPARE:  </a:t>
            </a:r>
            <a:r>
              <a:rPr sz="1500" b="0" dirty="0">
                <a:latin typeface="Quattrocento Sans"/>
              </a:rPr>
              <a:t>Expected tight tracking from the 100 Hz PI + feed-forward</a:t>
            </a:r>
            <a:r>
              <a:rPr lang="en-US" sz="1500" b="0" dirty="0">
                <a:latin typeface="Quattrocento Sans"/>
              </a:rPr>
              <a:t> control</a:t>
            </a:r>
            <a:r>
              <a:rPr sz="1500" b="0" dirty="0">
                <a:latin typeface="Quattrocento Sans"/>
              </a:rPr>
              <a:t>. B and D hold ±1 rpm; A and C swing ±10–16 rpm; no wheel moves until the command reaches ≈ 46 rpm.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EXPLAIN:  </a:t>
            </a:r>
            <a:r>
              <a:rPr sz="1500" b="0" dirty="0">
                <a:latin typeface="Quattrocento Sans"/>
              </a:rPr>
              <a:t>Same gains on every wheel, so A/C differences are hardware: A rub</a:t>
            </a:r>
            <a:r>
              <a:rPr lang="en-US" sz="1500" b="0" dirty="0">
                <a:latin typeface="Quattrocento Sans"/>
              </a:rPr>
              <a:t>s</a:t>
            </a:r>
            <a:r>
              <a:rPr sz="1500" b="0" dirty="0">
                <a:latin typeface="Quattrocento Sans"/>
              </a:rPr>
              <a:t>; C is still unexplained. The start delay is static friction.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NEXT:  </a:t>
            </a:r>
            <a:r>
              <a:rPr lang="en-US" sz="1500" b="0" dirty="0">
                <a:latin typeface="Quattrocento Sans"/>
              </a:rPr>
              <a:t>Fix A’s rub; check C’s pack voltage under load and its encoder; add static-friction compensation. Repeat test.</a:t>
            </a:r>
            <a:endParaRPr sz="1500" b="0" dirty="0">
              <a:latin typeface="Quattrocento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Data: Attitude Determination at Rest</a:t>
            </a:r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pic>
        <p:nvPicPr>
          <p:cNvPr id="92" name="Picture 91" descr="fig2_static_att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96112"/>
            <a:ext cx="8595360" cy="3232694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274320" y="4169663"/>
            <a:ext cx="8595360" cy="19620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MEASURE:  </a:t>
            </a:r>
            <a:r>
              <a:rPr sz="1500" b="0" dirty="0">
                <a:latin typeface="Quattrocento Sans"/>
              </a:rPr>
              <a:t>37 min with the IMU fixed and motors off: EKF roll/pitch/yaw plus the independent magnetometer heading.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COMPARE:  </a:t>
            </a:r>
            <a:r>
              <a:rPr sz="1500" b="0" dirty="0">
                <a:latin typeface="Quattrocento Sans"/>
              </a:rPr>
              <a:t>Requirement ±1°. Theory: a 3 s gyro-bias average leaves ≈ 26 °/h of yaw drift.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EXPLAIN:  </a:t>
            </a:r>
            <a:r>
              <a:rPr sz="1500" b="0" dirty="0">
                <a:latin typeface="Quattrocento Sans"/>
              </a:rPr>
              <a:t>Roll/pitch σ = 0.02°, far inside ±1°. Yaw drifted −27 °/h, matching the predicted calibration error; the magnetometer stayed flat. Fixes: 60–180 s calibration, calibrate after a 10 min warm-up → ≈ 3 °/h in replay.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NEXT:  </a:t>
            </a:r>
            <a:r>
              <a:rPr sz="1500" b="0" dirty="0">
                <a:latin typeface="Quattrocento Sans"/>
              </a:rPr>
              <a:t>Verify on the moving table; 3 °/h keeps yaw within ±1° for ≈20 min. Longer runs need a magnetometer aid.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Data: IMU Data Integrity (Unexpected Result)</a:t>
            </a:r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  <p:pic>
        <p:nvPicPr>
          <p:cNvPr id="92" name="Picture 91" descr="fig3_imu_integ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96112"/>
            <a:ext cx="8595360" cy="3232694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274320" y="4169663"/>
            <a:ext cx="8595360" cy="19620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MEASURE:  </a:t>
            </a:r>
            <a:r>
              <a:rPr sz="1500" b="0" dirty="0">
                <a:latin typeface="Quattrocento Sans"/>
              </a:rPr>
              <a:t>Time between every gyro sample logged to SD, IMU at rest, before and after our fixes.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COMPARE:  </a:t>
            </a:r>
            <a:r>
              <a:rPr sz="1500" b="0" dirty="0">
                <a:latin typeface="Quattrocento Sans"/>
              </a:rPr>
              <a:t>Expected 10 </a:t>
            </a:r>
            <a:r>
              <a:rPr sz="1500" b="0" dirty="0" err="1">
                <a:latin typeface="Quattrocento Sans"/>
              </a:rPr>
              <a:t>ms.</a:t>
            </a:r>
            <a:r>
              <a:rPr sz="1500" b="0" dirty="0">
                <a:latin typeface="Quattrocento Sans"/>
              </a:rPr>
              <a:t> Before: 25% of samples lost and 38 gaps &gt; 100 </a:t>
            </a:r>
            <a:r>
              <a:rPr sz="1500" b="0" dirty="0" err="1">
                <a:latin typeface="Quattrocento Sans"/>
              </a:rPr>
              <a:t>ms</a:t>
            </a:r>
            <a:r>
              <a:rPr sz="1500" b="0" dirty="0">
                <a:latin typeface="Quattrocento Sans"/>
              </a:rPr>
              <a:t>, each of which would have disarmed the wheels.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EXPLAIN:  </a:t>
            </a:r>
            <a:r>
              <a:rPr sz="1500" b="0" dirty="0">
                <a:latin typeface="Quattrocento Sans"/>
              </a:rPr>
              <a:t>Root causes: the IMU library kept only the last report of each I²C read, SD writes blocked the loop, and no data-ready line. Fixed: INT/RST wired, own report queue, IMU serviced during SD waits, SD in </a:t>
            </a:r>
            <a:r>
              <a:rPr lang="en-US" sz="1500" b="0" dirty="0">
                <a:latin typeface="Quattrocento Sans"/>
              </a:rPr>
              <a:t>Direct Memory Access (</a:t>
            </a:r>
            <a:r>
              <a:rPr sz="1500" b="0" dirty="0">
                <a:latin typeface="Quattrocento Sans"/>
              </a:rPr>
              <a:t>DMA</a:t>
            </a:r>
            <a:r>
              <a:rPr lang="en-US" sz="1500" b="0" dirty="0">
                <a:latin typeface="Quattrocento Sans"/>
              </a:rPr>
              <a:t>)</a:t>
            </a:r>
            <a:r>
              <a:rPr sz="1500" b="0" dirty="0">
                <a:latin typeface="Quattrocento Sans"/>
              </a:rPr>
              <a:t> mode.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NEXT:  </a:t>
            </a:r>
            <a:r>
              <a:rPr sz="1500" b="0" dirty="0">
                <a:latin typeface="Quattrocento Sans"/>
              </a:rPr>
              <a:t>Remaining 60–90 </a:t>
            </a:r>
            <a:r>
              <a:rPr sz="1500" b="0" dirty="0" err="1">
                <a:latin typeface="Quattrocento Sans"/>
              </a:rPr>
              <a:t>ms</a:t>
            </a:r>
            <a:r>
              <a:rPr sz="1500" b="0" dirty="0">
                <a:latin typeface="Quattrocento Sans"/>
              </a:rPr>
              <a:t> stalls come from inside the BNO085 (every ≈22 s): under the 100 </a:t>
            </a:r>
            <a:r>
              <a:rPr sz="1500" b="0" dirty="0" err="1">
                <a:latin typeface="Quattrocento Sans"/>
              </a:rPr>
              <a:t>ms</a:t>
            </a:r>
            <a:r>
              <a:rPr sz="1500" b="0" dirty="0">
                <a:latin typeface="Quattrocento Sans"/>
              </a:rPr>
              <a:t> timeout and now integrated by the EKF. Monitor on long runs.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Data: Magnetometer vs. Wheel Motors</a:t>
            </a:r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  <p:pic>
        <p:nvPicPr>
          <p:cNvPr id="92" name="Picture 91" descr="fig4_mag_disturb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96112"/>
            <a:ext cx="8595360" cy="3425566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274320" y="4370832"/>
            <a:ext cx="8595360" cy="2075687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450" b="1">
                <a:latin typeface="Quattrocento Sans"/>
              </a:rPr>
              <a:t>MEASURE:  </a:t>
            </a:r>
            <a:r>
              <a:rPr sz="1450" b="0">
                <a:latin typeface="Quattrocento Sans"/>
              </a:rPr>
              <a:t>Raw magnetometer heading on a fixed table while the wheels step through ±50/100/200 rpm.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450" b="1">
                <a:latin typeface="Quattrocento Sans"/>
              </a:rPr>
              <a:t>COMPARE:  </a:t>
            </a:r>
            <a:r>
              <a:rPr sz="1450" b="0">
                <a:latin typeface="Quattrocento Sans"/>
              </a:rPr>
              <a:t>A heading aid must be steady to well under 1°; with motors off it showed 0.7° noise and no drift.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450" b="1">
                <a:latin typeface="Quattrocento Sans"/>
              </a:rPr>
              <a:t>EXPLAIN:  </a:t>
            </a:r>
            <a:r>
              <a:rPr sz="1450" b="0">
                <a:latin typeface="Quattrocento Sans"/>
              </a:rPr>
              <a:t>Spinning wheels add 4.6–7.5° of fast, filterable noise. Stopped wheels leave a random offset up to ≈ 10° set by where each shaft stops (motor magnets), so no fixed calibration exists → yaw stays gyro-only.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450" b="1">
                <a:latin typeface="Quattrocento Sans"/>
              </a:rPr>
              <a:t>NEXT:  </a:t>
            </a:r>
            <a:r>
              <a:rPr sz="1450" b="0">
                <a:latin typeface="Quattrocento Sans"/>
              </a:rPr>
              <a:t>DEMO SPIN keeps every shaft at ±100 rpm so offsets average out; calibrate hard iron from a full turn, then add a gated magnetometer yaw update.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Data: First DEMO SPIN (</a:t>
            </a:r>
            <a:r>
              <a:rPr lang="en-US" dirty="0"/>
              <a:t>Unsuccessful</a:t>
            </a:r>
            <a:r>
              <a:rPr dirty="0"/>
              <a:t>)</a:t>
            </a:r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  <p:pic>
        <p:nvPicPr>
          <p:cNvPr id="92" name="Picture 91" descr="fig5_demo_pendul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96112"/>
            <a:ext cx="8595360" cy="326615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274320" y="4169663"/>
            <a:ext cx="8595360" cy="21155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450" b="1" dirty="0">
                <a:latin typeface="Quattrocento Sans"/>
              </a:rPr>
              <a:t>MEASURE:  </a:t>
            </a:r>
            <a:r>
              <a:rPr sz="1450" b="0" dirty="0">
                <a:latin typeface="Quattrocento Sans"/>
              </a:rPr>
              <a:t>Roll/pitch and wheel speeds with the table floating; three DEMO SPIN attempts (level, then spin).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450" b="1" dirty="0">
                <a:latin typeface="Quattrocento Sans"/>
              </a:rPr>
              <a:t>COMPARE:  </a:t>
            </a:r>
            <a:r>
              <a:rPr sz="1450" b="0" dirty="0">
                <a:latin typeface="Quattrocento Sans"/>
              </a:rPr>
              <a:t>Simulation (CG at the bearing cent</a:t>
            </a:r>
            <a:r>
              <a:rPr lang="en-US" sz="1450" b="0" dirty="0">
                <a:latin typeface="Quattrocento Sans"/>
              </a:rPr>
              <a:t>er</a:t>
            </a:r>
            <a:r>
              <a:rPr sz="1450" b="0" dirty="0">
                <a:latin typeface="Quattrocento Sans"/>
              </a:rPr>
              <a:t>) levelled from 30° in ≈11 s. On the table each attempt hit the 55 rad/s wheel limit within 1–2 s.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450" b="1" dirty="0">
                <a:latin typeface="Quattrocento Sans"/>
              </a:rPr>
              <a:t>EXPLAIN:  </a:t>
            </a:r>
            <a:r>
              <a:rPr sz="1450" b="0" dirty="0">
                <a:latin typeface="Quattrocento Sans"/>
              </a:rPr>
              <a:t>The </a:t>
            </a:r>
            <a:r>
              <a:rPr lang="en-US" sz="1450" dirty="0">
                <a:latin typeface="Quattrocento Sans"/>
              </a:rPr>
              <a:t>satellite</a:t>
            </a:r>
            <a:r>
              <a:rPr sz="1450" b="0" dirty="0">
                <a:latin typeface="Quattrocento Sans"/>
              </a:rPr>
              <a:t> is a pendulum</a:t>
            </a:r>
            <a:r>
              <a:rPr lang="en-US" sz="1450" b="0" dirty="0">
                <a:latin typeface="Quattrocento Sans"/>
              </a:rPr>
              <a:t> on the table</a:t>
            </a:r>
            <a:r>
              <a:rPr sz="1450" b="0" dirty="0">
                <a:latin typeface="Quattrocento Sans"/>
              </a:rPr>
              <a:t>: 1.8 s period, resting ≈3° off level. Gravity ≈ 16 </a:t>
            </a:r>
            <a:r>
              <a:rPr sz="1450" b="0" dirty="0" err="1">
                <a:latin typeface="Quattrocento Sans"/>
              </a:rPr>
              <a:t>mN·m</a:t>
            </a:r>
            <a:r>
              <a:rPr sz="1450" b="0" dirty="0">
                <a:latin typeface="Quattrocento Sans"/>
              </a:rPr>
              <a:t> per degree, so holding level needs ≈50 </a:t>
            </a:r>
            <a:r>
              <a:rPr sz="1450" b="0" dirty="0" err="1">
                <a:latin typeface="Quattrocento Sans"/>
              </a:rPr>
              <a:t>mN·m</a:t>
            </a:r>
            <a:r>
              <a:rPr sz="1450" b="0" dirty="0">
                <a:latin typeface="Quattrocento Sans"/>
              </a:rPr>
              <a:t> against ≈24 </a:t>
            </a:r>
            <a:r>
              <a:rPr sz="1450" b="0" dirty="0" err="1">
                <a:latin typeface="Quattrocento Sans"/>
              </a:rPr>
              <a:t>mN·m·s</a:t>
            </a:r>
            <a:r>
              <a:rPr sz="1450" b="0" dirty="0">
                <a:latin typeface="Quattrocento Sans"/>
              </a:rPr>
              <a:t> of wheel storage. Fits confirmed wheel signs and I ≈ 0.05–0.13 kg·m².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450" b="1" dirty="0">
                <a:latin typeface="Quattrocento Sans"/>
              </a:rPr>
              <a:t>NEXT:  </a:t>
            </a:r>
            <a:r>
              <a:rPr lang="en-US" sz="1450" dirty="0">
                <a:latin typeface="Quattrocento Sans"/>
              </a:rPr>
              <a:t>R</a:t>
            </a:r>
            <a:r>
              <a:rPr lang="en-US" sz="1450" b="0" dirty="0">
                <a:latin typeface="Quattrocento Sans"/>
              </a:rPr>
              <a:t>eturn the satellite to its original </a:t>
            </a:r>
            <a:r>
              <a:rPr lang="en-US" sz="1450" b="0" dirty="0" err="1">
                <a:latin typeface="Quattrocento Sans"/>
              </a:rPr>
              <a:t>CoM</a:t>
            </a:r>
            <a:r>
              <a:rPr lang="en-US" sz="1450" dirty="0">
                <a:latin typeface="Quattrocento Sans"/>
              </a:rPr>
              <a:t> configuration; add bottom weights and lateral trim screws to refine </a:t>
            </a:r>
            <a:r>
              <a:rPr lang="en-US" sz="1450" dirty="0" err="1">
                <a:latin typeface="Quattrocento Sans"/>
              </a:rPr>
              <a:t>CoM</a:t>
            </a:r>
            <a:r>
              <a:rPr lang="en-US" sz="1450" dirty="0">
                <a:latin typeface="Quattrocento Sans"/>
              </a:rPr>
              <a:t> placement to center on table bubble.</a:t>
            </a:r>
            <a:endParaRPr sz="1450" b="0" dirty="0">
              <a:latin typeface="Quattrocento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Data: DEMO SPIN </a:t>
            </a:r>
            <a:r>
              <a:rPr lang="en-US" dirty="0"/>
              <a:t>Leveling</a:t>
            </a:r>
            <a:endParaRPr dirty="0"/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pic>
        <p:nvPicPr>
          <p:cNvPr id="92" name="Picture 91" descr="fig6_demo2_balanc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896112"/>
            <a:ext cx="7498079" cy="3488219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274320" y="4434840"/>
            <a:ext cx="8595360" cy="194822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300" b="1" dirty="0">
                <a:latin typeface="Quattrocento Sans"/>
              </a:rPr>
              <a:t>MEASURE:  </a:t>
            </a:r>
            <a:r>
              <a:rPr sz="1300" b="0" dirty="0">
                <a:latin typeface="Quattrocento Sans"/>
              </a:rPr>
              <a:t>Six DEMO SPIN attempts after adding balance weights: roll, wheel speeds, and the free swing.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300" b="1" dirty="0">
                <a:latin typeface="Quattrocento Sans"/>
              </a:rPr>
              <a:t>COMPARE:  </a:t>
            </a:r>
            <a:r>
              <a:rPr sz="1300" b="0" dirty="0">
                <a:latin typeface="Quattrocento Sans"/>
              </a:rPr>
              <a:t>Expected: level (&lt; 1° for 3 s), then spin. Instead</a:t>
            </a:r>
            <a:r>
              <a:rPr lang="en-US" sz="1300" b="0" dirty="0">
                <a:latin typeface="Quattrocento Sans"/>
              </a:rPr>
              <a:t>,</a:t>
            </a:r>
            <a:r>
              <a:rPr sz="1300" b="0" dirty="0">
                <a:latin typeface="Quattrocento Sans"/>
              </a:rPr>
              <a:t> every attempt stayed in Level and stopped at the 55 rad/s wheel limit after 2.2–3.7 s (1–2 s before the weights).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300" b="1" dirty="0">
                <a:latin typeface="Quattrocento Sans"/>
              </a:rPr>
              <a:t>EXPLAIN:  </a:t>
            </a:r>
            <a:r>
              <a:rPr sz="1300" b="0" dirty="0">
                <a:latin typeface="Quattrocento Sans"/>
              </a:rPr>
              <a:t>Weights cut gravity’s pull ≈3× (swing period 1.8 → 3.3 s) and balanced pitch, but roll still rests ≈3.3° off level (−y side heavy). Holding roll at ≈2° pushes ≈8 </a:t>
            </a:r>
            <a:r>
              <a:rPr sz="1300" b="0" dirty="0" err="1">
                <a:latin typeface="Quattrocento Sans"/>
              </a:rPr>
              <a:t>mN·m</a:t>
            </a:r>
            <a:r>
              <a:rPr sz="1300" b="0" dirty="0">
                <a:latin typeface="Quattrocento Sans"/>
              </a:rPr>
              <a:t> against gravity and fills wheel A in ≈3 s; the stop then brakes the wheels and kicks the table.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sz="1300" b="1" dirty="0">
                <a:latin typeface="Quattrocento Sans"/>
              </a:rPr>
              <a:t>NEXT:  </a:t>
            </a:r>
            <a:r>
              <a:rPr sz="1300" b="0" dirty="0">
                <a:latin typeface="Quattrocento Sans"/>
              </a:rPr>
              <a:t>Trim roll (weight toward +y, ≈15 </a:t>
            </a:r>
            <a:r>
              <a:rPr sz="1300" b="0" dirty="0" err="1">
                <a:latin typeface="Quattrocento Sans"/>
              </a:rPr>
              <a:t>mN·m</a:t>
            </a:r>
            <a:r>
              <a:rPr sz="1300" b="0" dirty="0">
                <a:latin typeface="Quattrocento Sans"/>
              </a:rPr>
              <a:t>); new DEMO LEVEL test (level + hold, no spin) to measure hold time; ramp the wheels down instead of braking.</a:t>
            </a:r>
            <a:r>
              <a:rPr lang="en-US" sz="1300" b="0" dirty="0">
                <a:latin typeface="Quattrocento Sans"/>
              </a:rPr>
              <a:t> Increase allowable wheel limit to greater than 55 rad/s for more momentum storage.</a:t>
            </a:r>
            <a:endParaRPr sz="1300" b="0" dirty="0">
              <a:latin typeface="Quattrocento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87F73-F0E4-6922-67BC-49AB6097D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SPIN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3FAC40-CEAE-7914-E869-8F5406CF72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5074AB-EC0B-2CB1-8038-6DE37877DC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6C281A-E20D-57C6-032A-B7375084EF67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9233" y="1097280"/>
            <a:ext cx="3614166" cy="481888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958D52C-E875-C8E2-FB59-DA9AFAFEF2A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00599" y="1097280"/>
            <a:ext cx="3614166" cy="4818888"/>
          </a:xfrm>
          <a:prstGeom prst="rect">
            <a:avLst/>
          </a:prstGeom>
        </p:spPr>
      </p:pic>
      <p:sp>
        <p:nvSpPr>
          <p:cNvPr id="10" name="Caption: Setting Up for Spin"/>
          <p:cNvSpPr txBox="1"/>
          <p:nvPr/>
        </p:nvSpPr>
        <p:spPr>
          <a:xfrm>
            <a:off x="729233" y="5971032"/>
            <a:ext cx="361416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>
                <a:solidFill>
                  <a:srgbClr val="000000"/>
                </a:solidFill>
                <a:latin typeface="Quattrocento Sans"/>
              </a:rPr>
              <a:t>Setting Up for Spin</a:t>
            </a:r>
          </a:p>
        </p:txBody>
      </p:sp>
      <p:sp>
        <p:nvSpPr>
          <p:cNvPr id="11" name="Caption: Additional Weight Detail"/>
          <p:cNvSpPr txBox="1"/>
          <p:nvPr/>
        </p:nvSpPr>
        <p:spPr>
          <a:xfrm>
            <a:off x="4800599" y="5971032"/>
            <a:ext cx="361416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>
                <a:solidFill>
                  <a:srgbClr val="000000"/>
                </a:solidFill>
                <a:latin typeface="Quattrocento Sans"/>
              </a:rPr>
              <a:t>Additional Weight Detail</a:t>
            </a:r>
          </a:p>
        </p:txBody>
      </p:sp>
    </p:spTree>
    <p:extLst>
      <p:ext uri="{BB962C8B-B14F-4D97-AF65-F5344CB8AC3E}">
        <p14:creationId xmlns:p14="http://schemas.microsoft.com/office/powerpoint/2010/main" val="35892270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7644F-4DEA-4B4A-8AB4-407008241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SPIN: Leveling Video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51A14-DCC9-4D2E-8E8C-050F45D472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F099E3-E8D6-61AE-7166-798CAC1E286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16</a:t>
            </a:fld>
            <a:endParaRPr lang="en-US"/>
          </a:p>
        </p:txBody>
      </p:sp>
      <p:pic>
        <p:nvPicPr>
          <p:cNvPr id="5" name="LevelTest21Oct">
            <a:hlinkClick r:id="" action="ppaction://media"/>
            <a:extLst>
              <a:ext uri="{FF2B5EF4-FFF2-40B4-BE49-F238E27FC236}">
                <a16:creationId xmlns:a16="http://schemas.microsoft.com/office/drawing/2014/main" id="{20ABE29E-2AB7-C42D-00A0-F1585378EEB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976372" y="1002506"/>
            <a:ext cx="2982277" cy="5301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664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572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h1e1805356538ab88_0_18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Quattrocento Sans"/>
              <a:buNone/>
            </a:pPr>
            <a:r>
              <a:rPr lang="en-US"/>
              <a:t>Future Plans: Where We Stand</a:t>
            </a:r>
            <a:endParaRPr/>
          </a:p>
        </p:txBody>
      </p:sp>
      <p:sp>
        <p:nvSpPr>
          <p:cNvPr id="128" name="Google Shape;128;h1e1805356538ab88_0_18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274320" y="1005840"/>
            <a:ext cx="2743200" cy="340863"/>
          </a:xfrm>
          <a:prstGeom prst="rect">
            <a:avLst/>
          </a:prstGeom>
          <a:solidFill>
            <a:srgbClr val="404040"/>
          </a:solidFill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lang="en-US" sz="1700" b="1" dirty="0">
                <a:solidFill>
                  <a:srgbClr val="FFFFFF"/>
                </a:solidFill>
                <a:latin typeface="Quattrocento Sans"/>
              </a:rPr>
              <a:t>Complete</a:t>
            </a:r>
            <a:endParaRPr sz="1700" b="1" dirty="0">
              <a:solidFill>
                <a:srgbClr val="FFFFFF"/>
              </a:solidFill>
              <a:latin typeface="Quattrocento Sans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274320" y="1508760"/>
            <a:ext cx="2743200" cy="3895425"/>
          </a:xfrm>
          <a:prstGeom prst="rect">
            <a:avLst/>
          </a:prstGeom>
          <a:solidFill>
            <a:srgbClr val="F2F2F2"/>
          </a:solidFill>
        </p:spPr>
        <p:txBody>
          <a:bodyPr wrap="square" lIns="73152" rIns="73152">
            <a:spAutoFit/>
          </a:bodyPr>
          <a:lstStyle/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Attitude estimator: roll/pitch 0.02° at rest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Reliable 100 Hz IMU data (0.085% lost)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Wheel speed </a:t>
            </a:r>
            <a:r>
              <a:rPr lang="en-US" sz="1700" b="0" dirty="0">
                <a:latin typeface="Quattrocento Sans"/>
              </a:rPr>
              <a:t>control </a:t>
            </a:r>
            <a:r>
              <a:rPr sz="1700" b="0" dirty="0">
                <a:latin typeface="Quattrocento Sans"/>
              </a:rPr>
              <a:t>loop on all 4 wheels at 12 V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SD + </a:t>
            </a:r>
            <a:r>
              <a:rPr sz="1700" b="0" dirty="0" err="1">
                <a:latin typeface="Quattrocento Sans"/>
              </a:rPr>
              <a:t>XBee</a:t>
            </a:r>
            <a:r>
              <a:rPr sz="1700" b="0" dirty="0">
                <a:latin typeface="Quattrocento Sans"/>
              </a:rPr>
              <a:t> logging and command link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Wheel geometry and signs verified on the air bearing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182112" y="1005840"/>
            <a:ext cx="2743200" cy="340863"/>
          </a:xfrm>
          <a:prstGeom prst="rect">
            <a:avLst/>
          </a:prstGeom>
          <a:solidFill>
            <a:srgbClr val="404040"/>
          </a:solidFill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700" b="1" dirty="0">
                <a:solidFill>
                  <a:srgbClr val="FFFFFF"/>
                </a:solidFill>
                <a:latin typeface="Quattrocento Sans"/>
              </a:rPr>
              <a:t>Needs improvemen</a:t>
            </a:r>
            <a:r>
              <a:rPr lang="en-US" sz="1700" b="1" dirty="0">
                <a:solidFill>
                  <a:srgbClr val="FFFFFF"/>
                </a:solidFill>
                <a:latin typeface="Quattrocento Sans"/>
              </a:rPr>
              <a:t>t</a:t>
            </a:r>
            <a:endParaRPr sz="1700" b="1" dirty="0">
              <a:solidFill>
                <a:srgbClr val="FFFFFF"/>
              </a:solidFill>
              <a:latin typeface="Quattrocento Sans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3182112" y="1508760"/>
            <a:ext cx="2743200" cy="3398366"/>
          </a:xfrm>
          <a:prstGeom prst="rect">
            <a:avLst/>
          </a:prstGeom>
          <a:solidFill>
            <a:srgbClr val="F2F2F2"/>
          </a:solidFill>
        </p:spPr>
        <p:txBody>
          <a:bodyPr wrap="square" lIns="73152" rIns="73152">
            <a:spAutoFit/>
          </a:bodyPr>
          <a:lstStyle/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Table balance: pitch fixed, roll still ≈3° off level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lang="en-US" sz="1700" b="0" dirty="0">
                <a:latin typeface="Quattrocento Sans"/>
              </a:rPr>
              <a:t>Yaw drift: ≈3 °/h after warm-up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Wheel A rub; wheel C oscillation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Static friction at low wheel speed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Real inertia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089904" y="1005840"/>
            <a:ext cx="2743200" cy="340863"/>
          </a:xfrm>
          <a:prstGeom prst="rect">
            <a:avLst/>
          </a:prstGeom>
          <a:solidFill>
            <a:srgbClr val="404040"/>
          </a:solidFill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700" b="1" dirty="0">
                <a:solidFill>
                  <a:srgbClr val="FFFFFF"/>
                </a:solidFill>
                <a:latin typeface="Quattrocento Sans"/>
              </a:rPr>
              <a:t>Remainin</a:t>
            </a:r>
            <a:r>
              <a:rPr lang="en-US" sz="1700" b="1" dirty="0">
                <a:solidFill>
                  <a:srgbClr val="FFFFFF"/>
                </a:solidFill>
                <a:latin typeface="Quattrocento Sans"/>
              </a:rPr>
              <a:t>g</a:t>
            </a:r>
            <a:endParaRPr sz="1700" b="1" dirty="0">
              <a:solidFill>
                <a:srgbClr val="FFFFFF"/>
              </a:solidFill>
              <a:latin typeface="Quattrocento Sans"/>
            </a:endParaRPr>
          </a:p>
        </p:txBody>
      </p:sp>
      <p:sp>
        <p:nvSpPr>
          <p:cNvPr id="134" name="TextBox 133"/>
          <p:cNvSpPr txBox="1"/>
          <p:nvPr/>
        </p:nvSpPr>
        <p:spPr>
          <a:xfrm>
            <a:off x="6089904" y="1508760"/>
            <a:ext cx="2743200" cy="3646896"/>
          </a:xfrm>
          <a:prstGeom prst="rect">
            <a:avLst/>
          </a:prstGeom>
          <a:solidFill>
            <a:srgbClr val="F2F2F2"/>
          </a:solidFill>
        </p:spPr>
        <p:txBody>
          <a:bodyPr wrap="square" lIns="73152" rIns="73152">
            <a:spAutoFit/>
          </a:bodyPr>
          <a:lstStyle/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lang="en-US" sz="1700" b="0" dirty="0">
                <a:latin typeface="Quattrocento Sans"/>
              </a:rPr>
              <a:t>Magnetometer sensor fusion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Heading hold on the free table (Req. 1)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Yaw accuracy on a moving table (Req. 2)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Wheel-failure detection + 3-wheel control (Req. 3)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Stretch: 4-</a:t>
            </a:r>
            <a:r>
              <a:rPr lang="en-US" sz="1700" b="0" dirty="0">
                <a:latin typeface="Quattrocento Sans"/>
              </a:rPr>
              <a:t>point</a:t>
            </a:r>
            <a:r>
              <a:rPr sz="1700" b="0" dirty="0">
                <a:latin typeface="Quattrocento Sans"/>
              </a:rPr>
              <a:t> optimal</a:t>
            </a:r>
            <a:r>
              <a:rPr lang="en-US" sz="1700" b="0" dirty="0">
                <a:latin typeface="Quattrocento Sans"/>
              </a:rPr>
              <a:t> course</a:t>
            </a:r>
            <a:r>
              <a:rPr sz="1700" b="0" dirty="0">
                <a:latin typeface="Quattrocento Sans"/>
              </a:rPr>
              <a:t> slew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Plans: Path to Lesson 31</a:t>
            </a:r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  <p:graphicFrame>
        <p:nvGraphicFramePr>
          <p:cNvPr id="92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1296516"/>
              </p:ext>
            </p:extLst>
          </p:nvPr>
        </p:nvGraphicFramePr>
        <p:xfrm>
          <a:off x="274320" y="1005840"/>
          <a:ext cx="8595360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8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140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64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6406">
                  <a:extLst>
                    <a:ext uri="{9D8B030D-6E8A-4147-A177-3AD203B41FA5}">
                      <a16:colId xmlns:a16="http://schemas.microsoft.com/office/drawing/2014/main" val="3117428457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Quattrocento Sans"/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FFFFFF"/>
                          </a:solidFill>
                          <a:latin typeface="Quattrocento Sans"/>
                        </a:rPr>
                        <a:t>Next task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Quattrocento Sans"/>
                        </a:rPr>
                        <a:t>Verifies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Quattrocento Sans"/>
                        </a:rPr>
                        <a:t>Complete By</a:t>
                      </a:r>
                      <a:endParaRPr sz="1400" b="1" dirty="0">
                        <a:solidFill>
                          <a:srgbClr val="FFFFFF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Trim roll balance (weight toward +y); measure hold time with the new DEMO LEVEL 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Enables hold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 dirty="0" err="1">
                          <a:solidFill>
                            <a:srgbClr val="000000"/>
                          </a:solidFill>
                          <a:latin typeface="Quattrocento Sans"/>
                        </a:rPr>
                        <a:t>Lsn</a:t>
                      </a:r>
                      <a:r>
                        <a:rPr lang="en-US"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27</a:t>
                      </a:r>
                      <a:endParaRPr sz="13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ARM heading hold on the free table for 5 min, logged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Req. 1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 dirty="0" err="1">
                          <a:solidFill>
                            <a:srgbClr val="000000"/>
                          </a:solidFill>
                          <a:latin typeface="Quattrocento Sans"/>
                        </a:rPr>
                        <a:t>Lsn</a:t>
                      </a:r>
                      <a:r>
                        <a:rPr lang="en-US"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28</a:t>
                      </a:r>
                      <a:endParaRPr sz="13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Yaw truth test: marked turns + calibrated magnetometer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Req.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 dirty="0" err="1">
                          <a:solidFill>
                            <a:srgbClr val="000000"/>
                          </a:solidFill>
                          <a:latin typeface="Quattrocento Sans"/>
                        </a:rPr>
                        <a:t>Lsn</a:t>
                      </a:r>
                      <a:r>
                        <a:rPr lang="en-US"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29</a:t>
                      </a:r>
                      <a:endParaRPr sz="13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Wheel-failure detection</a:t>
                      </a:r>
                      <a:r>
                        <a:rPr lang="en-US"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→ drop to 3-wheel allocation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Req. 3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 dirty="0" err="1">
                          <a:solidFill>
                            <a:srgbClr val="000000"/>
                          </a:solidFill>
                          <a:latin typeface="Quattrocento Sans"/>
                        </a:rPr>
                        <a:t>Lsn</a:t>
                      </a:r>
                      <a:r>
                        <a:rPr lang="en-US"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30</a:t>
                      </a:r>
                      <a:endParaRPr sz="13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4-attitude slew along quaternion (shortest) paths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Stretch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 dirty="0" err="1">
                          <a:solidFill>
                            <a:srgbClr val="000000"/>
                          </a:solidFill>
                          <a:latin typeface="Quattrocento Sans"/>
                        </a:rPr>
                        <a:t>Lsn</a:t>
                      </a:r>
                      <a:r>
                        <a:rPr lang="en-US"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31</a:t>
                      </a:r>
                      <a:endParaRPr sz="13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3" name="TextBox 92"/>
          <p:cNvSpPr txBox="1"/>
          <p:nvPr/>
        </p:nvSpPr>
        <p:spPr>
          <a:xfrm>
            <a:off x="274320" y="4251960"/>
            <a:ext cx="4160520" cy="1678921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400"/>
              </a:spcBef>
              <a:buNone/>
            </a:pPr>
            <a:r>
              <a:rPr sz="1400" b="1" dirty="0">
                <a:latin typeface="Quattrocento Sans"/>
              </a:rPr>
              <a:t>Key risks</a:t>
            </a:r>
          </a:p>
          <a:p>
            <a:pPr marL="300000" indent="-228600">
              <a:lnSpc>
                <a:spcPct val="95000"/>
              </a:lnSpc>
              <a:spcBef>
                <a:spcPts val="400"/>
              </a:spcBef>
              <a:buChar char="•"/>
            </a:pPr>
            <a:r>
              <a:rPr sz="1400" b="0" dirty="0">
                <a:latin typeface="Quattrocento Sans"/>
              </a:rPr>
              <a:t>Balance limits hold time (wheels store only ≈24 </a:t>
            </a:r>
            <a:r>
              <a:rPr sz="1400" b="0" dirty="0" err="1">
                <a:latin typeface="Quattrocento Sans"/>
              </a:rPr>
              <a:t>mN·m·s</a:t>
            </a:r>
            <a:r>
              <a:rPr sz="1400" b="0" dirty="0">
                <a:latin typeface="Quattrocento Sans"/>
              </a:rPr>
              <a:t> per axis</a:t>
            </a:r>
            <a:r>
              <a:rPr lang="en-US" sz="1400" b="0" dirty="0">
                <a:latin typeface="Quattrocento Sans"/>
              </a:rPr>
              <a:t> in current configuration, unknown how much it can reliably increase</a:t>
            </a:r>
            <a:r>
              <a:rPr sz="1400" b="0" dirty="0">
                <a:latin typeface="Quattrocento Sans"/>
              </a:rPr>
              <a:t>)</a:t>
            </a:r>
          </a:p>
          <a:p>
            <a:pPr marL="300000" indent="-228600">
              <a:lnSpc>
                <a:spcPct val="95000"/>
              </a:lnSpc>
              <a:spcBef>
                <a:spcPts val="400"/>
              </a:spcBef>
              <a:buChar char="•"/>
            </a:pPr>
            <a:r>
              <a:rPr sz="1400" b="0" dirty="0">
                <a:latin typeface="Quattrocento Sans"/>
              </a:rPr>
              <a:t>Yaw drift on long runs without a magnetometer aid</a:t>
            </a:r>
          </a:p>
          <a:p>
            <a:pPr marL="300000" indent="-228600">
              <a:lnSpc>
                <a:spcPct val="95000"/>
              </a:lnSpc>
              <a:spcBef>
                <a:spcPts val="400"/>
              </a:spcBef>
              <a:buChar char="•"/>
            </a:pPr>
            <a:r>
              <a:rPr lang="en-US" dirty="0">
                <a:latin typeface="Quattrocento Sans"/>
              </a:rPr>
              <a:t>Unexplained w</a:t>
            </a:r>
            <a:r>
              <a:rPr sz="1400" b="0" dirty="0">
                <a:latin typeface="Quattrocento Sans"/>
              </a:rPr>
              <a:t>heel A/C hardware faults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709160" y="4251960"/>
            <a:ext cx="4160520" cy="1474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400"/>
              </a:spcBef>
              <a:buNone/>
            </a:pPr>
            <a:r>
              <a:rPr sz="1400" b="1" dirty="0">
                <a:latin typeface="Quattrocento Sans"/>
              </a:rPr>
              <a:t>Improvements beyond </a:t>
            </a:r>
            <a:r>
              <a:rPr lang="en-US" sz="1400" b="1" dirty="0" err="1">
                <a:latin typeface="Quattrocento Sans"/>
              </a:rPr>
              <a:t>KestrelSAT</a:t>
            </a:r>
            <a:endParaRPr sz="1400" b="1" dirty="0">
              <a:latin typeface="Quattrocento Sans"/>
            </a:endParaRPr>
          </a:p>
          <a:p>
            <a:pPr marL="300000" indent="-228600">
              <a:lnSpc>
                <a:spcPct val="95000"/>
              </a:lnSpc>
              <a:spcBef>
                <a:spcPts val="400"/>
              </a:spcBef>
              <a:buChar char="•"/>
            </a:pPr>
            <a:r>
              <a:rPr lang="en-US" sz="1400" b="0" dirty="0">
                <a:latin typeface="Quattrocento Sans"/>
              </a:rPr>
              <a:t>Use of Air Bearing Table</a:t>
            </a:r>
          </a:p>
          <a:p>
            <a:pPr marL="300000" indent="-228600">
              <a:lnSpc>
                <a:spcPct val="95000"/>
              </a:lnSpc>
              <a:spcBef>
                <a:spcPts val="400"/>
              </a:spcBef>
              <a:buChar char="•"/>
            </a:pPr>
            <a:r>
              <a:rPr sz="1400" b="0" dirty="0">
                <a:latin typeface="Quattrocento Sans"/>
              </a:rPr>
              <a:t>Interrupt-driven IMU pipeline with per-sample logging (25% → 0.085% loss)</a:t>
            </a:r>
          </a:p>
          <a:p>
            <a:pPr marL="300000" indent="-228600">
              <a:lnSpc>
                <a:spcPct val="95000"/>
              </a:lnSpc>
              <a:spcBef>
                <a:spcPts val="400"/>
              </a:spcBef>
              <a:buChar char="•"/>
            </a:pPr>
            <a:r>
              <a:rPr sz="1400" b="0" dirty="0">
                <a:latin typeface="Quattrocento Sans"/>
              </a:rPr>
              <a:t>4-wheel pyramid </a:t>
            </a:r>
            <a:r>
              <a:rPr lang="en-US" sz="1400" b="0" dirty="0">
                <a:latin typeface="Quattrocento Sans"/>
              </a:rPr>
              <a:t>allowing 3DOF attitude control</a:t>
            </a:r>
            <a:endParaRPr sz="1400" b="0" dirty="0">
              <a:latin typeface="Quattrocento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GenAI Use Documentation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168" y="914400"/>
            <a:ext cx="8741664" cy="5440680"/>
          </a:xfrm>
        </p:spPr>
        <p:txBody>
          <a:bodyPr wrap="square">
            <a:normAutofit/>
          </a:bodyPr>
          <a:lstStyle/>
          <a:p>
            <a:pPr marL="285750" indent="-285750">
              <a:lnSpc>
                <a:spcPct val="95000"/>
              </a:lnSpc>
              <a:spcBef>
                <a:spcPts val="1400"/>
              </a:spcBef>
            </a:pPr>
            <a:r>
              <a:rPr lang="en-US" sz="1800" b="1" dirty="0"/>
              <a:t>Primary </a:t>
            </a:r>
            <a:r>
              <a:rPr sz="1800" b="1" dirty="0"/>
              <a:t>Tool: Claude Code</a:t>
            </a:r>
            <a:r>
              <a:rPr lang="en-US" sz="1800" b="1" dirty="0"/>
              <a:t>, Opus Model</a:t>
            </a:r>
          </a:p>
          <a:p>
            <a:pPr marL="742950" lvl="1" indent="-285750">
              <a:lnSpc>
                <a:spcPct val="95000"/>
              </a:lnSpc>
              <a:spcBef>
                <a:spcPts val="1400"/>
              </a:spcBef>
            </a:pPr>
            <a:r>
              <a:rPr sz="1400" b="0" dirty="0"/>
              <a:t>Firmware: drafted the EKF, controller, wheel allocation, IMU driver, logger and command set from the team’s requirements and design decisions; the team reviewed, uploaded and tested every build on the hardware</a:t>
            </a:r>
          </a:p>
          <a:p>
            <a:pPr marL="757200" lvl="1" indent="-228600">
              <a:lnSpc>
                <a:spcPct val="95000"/>
              </a:lnSpc>
              <a:spcBef>
                <a:spcPts val="1400"/>
              </a:spcBef>
            </a:pPr>
            <a:r>
              <a:rPr sz="1400" b="0" dirty="0"/>
              <a:t>Analysis: wrote the Python scripts and plots for each test log; the team ran the tests and checked the conclusions</a:t>
            </a:r>
          </a:p>
          <a:p>
            <a:pPr marL="757200" lvl="1" indent="-228600">
              <a:lnSpc>
                <a:spcPct val="95000"/>
              </a:lnSpc>
              <a:spcBef>
                <a:spcPts val="1400"/>
              </a:spcBef>
            </a:pPr>
            <a:r>
              <a:rPr sz="1400" b="0" dirty="0"/>
              <a:t>Documentation: CLAUDE.md, TODO.md, PROGRESS_LOG.md and a first draft of these slides</a:t>
            </a:r>
          </a:p>
          <a:p>
            <a:pPr marL="300000" indent="-228600">
              <a:lnSpc>
                <a:spcPct val="95000"/>
              </a:lnSpc>
              <a:spcBef>
                <a:spcPts val="1400"/>
              </a:spcBef>
              <a:buChar char="•"/>
            </a:pPr>
            <a:r>
              <a:rPr sz="1800" b="0" dirty="0"/>
              <a:t>Team-owned: hardware build, wiring and power system, requirement and design decisions, </a:t>
            </a:r>
            <a:r>
              <a:rPr lang="en-US" sz="1800" b="0" dirty="0"/>
              <a:t>test design, execution</a:t>
            </a:r>
            <a:r>
              <a:rPr sz="1800" b="0" dirty="0"/>
              <a:t>, and final review of every result</a:t>
            </a:r>
          </a:p>
          <a:p>
            <a:pPr marL="300000" indent="-228600">
              <a:lnSpc>
                <a:spcPct val="95000"/>
              </a:lnSpc>
              <a:spcBef>
                <a:spcPts val="1400"/>
              </a:spcBef>
              <a:buChar char="•"/>
            </a:pPr>
            <a:r>
              <a:rPr sz="1800" b="0" dirty="0"/>
              <a:t>Full record of work: PROGRESS_LOG.md and the git history in the team repository</a:t>
            </a:r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2329</Words>
  <Application>Microsoft Office PowerPoint</Application>
  <PresentationFormat>On-screen Show (4:3)</PresentationFormat>
  <Paragraphs>197</Paragraphs>
  <Slides>19</Slides>
  <Notes>7</Notes>
  <HiddenSlides>0</HiddenSlides>
  <MMClips>1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Quattrocento Sans</vt:lpstr>
      <vt:lpstr>Office Theme</vt:lpstr>
      <vt:lpstr>Lab 8: Preliminary Data Review</vt:lpstr>
      <vt:lpstr>Overview</vt:lpstr>
      <vt:lpstr>Requirements: Verification &amp; Status</vt:lpstr>
      <vt:lpstr>Theory: Estimation &amp; Control Loop</vt:lpstr>
      <vt:lpstr>Theory: Control Law &amp; Wheel Allocation</vt:lpstr>
      <vt:lpstr>Build Progress: Hardware</vt:lpstr>
      <vt:lpstr>Build Progress: Hardware</vt:lpstr>
      <vt:lpstr>Progress: Software Build &amp; Tests</vt:lpstr>
      <vt:lpstr>Data: Wheel Speed Control</vt:lpstr>
      <vt:lpstr>Data: Attitude Determination at Rest</vt:lpstr>
      <vt:lpstr>Data: IMU Data Integrity (Unexpected Result)</vt:lpstr>
      <vt:lpstr>Data: Magnetometer vs. Wheel Motors</vt:lpstr>
      <vt:lpstr>Data: First DEMO SPIN (Unsuccessful)</vt:lpstr>
      <vt:lpstr>Data: DEMO SPIN Leveling</vt:lpstr>
      <vt:lpstr>DEMO SPIN</vt:lpstr>
      <vt:lpstr>DEMO SPIN: Leveling Video</vt:lpstr>
      <vt:lpstr>Future Plans: Where We Stand</vt:lpstr>
      <vt:lpstr>Future Plans: Path to Lesson 31</vt:lpstr>
      <vt:lpstr>GenAI Use Documentation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Harris, Wyatt J Lt Col USAF USAFA DF/DFAS</dc:creator>
  <cp:lastModifiedBy>Weissinger, Derek H C2C USAF USAFA CW/CS40</cp:lastModifiedBy>
  <cp:revision>9</cp:revision>
  <dcterms:created xsi:type="dcterms:W3CDTF">2025-07-17T17:53:42Z</dcterms:created>
  <dcterms:modified xsi:type="dcterms:W3CDTF">2026-10-23T19:05:48Z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0x01010079E104B47FA86644A46CA5C8803E74CD</vt:lpwstr>
  </property>
  <property fmtid="{D5CDD505-2E9C-101B-9397-08002B2CF9AE}" pid="3" name="MediaServiceImageTags">
    <vt:lpwstr/>
  </property>
</Properties>
</file>