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63" r:id="rId17"/>
    <p:sldId id="259" r:id="rId8"/>
    <p:sldId id="264" r:id="rId18"/>
    <p:sldId id="260" r:id="rId9"/>
    <p:sldId id="265" r:id="rId19"/>
    <p:sldId id="261" r:id="rId10"/>
    <p:sldId id="266" r:id="rId20"/>
    <p:sldId id="267" r:id="rId21"/>
    <p:sldId id="268" r:id="rId22"/>
    <p:sldId id="269" r:id="rId23"/>
    <p:sldId id="262" r:id="rId11"/>
    <p:sldId id="270" r:id="rId24"/>
    <p:sldId id="271" r:id="rId25"/>
  </p:sldIdLst>
  <p:sldSz cy="6858000" cx="9144000"/>
  <p:notesSz cx="6858000" cy="9144000"/>
  <p:embeddedFontLst>
    <p:embeddedFont>
      <p:font typeface="Quattrocen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eCnu8lAzD9+tydpnVE8c63/G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QuattrocentoSans-regular.fntdata"/><Relationship Id="rId13" Type="http://schemas.openxmlformats.org/officeDocument/2006/relationships/font" Target="fonts/QuattrocentoSans-bold.fntdata"/><Relationship Id="rId14" Type="http://schemas.openxmlformats.org/officeDocument/2006/relationships/font" Target="fonts/QuattrocentoSans-italic.fntdata"/><Relationship Id="rId15" Type="http://schemas.openxmlformats.org/officeDocument/2006/relationships/font" Target="fonts/QuattrocentoSans-boldItalic.fntdata"/><Relationship Id="rId16" Type="http://customschemas.google.com/relationships/presentationmetadata" Target="metadata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https://www.youtube.com/watch?v=jVXgWGK9Kr8</a:t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1e1805356538ab8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h1e1805356538ab88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e1805356538ab8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h1e1805356538ab88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1e1805356538ab8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h1e1805356538ab88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1e1805356538ab88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h1e1805356538ab88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ctrTitle"/>
          </p:nvPr>
        </p:nvSpPr>
        <p:spPr>
          <a:xfrm>
            <a:off x="1177505" y="1287560"/>
            <a:ext cx="67889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Quattrocento San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subTitle"/>
          </p:nvPr>
        </p:nvSpPr>
        <p:spPr>
          <a:xfrm>
            <a:off x="1143000" y="3781865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6"/>
          <p:cNvSpPr txBox="1"/>
          <p:nvPr/>
        </p:nvSpPr>
        <p:spPr>
          <a:xfrm>
            <a:off x="1028701" y="111639"/>
            <a:ext cx="7226780" cy="69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USAFA ASTRO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6"/>
          <p:cNvSpPr txBox="1"/>
          <p:nvPr/>
        </p:nvSpPr>
        <p:spPr>
          <a:xfrm>
            <a:off x="1143000" y="6288282"/>
            <a:ext cx="6858000" cy="501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ASTRO 331 – Space Systems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Quattrocento Sans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1982756" y="-780225"/>
            <a:ext cx="5227553" cy="8793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b="1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5"/>
          <p:cNvSpPr txBox="1"/>
          <p:nvPr/>
        </p:nvSpPr>
        <p:spPr>
          <a:xfrm>
            <a:off x="8115301" y="72097"/>
            <a:ext cx="9704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5"/>
          <p:cNvSpPr/>
          <p:nvPr/>
        </p:nvSpPr>
        <p:spPr>
          <a:xfrm>
            <a:off x="46364" y="855395"/>
            <a:ext cx="9039409" cy="59616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6365" y="18574"/>
            <a:ext cx="734686" cy="8274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ctrTitle"/>
          </p:nvPr>
        </p:nvSpPr>
        <p:spPr>
          <a:xfrm>
            <a:off x="1177505" y="1287560"/>
            <a:ext cx="67889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Quattrocento Sans"/>
              <a:buNone/>
            </a:pPr>
            <a:r>
              <a:rPr b="1" lang="en-US" sz="4800"/>
              <a:t>Lab 8: </a:t>
            </a:r>
            <a:r>
              <a:rPr lang="en-US" sz="4800"/>
              <a:t>Preliminary Data Review</a:t>
            </a:r>
            <a:endParaRPr/>
          </a:p>
        </p:txBody>
      </p:sp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143000" y="3429000"/>
            <a:ext cx="6858000" cy="2316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30"/>
              <a:buNone/>
            </a:pPr>
            <a:r>
              <a:rPr b="1" lang="en-US" sz="3630"/>
              <a:t>2/3 Body Problem</a:t>
            </a:r>
            <a:endParaRPr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Gowri Ramaprasad</a:t>
            </a:r>
            <a:endParaRPr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Derek Weissinger</a:t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Owen Crawley</a:t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b="1" sz="25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90" name="Google Shape;90;p3"/>
          <p:cNvSpPr txBox="1"/>
          <p:nvPr>
            <p:ph idx="1" type="body"/>
          </p:nvPr>
        </p:nvSpPr>
        <p:spPr>
          <a:xfrm>
            <a:off x="200025" y="1002506"/>
            <a:ext cx="8793015" cy="5722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the small air bearing table, develop a reaction wheel control system in 3 degrees of freedom (pitch, yaw, roll).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Develop a robust sensor fusion algorithm using gyroscopes, magnetometers and accelerometers to accurately determine attitude at any given state.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975" y="3683750"/>
            <a:ext cx="2280799" cy="30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7900" y="3683750"/>
            <a:ext cx="2280799" cy="30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Primary Requirements: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maintain a specified heading without visible jitter or drift.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be able to determine true attitude +/- 1 degree in all 3 fundamental axes.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automatically detect simulated or real wheel failure and compensate, still fulfilling above requirements.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Stretch Requirement: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slew to a series of 4 points following the optimal path, coming within +/- 1 degree of each point in all 3 fundamental axes.</a:t>
            </a:r>
            <a:endParaRPr/>
          </a:p>
        </p:txBody>
      </p:sp>
      <p:sp>
        <p:nvSpPr>
          <p:cNvPr id="100" name="Google Shape;100;p4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1e1805356538ab88_0_0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Theory: Estimation &amp; Control Loop</a:t>
            </a:r>
            <a:endParaRPr/>
          </a:p>
        </p:txBody>
      </p:sp>
      <p:sp>
        <p:nvSpPr>
          <p:cNvPr id="107" name="Google Shape;107;h1e1805356538ab88_0_0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Picture 107" descr="diag_control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8595360" cy="315468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274320" y="4160520"/>
            <a:ext cx="85953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300000" indent="-228600">
              <a:lnSpc>
                <a:spcPct val="95000"/>
              </a:lnSpc>
              <a:spcBef>
                <a:spcPts val="700"/>
              </a:spcBef>
              <a:buChar char="•"/>
            </a:pPr>
            <a:r>
              <a:rPr sz="1600" b="0">
                <a:latin typeface="Quattrocento Sans"/>
              </a:rPr>
              <a:t>Multiplicative EKF on the Teensy: 6 error states (3 attitude + 3 gyro bias), attitude kept as a quaternion</a:t>
            </a:r>
          </a:p>
          <a:p>
            <a:pPr marL="300000" indent="-228600">
              <a:lnSpc>
                <a:spcPct val="95000"/>
              </a:lnSpc>
              <a:spcBef>
                <a:spcPts val="700"/>
              </a:spcBef>
              <a:buChar char="•"/>
            </a:pPr>
            <a:r>
              <a:rPr sz="1600" b="0">
                <a:latin typeface="Quattrocento Sans"/>
              </a:rPr>
              <a:t>Predict at 100 Hz with the gyro; update with the accelerometer (gravity direction) → corrects roll and pitch; rejects samples when |a| is not ≈ 1 g (table accelerating)</a:t>
            </a:r>
          </a:p>
          <a:p>
            <a:pPr marL="300000" indent="-228600">
              <a:lnSpc>
                <a:spcPct val="95000"/>
              </a:lnSpc>
              <a:spcBef>
                <a:spcPts val="700"/>
              </a:spcBef>
              <a:buChar char="•"/>
            </a:pPr>
            <a:r>
              <a:rPr sz="1600" b="0">
                <a:latin typeface="Quattrocento Sans"/>
              </a:rPr>
              <a:t>Yaw is gyro-only: gravity carries no heading, and the magnetometer is disturbed by the wheel motors (see Data). The z-gyro bias comes from a 60–180 s calibration at rest</a:t>
            </a:r>
          </a:p>
          <a:p>
            <a:pPr marL="300000" indent="-228600">
              <a:lnSpc>
                <a:spcPct val="95000"/>
              </a:lnSpc>
              <a:spcBef>
                <a:spcPts val="700"/>
              </a:spcBef>
              <a:buChar char="•"/>
            </a:pPr>
            <a:r>
              <a:rPr sz="1600" b="0">
                <a:latin typeface="Quattrocento Sans"/>
              </a:rPr>
              <a:t>Frames: body z up, x = roll, y = pitch (right-handed); q maps inertial → body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1e1805356538ab88_0_6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Build Progress: Hardware</a:t>
            </a:r>
            <a:endParaRPr/>
          </a:p>
        </p:txBody>
      </p:sp>
      <p:sp>
        <p:nvSpPr>
          <p:cNvPr id="114" name="Google Shape;114;h1e1805356538ab88_0_6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5" name="Picture 114" descr="diag_hard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8595360" cy="365760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274320" y="4617720"/>
            <a:ext cx="859536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300000" indent="-228600">
              <a:lnSpc>
                <a:spcPct val="95000"/>
              </a:lnSpc>
              <a:spcBef>
                <a:spcPts val="600"/>
              </a:spcBef>
              <a:buChar char="•"/>
            </a:pPr>
            <a:r>
              <a:rPr sz="1500" b="0">
                <a:latin typeface="Quattrocento Sans"/>
              </a:rPr>
              <a:t>Power system (Owen): separate logic pack + 5 V boost (verified 5.09 V), one 12 V pack per wheel, low-side motor switch, star ground, bench wiring sheet</a:t>
            </a:r>
          </a:p>
          <a:p>
            <a:pPr marL="300000" indent="-228600">
              <a:lnSpc>
                <a:spcPct val="95000"/>
              </a:lnSpc>
              <a:spcBef>
                <a:spcPts val="600"/>
              </a:spcBef>
              <a:buChar char="•"/>
            </a:pPr>
            <a:r>
              <a:rPr sz="1500" b="0">
                <a:latin typeface="Quattrocento Sans"/>
              </a:rPr>
              <a:t>Verified on the table: pin map and encoder wiring corrected, wheel/encoder signs set; gearboxes found to be 6.3:1, not 10:1 (hand-turn encoder counts)</a:t>
            </a:r>
          </a:p>
          <a:p>
            <a:pPr marL="300000" indent="-228600">
              <a:lnSpc>
                <a:spcPct val="95000"/>
              </a:lnSpc>
              <a:spcBef>
                <a:spcPts val="600"/>
              </a:spcBef>
              <a:buChar char="•"/>
            </a:pPr>
            <a:r>
              <a:rPr sz="1500" b="0">
                <a:latin typeface="Quattrocento Sans"/>
              </a:rPr>
              <a:t>Added IMU data-ready (INT) and reset (RST) wires → reliable 100 Hz data, no power cycle after uploads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e1805356538ab88_0_12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Data: Wheel Speed Control</a:t>
            </a:r>
            <a:endParaRPr/>
          </a:p>
        </p:txBody>
      </p:sp>
      <p:sp>
        <p:nvSpPr>
          <p:cNvPr id="121" name="Google Shape;121;h1e1805356538ab88_0_12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Picture 121" descr="fig1_wheel_spee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8595360" cy="3210767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274320" y="4169663"/>
            <a:ext cx="8595360" cy="22768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MEASURE:  </a:t>
            </a:r>
            <a:r>
              <a:rPr sz="1500" b="0">
                <a:latin typeface="Quattrocento Sans"/>
              </a:rPr>
              <a:t>Commanded vs. measured speed, all 4 wheels, 0 → 480 → 0 rpm cosine profile (12 V packs, table clamped).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COMPARE:  </a:t>
            </a:r>
            <a:r>
              <a:rPr sz="1500" b="0">
                <a:latin typeface="Quattrocento Sans"/>
              </a:rPr>
              <a:t>Expected tight tracking from the 100 Hz PI + feed-forward. B and D hold ±1 rpm; A and C swing ±10–16 rpm; no wheel moves until the command reaches ≈ 46 rpm.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EXPLAIN:  </a:t>
            </a:r>
            <a:r>
              <a:rPr sz="1500" b="0">
                <a:latin typeface="Quattrocento Sans"/>
              </a:rPr>
              <a:t>Same gains on every wheel, so A/C differences are hardware: A rubs and its pack is ≈1 V low; C is still unexplained. The start delay is static friction.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NEXT:  </a:t>
            </a:r>
            <a:r>
              <a:rPr sz="1500" b="0">
                <a:latin typeface="Quattrocento Sans"/>
              </a:rPr>
              <a:t>Fix A’s rub and charge pack A; check C’s pack voltage under load and its encoder; add static-friction compensation.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1e1805356538ab88_0_18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Future Plans: Where We Stand</a:t>
            </a:r>
            <a:endParaRPr/>
          </a:p>
        </p:txBody>
      </p:sp>
      <p:sp>
        <p:nvSpPr>
          <p:cNvPr id="128" name="Google Shape;128;h1e1805356538ab88_0_18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404040"/>
          </a:solidFill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sz="1700" b="1">
                <a:solidFill>
                  <a:srgbClr val="FFFFFF"/>
                </a:solidFill>
                <a:latin typeface="Quattrocento Sans"/>
              </a:rPr>
              <a:t>Working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4320" y="1508760"/>
            <a:ext cx="2743200" cy="4343400"/>
          </a:xfrm>
          <a:prstGeom prst="rect">
            <a:avLst/>
          </a:prstGeom>
          <a:solidFill>
            <a:srgbClr val="F2F2F2"/>
          </a:solidFill>
        </p:spPr>
        <p:txBody>
          <a:bodyPr wrap="square" lIns="73152" rIns="73152">
            <a:spAutoFit/>
          </a:bodyPr>
          <a:lstStyle/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Attitude estimator: roll/pitch 0.02° at rest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Reliable 100 Hz IMU data (0.085% lost)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Wheel speed loops on all 4 wheels at 12 V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SD + XBee logging and command link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Wheel geometry and signs verified on the air bearing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82112" y="1005840"/>
            <a:ext cx="2743200" cy="457200"/>
          </a:xfrm>
          <a:prstGeom prst="rect">
            <a:avLst/>
          </a:prstGeom>
          <a:solidFill>
            <a:srgbClr val="404040"/>
          </a:solidFill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sz="1700" b="1">
                <a:solidFill>
                  <a:srgbClr val="FFFFFF"/>
                </a:solidFill>
                <a:latin typeface="Quattrocento Sans"/>
              </a:rPr>
              <a:t>Needs improvement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82112" y="1508760"/>
            <a:ext cx="2743200" cy="4343400"/>
          </a:xfrm>
          <a:prstGeom prst="rect">
            <a:avLst/>
          </a:prstGeom>
          <a:solidFill>
            <a:srgbClr val="F2F2F2"/>
          </a:solidFill>
        </p:spPr>
        <p:txBody>
          <a:bodyPr wrap="square" lIns="73152" rIns="73152">
            <a:spAutoFit/>
          </a:bodyPr>
          <a:lstStyle/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Table balance: pendulous, ≈3° off level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Yaw drift: ≈3 °/h after warm-up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Wheel A rub / pack; wheel C oscillation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Static friction at low wheel speed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Real inertia (fits 0.05–0.13 kg·m²)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089904" y="1005840"/>
            <a:ext cx="2743200" cy="457200"/>
          </a:xfrm>
          <a:prstGeom prst="rect">
            <a:avLst/>
          </a:prstGeom>
          <a:solidFill>
            <a:srgbClr val="404040"/>
          </a:solidFill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sz="1700" b="1">
                <a:solidFill>
                  <a:srgbClr val="FFFFFF"/>
                </a:solidFill>
                <a:latin typeface="Quattrocento Sans"/>
              </a:rPr>
              <a:t>Remaining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89904" y="1508760"/>
            <a:ext cx="2743200" cy="4343400"/>
          </a:xfrm>
          <a:prstGeom prst="rect">
            <a:avLst/>
          </a:prstGeom>
          <a:solidFill>
            <a:srgbClr val="F2F2F2"/>
          </a:solidFill>
        </p:spPr>
        <p:txBody>
          <a:bodyPr wrap="square" lIns="73152" rIns="73152">
            <a:spAutoFit/>
          </a:bodyPr>
          <a:lstStyle/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Heading hold on the free table (Req. 1)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Yaw accuracy on a moving table (Req. 2)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Wheel-failure detection + 3-wheel control (Req. 3)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Stretch: 4-attitude optimal slew</a:t>
            </a:r>
          </a:p>
          <a:p>
            <a:pPr marL="300000" indent="-228600">
              <a:lnSpc>
                <a:spcPct val="95000"/>
              </a:lnSpc>
              <a:spcBef>
                <a:spcPts val="1600"/>
              </a:spcBef>
              <a:buChar char="•"/>
            </a:pPr>
            <a:r>
              <a:rPr sz="1700" b="0">
                <a:latin typeface="Quattrocento Sans"/>
              </a:rPr>
              <a:t>Final demo and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Requirements: Verification &amp; Status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274320" y="1005840"/>
          <a:ext cx="859536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7400"/>
                <a:gridCol w="3703320"/>
                <a:gridCol w="283464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Quattrocento Sans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Quattrocento Sans"/>
                        </a:rPr>
                        <a:t>Verification method / pass criterion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Quattrocento Sans"/>
                        </a:rPr>
                        <a:t>Status at review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(1) Hold heading, no visible jitter or drift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ARM on the free-floating table, hold yaw = 0 for 5 min, log attitude. Pass: |yaw error| &lt; 1°, no visible oscillation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In progress: controller built and simulated; closed-loop test blocked by table balance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(2) Attitude ±1° in all 3 axes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Logged EKF vs. references: accelerometer level (roll/pitch), magnetometer + marked turns (yaw). Pass: error &lt; 1° over the run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Roll/pitch verified at rest (σ = 0.02°). Yaw: 3 °/h after warm-up (replay); moving-table test next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(3) Detect wheel failure and compensate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Disable a wheel (command or unplug) during a hold. Pass: fault flagged &lt; 1 s and (1), (2) still met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In progress: 3-wheel allocation implemented; detection not started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Stretch: 4-attitude optimal slew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Command 4 attitudes along quaternion (shortest) paths. Pass: each reached within ±1°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Quattrocento Sans"/>
                        </a:rPr>
                        <a:t>Planned: DEMO SPIN trajectory generator is reusable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274320" y="5806440"/>
            <a:ext cx="859536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sz="1200" b="0" i="1">
                <a:latin typeface="Quattrocento Sans"/>
              </a:rPr>
              <a:t>Pass criteria for (1)–(3) are our proposed thresholds for instructor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Theory: Control Law &amp; Wheel Allocation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" y="914400"/>
            <a:ext cx="5074920" cy="5440680"/>
          </a:xfrm>
        </p:spPr>
        <p:txBody>
          <a:bodyPr wrap="square">
            <a:normAutofit/>
          </a:bodyPr>
          <a:lstStyle/>
          <a:p>
            <a:pPr marL="300000" indent="-228600">
              <a:lnSpc>
                <a:spcPct val="95000"/>
              </a:lnSpc>
              <a:spcBef>
                <a:spcPts val="1000"/>
              </a:spcBef>
              <a:buChar char="•"/>
            </a:pPr>
            <a:r>
              <a:rPr sz="1700" b="1"/>
              <a:t>Quaternion PD with feed-forward:</a:t>
            </a:r>
          </a:p>
          <a:p>
            <a:pPr marL="300000" indent="0">
              <a:lnSpc>
                <a:spcPct val="95000"/>
              </a:lnSpc>
              <a:spcBef>
                <a:spcPts val="400"/>
              </a:spcBef>
              <a:buNone/>
            </a:pPr>
            <a:r>
              <a:rPr sz="1550" b="0" i="1"/>
              <a:t>τ = −Kp θₑ − Kd (ω − ω_ref) + I α_ref + ω × (Iω + h_w)</a:t>
            </a:r>
          </a:p>
          <a:p>
            <a:pPr marL="580000" indent="-228600">
              <a:lnSpc>
                <a:spcPct val="95000"/>
              </a:lnSpc>
              <a:spcBef>
                <a:spcPts val="1000"/>
              </a:spcBef>
              <a:buChar char="–"/>
            </a:pPr>
            <a:r>
              <a:rPr sz="1500" b="0"/>
              <a:t>Kp = I ωₙ², Kd = 2ζ I ωₙ (ωₙ = 2 rad/s, ζ = 0.9)</a:t>
            </a:r>
          </a:p>
          <a:p>
            <a:pPr marL="300000" indent="-228600">
              <a:lnSpc>
                <a:spcPct val="95000"/>
              </a:lnSpc>
              <a:spcBef>
                <a:spcPts val="1000"/>
              </a:spcBef>
              <a:buChar char="•"/>
            </a:pPr>
            <a:r>
              <a:rPr sz="1700" b="0"/>
              <a:t>4 wheels in a 45° pyramid: any 3 still span all axes → the basis for wheel-failure tolerance (Req. 3)</a:t>
            </a:r>
          </a:p>
          <a:p>
            <a:pPr marL="300000" indent="-228600">
              <a:lnSpc>
                <a:spcPct val="95000"/>
              </a:lnSpc>
              <a:spcBef>
                <a:spcPts val="1000"/>
              </a:spcBef>
              <a:buChar char="•"/>
            </a:pPr>
            <a:r>
              <a:rPr sz="1700" b="0"/>
              <a:t>Minimum-norm allocation u = −D⁺τ over the enabled wheels; the 4th-wheel null mode [+1, −1, +1, −1] holds a bias speed</a:t>
            </a:r>
          </a:p>
          <a:p>
            <a:pPr marL="300000" indent="-228600">
              <a:lnSpc>
                <a:spcPct val="95000"/>
              </a:lnSpc>
              <a:spcBef>
                <a:spcPts val="1000"/>
              </a:spcBef>
              <a:buChar char="•"/>
            </a:pPr>
            <a:r>
              <a:rPr sz="1700" b="0"/>
              <a:t>Inner loop: 100 Hz wheel-speed PI with a back-EMF current limit (2.5 A, no current sensor)</a:t>
            </a:r>
          </a:p>
          <a:p>
            <a:pPr marL="300000" indent="-228600">
              <a:lnSpc>
                <a:spcPct val="95000"/>
              </a:lnSpc>
              <a:spcBef>
                <a:spcPts val="1000"/>
              </a:spcBef>
              <a:buChar char="•"/>
            </a:pPr>
            <a:r>
              <a:rPr sz="1700" b="0"/>
              <a:t>Physics limit: wheels cannot dump momentum. A constant torque τ fills them in h_max / τ seconds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Picture 91" descr="diag_wheel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63040"/>
            <a:ext cx="3611880" cy="2045523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349240" y="3657600"/>
            <a:ext cx="3611880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400"/>
              </a:spcBef>
              <a:buNone/>
            </a:pPr>
            <a:r>
              <a:rPr sz="1250" b="0">
                <a:latin typeface="Quattrocento Sans"/>
              </a:rPr>
              <a:t>Wheel J = 3.06×10⁻⁴ kg·m² (CAD); table I ≈ 0.062 kg·m² (model)</a:t>
            </a:r>
          </a:p>
          <a:p>
            <a:pPr marL="0" indent="0">
              <a:lnSpc>
                <a:spcPct val="95000"/>
              </a:lnSpc>
              <a:spcBef>
                <a:spcPts val="400"/>
              </a:spcBef>
              <a:buNone/>
            </a:pPr>
            <a:r>
              <a:rPr sz="1250" b="0">
                <a:latin typeface="Quattrocento Sans"/>
              </a:rPr>
              <a:t>Speed limit 60 rad/s → ≈ 24 mN·m·s per tilt axis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Progress: Software &amp; Test Campaign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" y="914400"/>
            <a:ext cx="3977639" cy="5440680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95000"/>
              </a:lnSpc>
              <a:spcBef>
                <a:spcPts val="900"/>
              </a:spcBef>
              <a:buNone/>
            </a:pPr>
            <a:r>
              <a:rPr sz="1600" b="1"/>
              <a:t>Teensy firmware (C++, PlatformIO):</a:t>
            </a:r>
          </a:p>
          <a:p>
            <a:pPr marL="300000" indent="-228600">
              <a:lnSpc>
                <a:spcPct val="95000"/>
              </a:lnSpc>
              <a:spcBef>
                <a:spcPts val="900"/>
              </a:spcBef>
              <a:buChar char="•"/>
            </a:pPr>
            <a:r>
              <a:rPr sz="1600" b="0"/>
              <a:t>EKF, attitude controller, wheel allocation, wheel speed loops, safety supervisor</a:t>
            </a:r>
          </a:p>
          <a:p>
            <a:pPr marL="300000" indent="-228600">
              <a:lnSpc>
                <a:spcPct val="95000"/>
              </a:lnSpc>
              <a:spcBef>
                <a:spcPts val="900"/>
              </a:spcBef>
              <a:buChar char="•"/>
            </a:pPr>
            <a:r>
              <a:rPr sz="1600" b="0"/>
              <a:t>Logger: every sample to SD (100 Hz), live stream over XBee</a:t>
            </a:r>
          </a:p>
          <a:p>
            <a:pPr marL="300000" indent="-228600">
              <a:lnSpc>
                <a:spcPct val="95000"/>
              </a:lnSpc>
              <a:spcBef>
                <a:spcPts val="900"/>
              </a:spcBef>
              <a:buChar char="•"/>
            </a:pPr>
            <a:r>
              <a:rPr sz="1600" b="0"/>
              <a:t>XBee/USB commands: ARM, KILL, STATUS, SPEED, TEST, CALIBRATE, BEGIN STATIC TEST, MAG MAP, DEMO SPIN</a:t>
            </a:r>
          </a:p>
          <a:p>
            <a:pPr marL="300000" indent="-228600">
              <a:lnSpc>
                <a:spcPct val="95000"/>
              </a:lnSpc>
              <a:spcBef>
                <a:spcPts val="900"/>
              </a:spcBef>
              <a:buChar char="•"/>
            </a:pPr>
            <a:r>
              <a:rPr sz="1600" b="0"/>
              <a:t>SPEED manual closed-loop wheel mode with ramps and filtering (Owen)</a:t>
            </a:r>
          </a:p>
          <a:p>
            <a:pPr marL="300000" indent="-228600">
              <a:lnSpc>
                <a:spcPct val="95000"/>
              </a:lnSpc>
              <a:spcBef>
                <a:spcPts val="900"/>
              </a:spcBef>
              <a:buChar char="•"/>
            </a:pPr>
            <a:r>
              <a:rPr sz="1600" b="0"/>
              <a:t>Analysis: Python scripts on every logged run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4343400" y="1005840"/>
          <a:ext cx="4572000" cy="4992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1828800"/>
                <a:gridCol w="219456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attrocento Sans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attrocento Sans"/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attrocento Sans"/>
                        </a:rPr>
                        <a:t>Key result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10-08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Wheel sign bring-up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Encoder pins corrected, signs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10-15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Bench speed sweeps, hand-turn counts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6.3:1 gearing; A rubs; C oscillates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10-15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Static IMU test (37 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Roll/pitch 0.02°; yaw −27 °/h; ¼ of samples lost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10-16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Motors-on static test, MAG MAP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Gyro warm-up drift; magnetometer disturbance mapped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10-16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First DEMO SPIN on air bearing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Table is pendulous; wheels saturate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10-20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IMU INT/RST + driver fixes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Quattrocento Sans"/>
                        </a:rPr>
                        <a:t>Sample loss 25% → 0.085%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Data: Attitude Determination at Rest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Picture 91" descr="fig2_static_at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96112"/>
            <a:ext cx="8595360" cy="323269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74320" y="4169663"/>
            <a:ext cx="8595360" cy="22768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MEASURE:  </a:t>
            </a:r>
            <a:r>
              <a:rPr sz="1500" b="0">
                <a:latin typeface="Quattrocento Sans"/>
              </a:rPr>
              <a:t>37 min with the IMU fixed and motors off: EKF roll/pitch/yaw plus the independent magnetometer heading.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COMPARE:  </a:t>
            </a:r>
            <a:r>
              <a:rPr sz="1500" b="0">
                <a:latin typeface="Quattrocento Sans"/>
              </a:rPr>
              <a:t>Requirement ±1°. Theory: a 3 s gyro-bias average leaves ≈ 26 °/h of yaw drift.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EXPLAIN:  </a:t>
            </a:r>
            <a:r>
              <a:rPr sz="1500" b="0">
                <a:latin typeface="Quattrocento Sans"/>
              </a:rPr>
              <a:t>Roll/pitch σ = 0.02°, far inside ±1°. Yaw drifted −27 °/h, matching the predicted calibration error; the magnetometer stayed flat. Fixes: 60–180 s calibration, z-bias lock, calibrate after a 10 min warm-up → ≈ 3 °/h in replay.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NEXT:  </a:t>
            </a:r>
            <a:r>
              <a:rPr sz="1500" b="0">
                <a:latin typeface="Quattrocento Sans"/>
              </a:rPr>
              <a:t>Verify on the moving table; 3 °/h keeps yaw within ±1° for ≈20 min. Longer runs need a magnetometer aid.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Data: IMU Data Integrity (Unexpected Result)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Picture 91" descr="fig3_imu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96112"/>
            <a:ext cx="8595360" cy="323269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74320" y="4169663"/>
            <a:ext cx="8595360" cy="22768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MEASURE:  </a:t>
            </a:r>
            <a:r>
              <a:rPr sz="1500" b="0">
                <a:latin typeface="Quattrocento Sans"/>
              </a:rPr>
              <a:t>Time between every gyro sample logged to SD, IMU at rest, before and after our fixes.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COMPARE:  </a:t>
            </a:r>
            <a:r>
              <a:rPr sz="1500" b="0">
                <a:latin typeface="Quattrocento Sans"/>
              </a:rPr>
              <a:t>Expected 10 ms. Before: 25% of samples lost and 38 gaps &gt; 100 ms, each of which would have disarmed the wheels.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EXPLAIN:  </a:t>
            </a:r>
            <a:r>
              <a:rPr sz="1500" b="0">
                <a:latin typeface="Quattrocento Sans"/>
              </a:rPr>
              <a:t>Root causes: the IMU library kept only the last report of each I²C read, SD writes blocked the loop, and no data-ready line. Fixed: INT/RST wired, own report queue, IMU serviced during SD waits, SD in DMA mode.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500">
                <a:latin typeface="Quattrocento Sans"/>
              </a:rPr>
              <a:t>NEXT:  </a:t>
            </a:r>
            <a:r>
              <a:rPr sz="1500" b="0">
                <a:latin typeface="Quattrocento Sans"/>
              </a:rPr>
              <a:t>Remaining 60–90 ms stalls come from inside the BNO085 (every ≈22 s): under the 100 ms timeout and now integrated by the EKF. Monitor on long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Data: Magnetometer vs. Wheel Motors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Picture 91" descr="fig4_mag_distu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96112"/>
            <a:ext cx="8595360" cy="3425566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74320" y="4370832"/>
            <a:ext cx="8595360" cy="20756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MEASURE:  </a:t>
            </a:r>
            <a:r>
              <a:rPr sz="1450" b="0">
                <a:latin typeface="Quattrocento Sans"/>
              </a:rPr>
              <a:t>Raw magnetometer heading on a fixed table while the wheels step through ±50/100/200 rpm.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COMPARE:  </a:t>
            </a:r>
            <a:r>
              <a:rPr sz="1450" b="0">
                <a:latin typeface="Quattrocento Sans"/>
              </a:rPr>
              <a:t>A heading aid must be steady to well under 1°; with motors off it showed 0.7° noise and no drift.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EXPLAIN:  </a:t>
            </a:r>
            <a:r>
              <a:rPr sz="1450" b="0">
                <a:latin typeface="Quattrocento Sans"/>
              </a:rPr>
              <a:t>Spinning wheels add 4.6–7.5° of fast, filterable noise. Stopped wheels leave a random offset up to ≈ 10° set by where each shaft stops (motor magnets), so no fixed calibration exists → yaw stays gyro-only.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NEXT:  </a:t>
            </a:r>
            <a:r>
              <a:rPr sz="1450" b="0">
                <a:latin typeface="Quattrocento Sans"/>
              </a:rPr>
              <a:t>DEMO SPIN keeps every shaft at ±100 rpm so offsets average out; calibrate hard iron from a full turn, then add a gated magnetometer yaw update.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Data: First DEMO SPIN (Unsuccessful)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Picture 91" descr="fig5_demo_pend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96112"/>
            <a:ext cx="8595360" cy="3266152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74320" y="4169663"/>
            <a:ext cx="8595360" cy="227685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MEASURE:  </a:t>
            </a:r>
            <a:r>
              <a:rPr sz="1450" b="0">
                <a:latin typeface="Quattrocento Sans"/>
              </a:rPr>
              <a:t>Roll/pitch and wheel speeds with the table floating; three DEMO SPIN attempts (level, then spin).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COMPARE:  </a:t>
            </a:r>
            <a:r>
              <a:rPr sz="1450" b="0">
                <a:latin typeface="Quattrocento Sans"/>
              </a:rPr>
              <a:t>Simulation (CG at the bearing centre) levelled from 30° in ≈11 s. On the table each attempt hit the 55 rad/s wheel limit within 1–2 s.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EXPLAIN:  </a:t>
            </a:r>
            <a:r>
              <a:rPr sz="1450" b="0">
                <a:latin typeface="Quattrocento Sans"/>
              </a:rPr>
              <a:t>The table is a pendulum: 1.8 s period, resting ≈3° off level. Gravity ≈ 16 mN·m per degree, so holding level needs ≈50 mN·m against ≈24 mN·m·s of wheel storage. Fits confirmed wheel signs and I ≈ 0.05–0.13 kg·m².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buNone/>
            </a:pPr>
            <a:r>
              <a:rPr b="1" sz="1450">
                <a:latin typeface="Quattrocento Sans"/>
              </a:rPr>
              <a:t>NEXT:  </a:t>
            </a:r>
            <a:r>
              <a:rPr sz="1450" b="0">
                <a:latin typeface="Quattrocento Sans"/>
              </a:rPr>
              <a:t>Trim the balance so the table rests level; hold the natural tilt and spin about the vertical; add a BALANCE command.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Plans: Path to Lesson 31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274320" y="1005840"/>
          <a:ext cx="859536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"/>
                <a:gridCol w="6629400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Quattrocento Sans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Quattrocento Sans"/>
                        </a:rPr>
                        <a:t>Next task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Quattrocento Sans"/>
                        </a:rPr>
                        <a:t>Verifies</a:t>
                      </a:r>
                    </a:p>
                  </a:txBody>
                  <a:tcPr marL="54864" marR="54864" marT="27432" marB="27432" anchor="ctr">
                    <a:solidFill>
                      <a:srgbClr val="4040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Trim table balance; add BALANCE command (reports resting tilt and gravity torque)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Enables 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ARM heading hold on the free table for 5 min, logged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Req. 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Yaw truth test: marked turns + hard-iron-calibrated magnetometer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Req.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Wheel-failure detection: speed-tracking residual per wheel → drop to 3-wheel allocation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Req. 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4-attitude slew along quaternion (shortest) paths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Quattrocento Sans"/>
                        </a:rPr>
                        <a:t>Stretch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274320" y="4251960"/>
            <a:ext cx="4160520" cy="2148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400"/>
              </a:spcBef>
              <a:buNone/>
            </a:pPr>
            <a:r>
              <a:rPr sz="1400" b="1">
                <a:latin typeface="Quattrocento Sans"/>
              </a:rPr>
              <a:t>Key risks</a:t>
            </a:r>
          </a:p>
          <a:p>
            <a:pPr marL="300000" indent="-228600">
              <a:lnSpc>
                <a:spcPct val="95000"/>
              </a:lnSpc>
              <a:spcBef>
                <a:spcPts val="400"/>
              </a:spcBef>
              <a:buChar char="•"/>
            </a:pPr>
            <a:r>
              <a:rPr sz="1400" b="0">
                <a:latin typeface="Quattrocento Sans"/>
              </a:rPr>
              <a:t>Balance limits hold time (wheels store only ≈24 mN·m·s per axis)</a:t>
            </a:r>
          </a:p>
          <a:p>
            <a:pPr marL="300000" indent="-228600">
              <a:lnSpc>
                <a:spcPct val="95000"/>
              </a:lnSpc>
              <a:spcBef>
                <a:spcPts val="400"/>
              </a:spcBef>
              <a:buChar char="•"/>
            </a:pPr>
            <a:r>
              <a:rPr sz="1400" b="0">
                <a:latin typeface="Quattrocento Sans"/>
              </a:rPr>
              <a:t>Yaw drift on long runs without a magnetometer aid</a:t>
            </a:r>
          </a:p>
          <a:p>
            <a:pPr marL="300000" indent="-228600">
              <a:lnSpc>
                <a:spcPct val="95000"/>
              </a:lnSpc>
              <a:spcBef>
                <a:spcPts val="400"/>
              </a:spcBef>
              <a:buChar char="•"/>
            </a:pPr>
            <a:r>
              <a:rPr sz="1400" b="0">
                <a:latin typeface="Quattrocento Sans"/>
              </a:rPr>
              <a:t>Wheel A/C hardware faults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09160" y="4251960"/>
            <a:ext cx="4160520" cy="2148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indent="0">
              <a:lnSpc>
                <a:spcPct val="95000"/>
              </a:lnSpc>
              <a:spcBef>
                <a:spcPts val="400"/>
              </a:spcBef>
              <a:buNone/>
            </a:pPr>
            <a:r>
              <a:rPr sz="1400" b="1">
                <a:latin typeface="Quattrocento Sans"/>
              </a:rPr>
              <a:t>Improvements beyond the baseline</a:t>
            </a:r>
          </a:p>
          <a:p>
            <a:pPr marL="300000" indent="-228600">
              <a:lnSpc>
                <a:spcPct val="95000"/>
              </a:lnSpc>
              <a:spcBef>
                <a:spcPts val="400"/>
              </a:spcBef>
              <a:buChar char="•"/>
            </a:pPr>
            <a:r>
              <a:rPr sz="1400" b="0">
                <a:latin typeface="Quattrocento Sans"/>
              </a:rPr>
              <a:t>Interrupt-driven IMU pipeline with per-sample logging (25% → 0.085% loss)</a:t>
            </a:r>
          </a:p>
          <a:p>
            <a:pPr marL="300000" indent="-228600">
              <a:lnSpc>
                <a:spcPct val="95000"/>
              </a:lnSpc>
              <a:spcBef>
                <a:spcPts val="400"/>
              </a:spcBef>
              <a:buChar char="•"/>
            </a:pPr>
            <a:r>
              <a:rPr sz="1400" b="0">
                <a:latin typeface="Quattrocento Sans"/>
              </a:rPr>
              <a:t>4-wheel pyramid + null-mode bias: fault tolerance and quieter magnetometer</a:t>
            </a:r>
          </a:p>
          <a:p>
            <a:pPr marL="300000" indent="-228600">
              <a:lnSpc>
                <a:spcPct val="95000"/>
              </a:lnSpc>
              <a:spcBef>
                <a:spcPts val="400"/>
              </a:spcBef>
              <a:buChar char="•"/>
            </a:pPr>
            <a:r>
              <a:rPr sz="1400" b="0">
                <a:latin typeface="Quattrocento Sans"/>
              </a:rPr>
              <a:t>Momentum-fit system ID of inertia and balance from flight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GenAI Use Documentation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" y="914400"/>
            <a:ext cx="8741664" cy="5440680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95000"/>
              </a:lnSpc>
              <a:spcBef>
                <a:spcPts val="1400"/>
              </a:spcBef>
              <a:buNone/>
            </a:pPr>
            <a:r>
              <a:rPr sz="1800" b="1"/>
              <a:t>Tool: Claude Code (Anthropic), used by Derek from 30 Sep to 21 Oct</a:t>
            </a:r>
          </a:p>
          <a:p>
            <a:pPr marL="300000" indent="-228600">
              <a:lnSpc>
                <a:spcPct val="95000"/>
              </a:lnSpc>
              <a:spcBef>
                <a:spcPts val="1400"/>
              </a:spcBef>
              <a:buChar char="•"/>
            </a:pPr>
            <a:r>
              <a:rPr sz="1800" b="0"/>
              <a:t>Firmware: drafted the EKF, controller, wheel allocation, IMU driver, logger and command set from the team’s requirements and design decisions; the team reviewed, uploaded and tested every build on the hardware</a:t>
            </a:r>
          </a:p>
          <a:p>
            <a:pPr marL="300000" indent="-228600">
              <a:lnSpc>
                <a:spcPct val="95000"/>
              </a:lnSpc>
              <a:spcBef>
                <a:spcPts val="1400"/>
              </a:spcBef>
              <a:buChar char="•"/>
            </a:pPr>
            <a:r>
              <a:rPr sz="1800" b="0"/>
              <a:t>Analysis: wrote the Python scripts and plots for each test log; the team ran the tests and checked the conclusions</a:t>
            </a:r>
          </a:p>
          <a:p>
            <a:pPr marL="300000" indent="-228600">
              <a:lnSpc>
                <a:spcPct val="95000"/>
              </a:lnSpc>
              <a:spcBef>
                <a:spcPts val="1400"/>
              </a:spcBef>
              <a:buChar char="•"/>
            </a:pPr>
            <a:r>
              <a:rPr sz="1800" b="0"/>
              <a:t>Documentation: CLAUDE.md, TODO.md, PROGRESS_LOG.md and a first draft of these slides</a:t>
            </a:r>
          </a:p>
          <a:p>
            <a:pPr marL="300000" indent="-228600">
              <a:lnSpc>
                <a:spcPct val="95000"/>
              </a:lnSpc>
              <a:spcBef>
                <a:spcPts val="1400"/>
              </a:spcBef>
              <a:buChar char="•"/>
            </a:pPr>
            <a:r>
              <a:rPr sz="1800" b="0"/>
              <a:t>Team-owned: hardware build, wiring and power system (Owen), requirement and design decisions, all testing on the table, and final review of every result</a:t>
            </a:r>
          </a:p>
          <a:p>
            <a:pPr marL="300000" indent="-228600">
              <a:lnSpc>
                <a:spcPct val="95000"/>
              </a:lnSpc>
              <a:spcBef>
                <a:spcPts val="1400"/>
              </a:spcBef>
              <a:buChar char="•"/>
            </a:pPr>
            <a:r>
              <a:rPr sz="1800" b="0"/>
              <a:t>Full record of work: PROGRESS_LOG.md and the git history in the team repository</a:t>
            </a:r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2025-07-17T17:53:42Z</dcterms:created>
  <dc:creator>Harris, Wyatt J Lt Col USAF USAFA DF/DFAS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0x01010079E104B47FA86644A46CA5C8803E74CD</vt:lpwstr>
  </property>
  <property fmtid="{D5CDD505-2E9C-101B-9397-08002B2CF9AE}" pid="3" name="MediaServiceImageTags">
    <vt:lpwstr/>
  </property>
</Properties>
</file>