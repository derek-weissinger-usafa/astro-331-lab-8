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3" r:id="rId4"/>
    <p:sldId id="259" r:id="rId5"/>
    <p:sldId id="264" r:id="rId6"/>
    <p:sldId id="260" r:id="rId7"/>
    <p:sldId id="273" r:id="rId8"/>
    <p:sldId id="265" r:id="rId9"/>
    <p:sldId id="261" r:id="rId10"/>
    <p:sldId id="266" r:id="rId11"/>
    <p:sldId id="267" r:id="rId12"/>
    <p:sldId id="268" r:id="rId13"/>
    <p:sldId id="269" r:id="rId14"/>
    <p:sldId id="270" r:id="rId15"/>
    <p:sldId id="274" r:id="rId16"/>
    <p:sldId id="262" r:id="rId17"/>
    <p:sldId id="271" r:id="rId18"/>
    <p:sldId id="272" r:id="rId19"/>
  </p:sldIdLst>
  <p:sldSz cx="9144000" cy="6858000" type="screen4x3"/>
  <p:notesSz cx="6858000" cy="9144000"/>
  <p:embeddedFontLst>
    <p:embeddedFont>
      <p:font typeface="Quattrocento Sans" panose="020B0502050000020003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jdeCnu8lAzD9+tydpnVE8c63/G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https://www.youtube.com/watch?v=jVXgWGK9Kr8</a:t>
            </a: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1e1805356538ab88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h1e1805356538ab8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dirty="0"/>
              <a:t>I * </a:t>
            </a:r>
            <a:r>
              <a:rPr lang="en-US" dirty="0" err="1"/>
              <a:t>alpha_ref</a:t>
            </a:r>
            <a:r>
              <a:rPr lang="en-US" dirty="0"/>
              <a:t> is feed-forward: we know acceleration dynamics, so we just put it in control law instead of waiting for error to build up. 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endParaRPr lang="en-US" sz="1200" dirty="0"/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sz="1200" dirty="0"/>
              <a:t>D⁺: pseudo-inverse of D, gives least wheel torque for desired body torque</a:t>
            </a:r>
            <a:endParaRPr lang="en-US" sz="1050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230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e1805356538ab88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h1e1805356538ab8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1e1805356538ab88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h1e1805356538ab8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1e1805356538ab88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h1e1805356538ab88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Quattrocento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1"/>
          </p:nvPr>
        </p:nvSpPr>
        <p:spPr>
          <a:xfrm>
            <a:off x="1143000" y="3781865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6"/>
          <p:cNvSpPr txBox="1"/>
          <p:nvPr/>
        </p:nvSpPr>
        <p:spPr>
          <a:xfrm>
            <a:off x="1028701" y="111639"/>
            <a:ext cx="7226780" cy="696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Quattrocento Sans"/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USAFA ASTRO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6"/>
          <p:cNvSpPr txBox="1"/>
          <p:nvPr/>
        </p:nvSpPr>
        <p:spPr>
          <a:xfrm>
            <a:off x="1143000" y="6288282"/>
            <a:ext cx="6858000" cy="501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ASTRO 331 – Space Systems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ftr" idx="11"/>
          </p:nvPr>
        </p:nvSpPr>
        <p:spPr>
          <a:xfrm>
            <a:off x="3028950" y="650169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>
            <a:spLocks noGrp="1"/>
          </p:cNvSpPr>
          <p:nvPr>
            <p:ph type="pic" idx="2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 rot="5400000">
            <a:off x="1982756" y="-780225"/>
            <a:ext cx="5227553" cy="87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  <a:defRPr sz="28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" name="Google Shape;14;p5"/>
          <p:cNvSpPr txBox="1"/>
          <p:nvPr/>
        </p:nvSpPr>
        <p:spPr>
          <a:xfrm>
            <a:off x="8115301" y="72097"/>
            <a:ext cx="970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Fall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5"/>
          <p:cNvSpPr/>
          <p:nvPr/>
        </p:nvSpPr>
        <p:spPr>
          <a:xfrm>
            <a:off x="46364" y="855395"/>
            <a:ext cx="9039409" cy="59616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5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6365" y="18574"/>
            <a:ext cx="734686" cy="827487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</a:pPr>
            <a:r>
              <a:rPr lang="en-US" sz="4800" b="1"/>
              <a:t>Lab 8: </a:t>
            </a:r>
            <a:r>
              <a:rPr lang="en-US" sz="4800"/>
              <a:t>Preliminary Data Review</a:t>
            </a:r>
            <a:endParaRPr/>
          </a:p>
        </p:txBody>
      </p:sp>
      <p:sp>
        <p:nvSpPr>
          <p:cNvPr id="84" name="Google Shape;84;p1"/>
          <p:cNvSpPr txBox="1">
            <a:spLocks noGrp="1"/>
          </p:cNvSpPr>
          <p:nvPr>
            <p:ph type="subTitle" idx="1"/>
          </p:nvPr>
        </p:nvSpPr>
        <p:spPr>
          <a:xfrm>
            <a:off x="1143000" y="3429000"/>
            <a:ext cx="6858000" cy="2316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30"/>
              <a:buNone/>
            </a:pPr>
            <a:r>
              <a:rPr lang="en-US" sz="3630" b="1"/>
              <a:t>2/3 Body Problem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Gowri Ramaprasad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Derek Weissinger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Owen Crawley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Overview</a:t>
            </a:r>
            <a:endParaRPr/>
          </a:p>
        </p:txBody>
      </p:sp>
      <p:sp>
        <p:nvSpPr>
          <p:cNvPr id="90" name="Google Shape;90;p3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72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Using the small air bearing table, develop a 3 degrees of freedom (3DoF) reaction wheel attitude control system.</a:t>
            </a:r>
            <a:endParaRPr dirty="0"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Develop a robust sensor fusion algorithm using gyroscopes, magnetometers and accelerometers to accurately determine attitude at any given state.</a:t>
            </a: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92" name="Google Shape;9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6975" y="3683750"/>
            <a:ext cx="2280799" cy="30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57900" y="3683750"/>
            <a:ext cx="2280799" cy="3041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Requirements: Verification &amp; Status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387416"/>
              </p:ext>
            </p:extLst>
          </p:nvPr>
        </p:nvGraphicFramePr>
        <p:xfrm>
          <a:off x="274320" y="1005840"/>
          <a:ext cx="859536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Verification method / pass criterion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Status at review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(1) Hold heading, no visible jitter or drift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ARM on the free-floating table, hold yaw = 0 for 5 min, log attitude. Pass: |yaw error| &lt; 1°, no visible oscillation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controller built and simulated; closed-loop test blocked by table 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(2) Attitude ±1° in all 3 axes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Logged EKF vs. references: accelerometer level (roll/pitch), magnetometer + marked turns (yaw). Pass: error &lt; 1° over the run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verified at rest (σ = 0.02°). Yaw: 3 °/h after warm-up (replay); moving-table test next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(3) Detect wheel failure and compensate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Disable a wheel (command or unplug) during a hold. Pass: fault flagged &lt; 1 s and (1), (2) still met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3-wheel allocation implemented; detection not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Stretch: 4-attitude optimal slew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and hold</a:t>
                      </a:r>
                      <a:endParaRPr sz="125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Command 4 attitudes along quaternion (shortest) paths. Pass: each reached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and held for 5 s 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within ±1°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Planned: DEMO SPIN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optimal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trajectory generator is reusable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1e1805356538ab88_0_0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Theory: Estimation &amp; Control Loop</a:t>
            </a:r>
            <a:endParaRPr/>
          </a:p>
        </p:txBody>
      </p:sp>
      <p:sp>
        <p:nvSpPr>
          <p:cNvPr id="107" name="Google Shape;107;h1e1805356538ab88_0_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08" name="Picture 107" descr="diag_contro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15468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74320" y="4160520"/>
            <a:ext cx="8595360" cy="199900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Multiplicative EKF on the Teensy: 6 error states (3 attitude + 3 gyro bias), attitude kept as a quaternion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Predict at 100 Hz with the gyro; update with the accelerometer (gravity direction) → corrects roll and pitch; rejects when |a| is not ≈ 1 g (accelerating)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Yaw is gyro-only: gravity carries no heading, and the magnetometer is disturbed by the wheel motors (see Data). The z-gyro bias comes from a 60–180 s calibration at rest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Frames: body z up, x = roll, y = pitch (right-handed); q maps inertial →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Theory: Control Law &amp; Wheel Allocation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5074920" cy="5440680"/>
          </a:xfrm>
        </p:spPr>
        <p:txBody>
          <a:bodyPr wrap="square">
            <a:normAutofit/>
          </a:bodyPr>
          <a:lstStyle/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1" dirty="0"/>
              <a:t>Quaternion PD with feed-forward:</a:t>
            </a:r>
          </a:p>
          <a:p>
            <a:pPr marL="30000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550" b="0" i="1" dirty="0"/>
              <a:t>τ = −</a:t>
            </a:r>
            <a:r>
              <a:rPr sz="1550" b="0" i="1" dirty="0" err="1"/>
              <a:t>Kp</a:t>
            </a:r>
            <a:r>
              <a:rPr sz="1550" b="0" i="1" dirty="0"/>
              <a:t> θₑ − </a:t>
            </a:r>
            <a:r>
              <a:rPr sz="1550" b="0" i="1" dirty="0" err="1"/>
              <a:t>Kd</a:t>
            </a:r>
            <a:r>
              <a:rPr sz="1550" b="0" i="1" dirty="0"/>
              <a:t> (ω − </a:t>
            </a:r>
            <a:r>
              <a:rPr sz="1550" b="0" i="1" dirty="0" err="1"/>
              <a:t>ω_ref</a:t>
            </a:r>
            <a:r>
              <a:rPr sz="1550" b="0" i="1" dirty="0"/>
              <a:t>) + I α_ref + ω × (</a:t>
            </a:r>
            <a:r>
              <a:rPr sz="1550" b="0" i="1" dirty="0" err="1"/>
              <a:t>Iω</a:t>
            </a:r>
            <a:r>
              <a:rPr sz="1550" b="0" i="1" dirty="0"/>
              <a:t> + </a:t>
            </a:r>
            <a:r>
              <a:rPr sz="1550" b="0" i="1" dirty="0" err="1"/>
              <a:t>h_w</a:t>
            </a:r>
            <a:r>
              <a:rPr sz="1550" b="0" i="1" dirty="0"/>
              <a:t>)</a:t>
            </a:r>
          </a:p>
          <a:p>
            <a:pPr marL="351400" indent="0">
              <a:lnSpc>
                <a:spcPct val="95000"/>
              </a:lnSpc>
              <a:spcBef>
                <a:spcPts val="1000"/>
              </a:spcBef>
              <a:buNone/>
            </a:pPr>
            <a:r>
              <a:rPr sz="1500" b="0" dirty="0" err="1"/>
              <a:t>Kp</a:t>
            </a:r>
            <a:r>
              <a:rPr sz="1500" b="0" dirty="0"/>
              <a:t> = I ωₙ², </a:t>
            </a:r>
            <a:r>
              <a:rPr sz="1500" b="0" dirty="0" err="1"/>
              <a:t>Kd</a:t>
            </a:r>
            <a:r>
              <a:rPr sz="1500" b="0" dirty="0"/>
              <a:t> = 2ζ I ωₙ (</a:t>
            </a:r>
            <a:r>
              <a:rPr lang="en-US" sz="1500" dirty="0"/>
              <a:t>ref. Engr 341 2</a:t>
            </a:r>
            <a:r>
              <a:rPr lang="en-US" sz="1500" baseline="30000" dirty="0"/>
              <a:t>nd</a:t>
            </a:r>
            <a:r>
              <a:rPr lang="en-US" sz="1500" dirty="0"/>
              <a:t>-order system, </a:t>
            </a:r>
            <a:r>
              <a:rPr sz="1500" b="0" dirty="0"/>
              <a:t>ωₙ = 2 rad/s, ζ = 0.9</a:t>
            </a:r>
            <a:r>
              <a:rPr lang="en-US" sz="1500" b="0" dirty="0"/>
              <a:t>)</a:t>
            </a:r>
            <a:endParaRPr sz="15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4 wheels in a 45° pyramid: any 3 still span all axes → the basis for wheel-failure tolerance (Req. 3)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Minimum-norm allocation u = −</a:t>
            </a:r>
            <a:r>
              <a:rPr sz="1700" b="0" dirty="0" err="1"/>
              <a:t>D⁺τ</a:t>
            </a:r>
            <a:r>
              <a:rPr sz="1700" b="0" dirty="0"/>
              <a:t> over the enabled wheels; the 4th-wheel null mode [+1, −1, +1, −1] holds a bias speed</a:t>
            </a:r>
            <a:endParaRPr lang="en-US" sz="17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Inner loop: 100 Hz wheel-speed PI with a back-EMF current limit (2.5 A, no current sensor)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Physics limit: wheels cannot dump momentum. A constant torque τ fills them in </a:t>
            </a:r>
            <a:r>
              <a:rPr sz="1700" b="0" dirty="0" err="1"/>
              <a:t>h_max</a:t>
            </a:r>
            <a:r>
              <a:rPr sz="1700" b="0" dirty="0"/>
              <a:t> / τ seconds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92" name="Picture 91" descr="diag_wheel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463040"/>
            <a:ext cx="3611880" cy="20455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349240" y="3657600"/>
            <a:ext cx="36118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Wheel J = 3.06×10⁻⁴ kg·m² (CAD); table I ≈ 0.062 kg·m² (model)</a:t>
            </a:r>
          </a:p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Speed limit 60 rad/s → ≈ 24 mN·m·s per tilt axis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1e1805356538ab88_0_6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 dirty="0"/>
              <a:t>Build Progress: Hardware</a:t>
            </a:r>
            <a:endParaRPr dirty="0"/>
          </a:p>
        </p:txBody>
      </p:sp>
      <p:sp>
        <p:nvSpPr>
          <p:cNvPr id="114" name="Google Shape;114;h1e1805356538ab88_0_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15" name="Picture 1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6576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74320" y="4617720"/>
            <a:ext cx="8595360" cy="13426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Power system: separate logic pack + 5 V boost (verified 5.09 V), one 12 V pack per wheel, low-side motor switch, star ground, bench wiring sheet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Verified on the table: pin map and encoder wiring corrected, wheel/encoder signs set; gearboxes found to be 6.3:1, not 10:1 (hand-turn encoder counts)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Added IMU data-ready (INT) and reset (RST) wires → reliable data</a:t>
            </a:r>
            <a:r>
              <a:rPr lang="en-US" sz="1500" b="0" dirty="0">
                <a:latin typeface="Quattrocento Sans"/>
              </a:rPr>
              <a:t> at 100 Hz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C7459-B7DA-A256-5DBC-3AE9FFF6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Progress: Hardware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FE82-F02B-0CFC-1696-B22F28CF4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085C1-AA9C-29C3-F1E0-2F4B25557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190245-89F9-1C1C-9F28-69037EABE29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70872" y="1257130"/>
            <a:ext cx="3538728" cy="47183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1B78DB-089E-69E3-DC83-6BFC4E5D62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0025" y="930513"/>
            <a:ext cx="3974660" cy="52995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862525-2BF7-5F35-3DB3-63BF813D5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47" y="1558829"/>
            <a:ext cx="3162463" cy="374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1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Progress: Software</a:t>
            </a:r>
            <a:r>
              <a:rPr lang="en-US" dirty="0"/>
              <a:t> Build</a:t>
            </a:r>
            <a:r>
              <a:rPr dirty="0"/>
              <a:t> &amp; Tes</a:t>
            </a:r>
            <a:r>
              <a:rPr lang="en-US" dirty="0"/>
              <a:t>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3977639" cy="5440680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95000"/>
              </a:lnSpc>
              <a:spcBef>
                <a:spcPts val="900"/>
              </a:spcBef>
              <a:buNone/>
            </a:pPr>
            <a:r>
              <a:rPr sz="1600" b="1" dirty="0"/>
              <a:t>Teensy </a:t>
            </a:r>
            <a:r>
              <a:rPr lang="en-US" sz="1600" b="1" dirty="0"/>
              <a:t>soft</a:t>
            </a:r>
            <a:r>
              <a:rPr sz="1600" b="1" dirty="0"/>
              <a:t>ware (C++, </a:t>
            </a:r>
            <a:r>
              <a:rPr sz="1600" b="1" dirty="0" err="1"/>
              <a:t>PlatformIO</a:t>
            </a:r>
            <a:r>
              <a:rPr sz="1600" b="1" dirty="0"/>
              <a:t>):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EKF, attitude controller, wheel allocation, wheel speed loops, safety supervisor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Logger: every sample to SD (100 Hz), </a:t>
            </a:r>
            <a:r>
              <a:rPr lang="en-US" sz="1600" b="0" dirty="0"/>
              <a:t>fractional </a:t>
            </a:r>
            <a:r>
              <a:rPr sz="1600" b="0" dirty="0"/>
              <a:t>live stream over </a:t>
            </a:r>
            <a:r>
              <a:rPr sz="1600" b="0" dirty="0" err="1"/>
              <a:t>XBee</a:t>
            </a:r>
            <a:endParaRPr sz="1600" b="0" dirty="0"/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 err="1"/>
              <a:t>XBee</a:t>
            </a:r>
            <a:r>
              <a:rPr sz="1600" b="0" dirty="0"/>
              <a:t>/USB commands: ARM, KILL, STATUS, SPEED, TEST, CALIBRATE, BEGIN STATIC TEST, MAG MAP, DEMO SPIN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SPEED manual closed-loop wheel mode with ramps and filtering</a:t>
            </a:r>
            <a:r>
              <a:rPr lang="en-US" sz="1600" b="0" dirty="0"/>
              <a:t> to analyze motor control</a:t>
            </a:r>
            <a:endParaRPr sz="1600" b="0" dirty="0"/>
          </a:p>
          <a:p>
            <a:pPr marL="71400" indent="0">
              <a:lnSpc>
                <a:spcPct val="95000"/>
              </a:lnSpc>
              <a:spcBef>
                <a:spcPts val="900"/>
              </a:spcBef>
              <a:buNone/>
            </a:pPr>
            <a:endParaRPr sz="1600" b="0"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711891"/>
              </p:ext>
            </p:extLst>
          </p:nvPr>
        </p:nvGraphicFramePr>
        <p:xfrm>
          <a:off x="4343400" y="1005840"/>
          <a:ext cx="4572000" cy="54077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19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Key result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spin direction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sign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Wiring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corrected, signs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Bench speed sweeps, hand-turn counts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6.3:1 gearing;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 rubs;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 oscillates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Static IMU test (37 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0.02°;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gyro yaw drift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−27 °/h; ¼ of samples lost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Motors-on static test, MAG MAP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Gyro warm-up drift; magnetometer disturbance mapped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First DEMO SPIN on air bearing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Table is pendulous; wheels saturate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IMU INT/RST + driver fixes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Sample loss 25% → 0.085%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7903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10-21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Battery Holders and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CoM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Calibration; Automatic Leveler Test via DEMO SPIN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Visible leveling, not meeting 1° error requirement.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86463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e1805356538ab88_0_12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Data: Wheel Speed Control</a:t>
            </a:r>
            <a:endParaRPr/>
          </a:p>
        </p:txBody>
      </p:sp>
      <p:sp>
        <p:nvSpPr>
          <p:cNvPr id="121" name="Google Shape;121;h1e1805356538ab88_0_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122" name="Picture 121" descr="fig1_wheel_spee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210767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Commanded vs. measured speed, all 4 wheels, 0 → 480 → 0 rpm cosine </a:t>
            </a:r>
            <a:r>
              <a:rPr lang="en-US" sz="1500" b="0" dirty="0">
                <a:latin typeface="Quattrocento Sans"/>
              </a:rPr>
              <a:t>command </a:t>
            </a:r>
            <a:r>
              <a:rPr sz="1500" b="0" dirty="0">
                <a:latin typeface="Quattrocento Sans"/>
              </a:rPr>
              <a:t>profile (12 V packs</a:t>
            </a:r>
            <a:r>
              <a:rPr lang="en-US" sz="1500" b="0" dirty="0">
                <a:latin typeface="Quattrocento Sans"/>
              </a:rPr>
              <a:t>).</a:t>
            </a:r>
            <a:endParaRPr sz="1500" b="0" dirty="0">
              <a:latin typeface="Quattrocento Sans"/>
            </a:endParaRP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tight tracking from the 100 Hz PI + feed-forward</a:t>
            </a:r>
            <a:r>
              <a:rPr lang="en-US" sz="1500" b="0" dirty="0">
                <a:latin typeface="Quattrocento Sans"/>
              </a:rPr>
              <a:t> control</a:t>
            </a:r>
            <a:r>
              <a:rPr sz="1500" b="0" dirty="0">
                <a:latin typeface="Quattrocento Sans"/>
              </a:rPr>
              <a:t>. B and D hold ±1 rpm; A and C swing ±10–16 rpm; no wheel moves until the command reaches ≈ 46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Same gains on every wheel, so A/C differences are hardware: A rubs and its pack is ≈1 V low; C is still unexplained. The start delay is static friction.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lang="en-US" sz="1500" b="0" dirty="0">
                <a:latin typeface="Quattrocento Sans"/>
              </a:rPr>
              <a:t>Fix A’s rub and charge pack A; check C’s pack voltage under load and its encoder; add static-friction compensation. Repeat test.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Attitude Determination at Rest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92" name="Picture 91" descr="fig2_static_at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37 min with the IMU fixed and motors off: EKF roll/pitch/yaw plus the independent magnetometer heading.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Requirement ±1°. Theory: a 3 s gyro-bias average leaves ≈ 26 °/h of yaw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Roll/pitch σ = 0.02°, far inside ±1°. Yaw drifted −27 °/h, matching the predicted calibration error; the magnetometer stayed flat. Fixes: 60–180 s calibration, calibrate after a 10 min warm-up → ≈ 3 °/h in replay.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Verify on the moving table; 3 °/h keeps yaw within ±1° for ≈20 min. Longer runs need a magnetometer aid.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IMU Data Integrity (Unexpected Result)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92" name="Picture 91" descr="fig3_imu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Time between every gyro sample logged to SD, IMU at rest, before and after our fixes.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10 </a:t>
            </a:r>
            <a:r>
              <a:rPr sz="1500" b="0" dirty="0" err="1">
                <a:latin typeface="Quattrocento Sans"/>
              </a:rPr>
              <a:t>ms.</a:t>
            </a:r>
            <a:r>
              <a:rPr sz="1500" b="0" dirty="0">
                <a:latin typeface="Quattrocento Sans"/>
              </a:rPr>
              <a:t> Before: 25% of samples lost and 38 gaps &gt;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, each of which would have disarmed the wheels.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Root causes: the IMU library kept only the last report of each I²C read, SD writes blocked the loop, and no data-ready line. Fixed: INT/RST wired, own report queue, IMU serviced during SD waits, SD in </a:t>
            </a:r>
            <a:r>
              <a:rPr lang="en-US" sz="1500" b="0" dirty="0">
                <a:latin typeface="Quattrocento Sans"/>
              </a:rPr>
              <a:t>Direct Memory Access (</a:t>
            </a:r>
            <a:r>
              <a:rPr sz="1500" b="0" dirty="0">
                <a:latin typeface="Quattrocento Sans"/>
              </a:rPr>
              <a:t>DMA</a:t>
            </a:r>
            <a:r>
              <a:rPr lang="en-US" sz="1500" b="0" dirty="0">
                <a:latin typeface="Quattrocento Sans"/>
              </a:rPr>
              <a:t>)</a:t>
            </a:r>
            <a:r>
              <a:rPr sz="1500" b="0" dirty="0">
                <a:latin typeface="Quattrocento Sans"/>
              </a:rPr>
              <a:t> mode.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Remaining 60–90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stalls come from inside the BNO085 (every ≈22 s): under the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timeout and now integrated by the EKF. Monitor on long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Magnetometer vs. Wheel Motors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92" name="Picture 91" descr="fig4_mag_disturb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4255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370832"/>
            <a:ext cx="8595360" cy="207568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MEASURE:  </a:t>
            </a:r>
            <a:r>
              <a:rPr sz="1450" b="0">
                <a:latin typeface="Quattrocento Sans"/>
              </a:rPr>
              <a:t>Raw magnetometer heading on a fixed table while the wheels step through ±50/100/200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COMPARE:  </a:t>
            </a:r>
            <a:r>
              <a:rPr sz="1450" b="0">
                <a:latin typeface="Quattrocento Sans"/>
              </a:rPr>
              <a:t>A heading aid must be steady to well under 1°; with motors off it showed 0.7° noise and no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EXPLAIN:  </a:t>
            </a:r>
            <a:r>
              <a:rPr sz="1450" b="0">
                <a:latin typeface="Quattrocento Sans"/>
              </a:rPr>
              <a:t>Spinning wheels add 4.6–7.5° of fast, filterable noise. Stopped wheels leave a random offset up to ≈ 10° set by where each shaft stops (motor magnets), so no fixed calibration exists → yaw stays gyro-only.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NEXT:  </a:t>
            </a:r>
            <a:r>
              <a:rPr sz="1450" b="0">
                <a:latin typeface="Quattrocento Sans"/>
              </a:rPr>
              <a:t>DEMO SPIN keeps every shaft at ±100 rpm so offsets average out; calibrate hard iron from a full turn, then add a gated magnetometer yaw update.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First DEMO SPIN (</a:t>
            </a:r>
            <a:r>
              <a:rPr lang="en-US" dirty="0"/>
              <a:t>Unsuccessful</a:t>
            </a:r>
            <a:r>
              <a:rPr dirty="0"/>
              <a:t>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92" name="Picture 91" descr="fig5_demo_pend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6615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1155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MEASURE:  </a:t>
            </a:r>
            <a:r>
              <a:rPr sz="1450" b="0" dirty="0">
                <a:latin typeface="Quattrocento Sans"/>
              </a:rPr>
              <a:t>Roll/pitch and wheel speeds with the table floating; three DEMO SPIN attempts (level, then spin).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COMPARE:  </a:t>
            </a:r>
            <a:r>
              <a:rPr sz="1450" b="0" dirty="0">
                <a:latin typeface="Quattrocento Sans"/>
              </a:rPr>
              <a:t>Simulation (CG at the bearing cent</a:t>
            </a:r>
            <a:r>
              <a:rPr lang="en-US" sz="1450" b="0" dirty="0">
                <a:latin typeface="Quattrocento Sans"/>
              </a:rPr>
              <a:t>er</a:t>
            </a:r>
            <a:r>
              <a:rPr sz="1450" b="0" dirty="0">
                <a:latin typeface="Quattrocento Sans"/>
              </a:rPr>
              <a:t>) levelled from 30° in ≈11 s. On the table each attempt hit the 55 rad/s wheel limit within 1–2 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EXPLAIN:  </a:t>
            </a:r>
            <a:r>
              <a:rPr sz="1450" b="0" dirty="0">
                <a:latin typeface="Quattrocento Sans"/>
              </a:rPr>
              <a:t>The </a:t>
            </a:r>
            <a:r>
              <a:rPr lang="en-US" sz="1450" dirty="0">
                <a:latin typeface="Quattrocento Sans"/>
              </a:rPr>
              <a:t>satellite</a:t>
            </a:r>
            <a:r>
              <a:rPr sz="1450" b="0" dirty="0">
                <a:latin typeface="Quattrocento Sans"/>
              </a:rPr>
              <a:t> is a pendulum</a:t>
            </a:r>
            <a:r>
              <a:rPr lang="en-US" sz="1450" b="0" dirty="0">
                <a:latin typeface="Quattrocento Sans"/>
              </a:rPr>
              <a:t> on the table</a:t>
            </a:r>
            <a:r>
              <a:rPr sz="1450" b="0" dirty="0">
                <a:latin typeface="Quattrocento Sans"/>
              </a:rPr>
              <a:t>: 1.8 s period, resting ≈3° off level. Gravity ≈ 16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per degree, so holding level needs ≈50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against ≈24 </a:t>
            </a:r>
            <a:r>
              <a:rPr sz="1450" b="0" dirty="0" err="1">
                <a:latin typeface="Quattrocento Sans"/>
              </a:rPr>
              <a:t>mN·m·s</a:t>
            </a:r>
            <a:r>
              <a:rPr sz="1450" b="0" dirty="0">
                <a:latin typeface="Quattrocento Sans"/>
              </a:rPr>
              <a:t> of wheel storage. Fits confirmed wheel signs and I ≈ 0.05–0.13 kg·m².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NEXT:  </a:t>
            </a:r>
            <a:r>
              <a:rPr lang="en-US" sz="1450" dirty="0">
                <a:latin typeface="Quattrocento Sans"/>
              </a:rPr>
              <a:t>R</a:t>
            </a:r>
            <a:r>
              <a:rPr lang="en-US" sz="1450" b="0" dirty="0">
                <a:latin typeface="Quattrocento Sans"/>
              </a:rPr>
              <a:t>eturn the satellite to its original </a:t>
            </a:r>
            <a:r>
              <a:rPr lang="en-US" sz="1450" b="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configuration; add bottom weights and lateral trim screws to refine </a:t>
            </a:r>
            <a:r>
              <a:rPr lang="en-US" sz="145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placement to center on table bubble.</a:t>
            </a:r>
            <a:endParaRPr sz="145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DEMO SPIN </a:t>
            </a:r>
            <a:r>
              <a:rPr lang="en-US" dirty="0"/>
              <a:t>Leveling</a:t>
            </a: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92" name="Picture 91" descr="fig6_demo2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96112"/>
            <a:ext cx="7498079" cy="348821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434840"/>
            <a:ext cx="8595360" cy="194822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MEASURE:  </a:t>
            </a:r>
            <a:r>
              <a:rPr sz="1300" b="0" dirty="0">
                <a:latin typeface="Quattrocento Sans"/>
              </a:rPr>
              <a:t>Six DEMO SPIN attempts after adding balance weights: roll, wheel speeds, and the free swing.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COMPARE:  </a:t>
            </a:r>
            <a:r>
              <a:rPr sz="1300" b="0" dirty="0">
                <a:latin typeface="Quattrocento Sans"/>
              </a:rPr>
              <a:t>Expected: level (&lt; 1° for 3 s), then spin. Instead</a:t>
            </a:r>
            <a:r>
              <a:rPr lang="en-US" sz="1300" b="0" dirty="0">
                <a:latin typeface="Quattrocento Sans"/>
              </a:rPr>
              <a:t>,</a:t>
            </a:r>
            <a:r>
              <a:rPr sz="1300" b="0" dirty="0">
                <a:latin typeface="Quattrocento Sans"/>
              </a:rPr>
              <a:t> every attempt stayed in Level and stopped at the 55 rad/s wheel limit after 2.2–3.7 s (1–2 s before the weights).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EXPLAIN:  </a:t>
            </a:r>
            <a:r>
              <a:rPr sz="1300" b="0" dirty="0">
                <a:latin typeface="Quattrocento Sans"/>
              </a:rPr>
              <a:t>Weights cut gravity’s pull ≈3× (swing period 1.8 → 3.3 s) and balanced pitch, but roll still rests ≈3.3° off level (−y side heavy). Holding roll at ≈2° pushes ≈8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 against gravity and fills wheel A in ≈3 s; the stop then brakes the wheels and kicks the table.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NEXT:  </a:t>
            </a:r>
            <a:r>
              <a:rPr sz="1300" b="0" dirty="0">
                <a:latin typeface="Quattrocento Sans"/>
              </a:rPr>
              <a:t>Trim roll (weight toward +y, ≈15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); new DEMO LEVEL test (level + hold, no spin) to measure hold time; ramp the wheels down instead of braking.</a:t>
            </a:r>
            <a:r>
              <a:rPr lang="en-US" sz="1300" b="0" dirty="0">
                <a:latin typeface="Quattrocento Sans"/>
              </a:rPr>
              <a:t> Increase allowable wheel limit to greater than 55 rad/s for more momentum storage.</a:t>
            </a:r>
            <a:endParaRPr sz="13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87F73-F0E4-6922-67BC-49AB6097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Data: DEMO SPIN Leveling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FAC40-CEAE-7914-E869-8F5406CF7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074AB-EC0B-2CB1-8038-6DE37877DC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6C281A-E20D-57C6-032A-B7375084EF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960" y="996359"/>
            <a:ext cx="4375404" cy="5833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58D52C-E875-C8E2-FB59-DA9AFAFEF2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0740" y="905236"/>
            <a:ext cx="2523759" cy="336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27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1e1805356538ab88_0_18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Future Plans: Where We Stand</a:t>
            </a:r>
            <a:endParaRPr/>
          </a:p>
        </p:txBody>
      </p:sp>
      <p:sp>
        <p:nvSpPr>
          <p:cNvPr id="128" name="Google Shape;128;h1e1805356538ab88_0_1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74320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Complete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74320" y="1508760"/>
            <a:ext cx="2743200" cy="3895425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Attitude estimator: roll/pitch 0.02° at rest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Reliable 100 Hz IMU data (0.085% lost)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speed </a:t>
            </a:r>
            <a:r>
              <a:rPr lang="en-US" sz="1700" b="0" dirty="0">
                <a:latin typeface="Quattrocento Sans"/>
              </a:rPr>
              <a:t>control </a:t>
            </a:r>
            <a:r>
              <a:rPr sz="1700" b="0" dirty="0">
                <a:latin typeface="Quattrocento Sans"/>
              </a:rPr>
              <a:t>loop on all 4 wheels at 12 V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SD + </a:t>
            </a:r>
            <a:r>
              <a:rPr sz="1700" b="0" dirty="0" err="1">
                <a:latin typeface="Quattrocento Sans"/>
              </a:rPr>
              <a:t>XBee</a:t>
            </a:r>
            <a:r>
              <a:rPr sz="1700" b="0" dirty="0">
                <a:latin typeface="Quattrocento Sans"/>
              </a:rPr>
              <a:t> logging and command link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geometry and signs verified on the air bearing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82112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Needs improvemen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t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182112" y="1508760"/>
            <a:ext cx="2743200" cy="4343400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Table balance: pitch fixed, roll still ≈3° off level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Yaw drift: ≈3 °/h after warm-up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A rub / pack; wheel C oscillation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Static friction at low wheel speed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Real inertia (fits 0.05–0.13 kg·m²</a:t>
            </a:r>
            <a:r>
              <a:rPr lang="en-US" sz="1700" b="0" dirty="0">
                <a:latin typeface="Quattrocento Sans"/>
              </a:rPr>
              <a:t>)</a:t>
            </a:r>
            <a:endParaRPr sz="1700" b="0" dirty="0">
              <a:latin typeface="Quattrocento Sans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6089904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Remainin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g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089904" y="1508760"/>
            <a:ext cx="2743200" cy="3646896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Magnetometer sensor fusion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Heading hold on the free table (Req. 1)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Yaw accuracy on a moving table (Req. 2)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Wheel-failure detection + 3-wheel control (Req. 3)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Stretch: 4-</a:t>
            </a:r>
            <a:r>
              <a:rPr lang="en-US" sz="1700" b="0" dirty="0">
                <a:latin typeface="Quattrocento Sans"/>
              </a:rPr>
              <a:t>point</a:t>
            </a:r>
            <a:r>
              <a:rPr sz="1700" b="0" dirty="0">
                <a:latin typeface="Quattrocento Sans"/>
              </a:rPr>
              <a:t> optimal</a:t>
            </a:r>
            <a:r>
              <a:rPr lang="en-US" sz="1700" b="0" dirty="0">
                <a:latin typeface="Quattrocento Sans"/>
              </a:rPr>
              <a:t> course</a:t>
            </a:r>
            <a:r>
              <a:rPr sz="1700" b="0" dirty="0">
                <a:latin typeface="Quattrocento Sans"/>
              </a:rPr>
              <a:t> slew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Plans: Path to Lesson 31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296516"/>
              </p:ext>
            </p:extLst>
          </p:nvPr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3117428457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Next task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Verifies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Complete By</a:t>
                      </a:r>
                      <a:endParaRPr sz="1400" b="1" dirty="0">
                        <a:solidFill>
                          <a:srgbClr val="FFFFFF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Trim roll balance (weight toward +y); measure hold time with the new DEMO LEVEL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Enables 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27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ARM heading hold on the free table for 5 min, logged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Req.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28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Yaw truth test: marked turns + calibrated magnetometer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29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Wheel-failure detection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→ drop to 3-wheel allocation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30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4-attitude slew along quaternion (shortest) paths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31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274320" y="4251960"/>
            <a:ext cx="4160520" cy="1678921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Key risks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Balance limits hold time (wheels store only ≈24 </a:t>
            </a:r>
            <a:r>
              <a:rPr sz="1400" b="0" dirty="0" err="1">
                <a:latin typeface="Quattrocento Sans"/>
              </a:rPr>
              <a:t>mN·m·s</a:t>
            </a:r>
            <a:r>
              <a:rPr sz="1400" b="0" dirty="0">
                <a:latin typeface="Quattrocento Sans"/>
              </a:rPr>
              <a:t> per axis</a:t>
            </a:r>
            <a:r>
              <a:rPr lang="en-US" sz="1400" b="0" dirty="0">
                <a:latin typeface="Quattrocento Sans"/>
              </a:rPr>
              <a:t> in current configuration, unknown how much it can reliably increase</a:t>
            </a:r>
            <a:r>
              <a:rPr sz="1400" b="0" dirty="0">
                <a:latin typeface="Quattrocento Sans"/>
              </a:rPr>
              <a:t>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Yaw drift on long runs without a magnetometer aid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dirty="0">
                <a:latin typeface="Quattrocento Sans"/>
              </a:rPr>
              <a:t>Unexplained w</a:t>
            </a:r>
            <a:r>
              <a:rPr sz="1400" b="0" dirty="0">
                <a:latin typeface="Quattrocento Sans"/>
              </a:rPr>
              <a:t>heel A/C hardware faults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09160" y="4251960"/>
            <a:ext cx="4160520" cy="1474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Improvements beyond </a:t>
            </a:r>
            <a:r>
              <a:rPr lang="en-US" sz="1400" b="1" dirty="0" err="1">
                <a:latin typeface="Quattrocento Sans"/>
              </a:rPr>
              <a:t>KestrelSAT</a:t>
            </a:r>
            <a:endParaRPr sz="1400" b="1" dirty="0">
              <a:latin typeface="Quattrocento Sans"/>
            </a:endParaRP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sz="1400" b="0" dirty="0">
                <a:latin typeface="Quattrocento Sans"/>
              </a:rPr>
              <a:t>Use of Air Bearing Table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Interrupt-driven IMU pipeline with per-sample logging (25% → 0.085% loss)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4-wheel pyramid </a:t>
            </a:r>
            <a:r>
              <a:rPr lang="en-US" sz="1400" b="0" dirty="0">
                <a:latin typeface="Quattrocento Sans"/>
              </a:rPr>
              <a:t>allowing 3DOF attitude control</a:t>
            </a:r>
            <a:endParaRPr sz="14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Documentation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8741664" cy="5440680"/>
          </a:xfrm>
        </p:spPr>
        <p:txBody>
          <a:bodyPr wrap="square">
            <a:normAutofit/>
          </a:bodyPr>
          <a:lstStyle/>
          <a:p>
            <a:pPr marL="285750" indent="-285750">
              <a:lnSpc>
                <a:spcPct val="95000"/>
              </a:lnSpc>
              <a:spcBef>
                <a:spcPts val="1400"/>
              </a:spcBef>
            </a:pPr>
            <a:r>
              <a:rPr lang="en-US" sz="1800" b="1" dirty="0"/>
              <a:t>Primary </a:t>
            </a:r>
            <a:r>
              <a:rPr sz="1800" b="1" dirty="0"/>
              <a:t>Tool: Claude Code</a:t>
            </a:r>
            <a:r>
              <a:rPr lang="en-US" sz="1800" b="1" dirty="0"/>
              <a:t>, Opus Model</a:t>
            </a:r>
          </a:p>
          <a:p>
            <a:pPr marL="742950" lvl="1" indent="-28575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Firmware: drafted the EKF, controller, wheel allocation, IMU driver, logger and command set from the team’s requirements and design decisions; the team reviewed, uploaded and tested every build on the hardware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Analysis: wrote the Python scripts and plots for each test log; the team ran the tests and checked the conclusions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Documentation: CLAUDE.md, TODO.md, PROGRESS_LOG.md and a first draft of these slides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Team-owned: hardware build, wiring and power system, requirement and design decisions, </a:t>
            </a:r>
            <a:r>
              <a:rPr lang="en-US" sz="1800" b="0" dirty="0"/>
              <a:t>test design, execution</a:t>
            </a:r>
            <a:r>
              <a:rPr sz="1800" b="0" dirty="0"/>
              <a:t>, and final review of every result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Full record of work: PROGRESS_LOG.md and the git history in the team repository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2338</Words>
  <Application>Microsoft Office PowerPoint</Application>
  <PresentationFormat>On-screen Show (4:3)</PresentationFormat>
  <Paragraphs>190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Quattrocento Sans</vt:lpstr>
      <vt:lpstr>Arial</vt:lpstr>
      <vt:lpstr>Office Theme</vt:lpstr>
      <vt:lpstr>Lab 8: Preliminary Data Review</vt:lpstr>
      <vt:lpstr>Overview</vt:lpstr>
      <vt:lpstr>Requirements: Verification &amp; Status</vt:lpstr>
      <vt:lpstr>Theory: Estimation &amp; Control Loop</vt:lpstr>
      <vt:lpstr>Theory: Control Law &amp; Wheel Allocation</vt:lpstr>
      <vt:lpstr>Build Progress: Hardware</vt:lpstr>
      <vt:lpstr>Build Progress: Hardware</vt:lpstr>
      <vt:lpstr>Progress: Software Build &amp; Tests</vt:lpstr>
      <vt:lpstr>Data: Wheel Speed Control</vt:lpstr>
      <vt:lpstr>Data: Attitude Determination at Rest</vt:lpstr>
      <vt:lpstr>Data: IMU Data Integrity (Unexpected Result)</vt:lpstr>
      <vt:lpstr>Data: Magnetometer vs. Wheel Motors</vt:lpstr>
      <vt:lpstr>Data: First DEMO SPIN (Unsuccessful)</vt:lpstr>
      <vt:lpstr>Data: DEMO SPIN Leveling</vt:lpstr>
      <vt:lpstr>Data: DEMO SPIN Leveling</vt:lpstr>
      <vt:lpstr>Future Plans: Where We Stand</vt:lpstr>
      <vt:lpstr>Future Plans: Path to Lesson 31</vt:lpstr>
      <vt:lpstr>GenAI Use Documentation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Harris, Wyatt J Lt Col USAF USAFA DF/DFAS</dc:creator>
  <cp:lastModifiedBy>Crawley, Owen M C2C USAF USAFA CW/CS17</cp:lastModifiedBy>
  <cp:revision>6</cp:revision>
  <dcterms:created xsi:type="dcterms:W3CDTF">2025-07-17T17:53:42Z</dcterms:created>
  <dcterms:modified xsi:type="dcterms:W3CDTF">2026-10-23T13:50:23Z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0x01010079E104B47FA86644A46CA5C8803E74CD</vt:lpwstr>
  </property>
  <property fmtid="{D5CDD505-2E9C-101B-9397-08002B2CF9AE}" pid="3" name="MediaServiceImageTags">
    <vt:lpwstr/>
  </property>
</Properties>
</file>