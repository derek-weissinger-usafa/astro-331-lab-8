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jpg" ContentType="image/jpeg"/>
  <Default Extension="mp4" ContentType="video/mp4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ppt/metadata" ContentType="application/binary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trictFirstAndLastChars="0" embedTrueTypeFonts="1" autoCompressPictures="0">
  <p:sldMasterIdLst>
    <p:sldMasterId id="2147483648" r:id="rId1"/>
  </p:sldMasterIdLst>
  <p:notesMasterIdLst>
    <p:notesMasterId r:id="rId21"/>
  </p:notesMasterIdLst>
  <p:sldIdLst>
    <p:sldId id="256" r:id="rId2"/>
    <p:sldId id="257" r:id="rId3"/>
    <p:sldId id="263" r:id="rId4"/>
    <p:sldId id="259" r:id="rId5"/>
    <p:sldId id="264" r:id="rId6"/>
    <p:sldId id="260" r:id="rId7"/>
    <p:sldId id="273" r:id="rId8"/>
    <p:sldId id="265" r:id="rId9"/>
    <p:sldId id="261" r:id="rId10"/>
    <p:sldId id="266" r:id="rId11"/>
    <p:sldId id="267" r:id="rId12"/>
    <p:sldId id="268" r:id="rId13"/>
    <p:sldId id="269" r:id="rId14"/>
    <p:sldId id="270" r:id="rId15"/>
    <p:sldId id="274" r:id="rId16"/>
    <p:sldId id="275" r:id="rId17"/>
    <p:sldId id="262" r:id="rId18"/>
    <p:sldId id="271" r:id="rId19"/>
    <p:sldId id="272" r:id="rId20"/>
  </p:sldIdLst>
  <p:sldSz cx="9144000" cy="6858000" type="screen4x3"/>
  <p:notesSz cx="6858000" cy="9144000"/>
  <p:embeddedFontLst>
    <p:embeddedFont>
      <p:font typeface="Quattrocento Sans" panose="020B0502050000020003" pitchFamily="34" charset="0"/>
      <p:regular r:id="rId22"/>
      <p:bold r:id="rId23"/>
      <p:italic r:id="rId24"/>
      <p:boldItalic r:id="rId25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/>
    </p:ext>
    <p:ext uri="GoogleSlidesCustomDataVersion2">
      <go:slidesCustomData xmlns:go="http://customooxmlschemas.google.com/" xmlns:ahyp="http://schemas.microsoft.com/office/drawing/2018/hyperlinkcolor" xmlns:p15="http://schemas.microsoft.com/office/powerpoint/2012/main" xmlns:p14="http://schemas.microsoft.com/office/powerpoint/2010/main" xmlns:com="http://schemas.openxmlformats.org/drawingml/2006/compatibility" xmlns:pvml="urn:schemas-microsoft-com:office:powerpoint" xmlns:v="urn:schemas-microsoft-com:vml" xmlns:o="urn:schemas-microsoft-com:office:office" xmlns:dgm="http://schemas.openxmlformats.org/drawingml/2006/diagram" xmlns:c="http://schemas.openxmlformats.org/drawingml/2006/chart" xmlns:mv="urn:schemas-microsoft-com:mac:vml" xmlns:mc="http://schemas.openxmlformats.org/markup-compatibility/2006" xmlns="" r:id="rId26" roundtripDataSignature="AMtx7mjdeCnu8lAzD9+tydpnVE8c63/G3g==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72384" autoAdjust="0"/>
  </p:normalViewPr>
  <p:slideViewPr>
    <p:cSldViewPr snapToGrid="0">
      <p:cViewPr varScale="1">
        <p:scale>
          <a:sx n="53" d="100"/>
          <a:sy n="53" d="100"/>
        </p:scale>
        <p:origin x="1660" y="5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customschemas.google.com/relationships/presentationmetadata" Target="metadata"/><Relationship Id="rId3" Type="http://schemas.openxmlformats.org/officeDocument/2006/relationships/slide" Target="slides/slide2.xml"/><Relationship Id="rId21" Type="http://schemas.openxmlformats.org/officeDocument/2006/relationships/notesMaster" Target="notesMasters/notesMaster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font" Target="fonts/font4.fntdata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font" Target="fonts/font3.fntdata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font" Target="fonts/font2.fntdata"/><Relationship Id="rId28" Type="http://schemas.openxmlformats.org/officeDocument/2006/relationships/viewProps" Target="view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font" Target="fonts/font1.fntdata"/><Relationship Id="rId27" Type="http://schemas.openxmlformats.org/officeDocument/2006/relationships/presProps" Target="presProps.xml"/><Relationship Id="rId3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>
            <a:spLocks noGrp="1"/>
          </p:cNvSpPr>
          <p:nvPr>
            <p:ph type="hdr" idx="2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4" name="Google Shape;4;n"/>
          <p:cNvSpPr txBox="1">
            <a:spLocks noGrp="1"/>
          </p:cNvSpPr>
          <p:nvPr>
            <p:ph type="dt" idx="10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5" name="Google Shape;5;n"/>
          <p:cNvSpPr>
            <a:spLocks noGrp="1" noRot="1" noChangeAspect="1"/>
          </p:cNvSpPr>
          <p:nvPr>
            <p:ph type="sldImg" idx="3"/>
          </p:nvPr>
        </p:nvSpPr>
        <p:spPr>
          <a:xfrm>
            <a:off x="1371600" y="1143000"/>
            <a:ext cx="41148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6" name="Google Shape;6;n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marR="0" lvl="1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1371600" marR="0" lvl="2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1828800" marR="0" lvl="3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2286000" marR="0" lvl="4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2743200" marR="0" lvl="5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3200400" marR="0" lvl="6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3657600" marR="0" lvl="7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4114800" marR="0" lvl="8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7" name="Google Shape;7;n"/>
          <p:cNvSpPr txBox="1">
            <a:spLocks noGrp="1"/>
          </p:cNvSpPr>
          <p:nvPr>
            <p:ph type="ftr" idx="11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8" name="Google Shape;8;n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fld id="{00000000-1234-1234-1234-123412341234}" type="slidenum">
              <a:rPr lang="en-US" sz="1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sz="1200" b="0" i="0" u="none" strike="noStrike" cap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:notes"/>
          <p:cNvSpPr>
            <a:spLocks noGrp="1" noRot="1" noChangeAspect="1"/>
          </p:cNvSpPr>
          <p:nvPr>
            <p:ph type="sldImg" idx="2"/>
          </p:nvPr>
        </p:nvSpPr>
        <p:spPr>
          <a:xfrm>
            <a:off x="1371600" y="1143000"/>
            <a:ext cx="41148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80" name="Google Shape;80;p1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rPr lang="en-US"/>
              <a:t>https://www.youtube.com/watch?v=jVXgWGK9Kr8</a:t>
            </a:r>
            <a:endParaRPr/>
          </a:p>
        </p:txBody>
      </p:sp>
      <p:sp>
        <p:nvSpPr>
          <p:cNvPr id="81" name="Google Shape;81;p1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fld id="{00000000-1234-1234-1234-123412341234}" type="slidenum">
              <a:rPr lang="en-US"/>
              <a:t>1</a:t>
            </a:fld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3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87" name="Google Shape;87;p3:notes"/>
          <p:cNvSpPr>
            <a:spLocks noGrp="1" noRot="1" noChangeAspect="1"/>
          </p:cNvSpPr>
          <p:nvPr>
            <p:ph type="sldImg" idx="2"/>
          </p:nvPr>
        </p:nvSpPr>
        <p:spPr>
          <a:xfrm>
            <a:off x="1371600" y="1143000"/>
            <a:ext cx="41148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h1e1805356538ab88_0_0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103" name="Google Shape;103;h1e1805356538ab88_0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1371600" y="1143000"/>
            <a:ext cx="41148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457200" marR="0" lvl="0" indent="-3429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tabLst/>
              <a:defRPr/>
            </a:pPr>
            <a:r>
              <a:rPr lang="en-US" dirty="0"/>
              <a:t>I * </a:t>
            </a:r>
            <a:r>
              <a:rPr lang="en-US" dirty="0" err="1"/>
              <a:t>alpha_ref</a:t>
            </a:r>
            <a:r>
              <a:rPr lang="en-US" dirty="0"/>
              <a:t> is feed-forward: we know acceleration dynamics, so we just put it in control law instead of waiting for error to build up. </a:t>
            </a:r>
          </a:p>
          <a:p>
            <a:pPr marL="457200" marR="0" lvl="0" indent="-3429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tabLst/>
              <a:defRPr/>
            </a:pPr>
            <a:endParaRPr lang="en-US" sz="1200" dirty="0"/>
          </a:p>
          <a:p>
            <a:pPr marL="457200" marR="0" lvl="0" indent="-3429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tabLst/>
              <a:defRPr/>
            </a:pPr>
            <a:r>
              <a:rPr lang="en-US" sz="1200" dirty="0"/>
              <a:t>D⁺: pseudo-inverse of D, gives least wheel torque for desired body torque</a:t>
            </a:r>
            <a:endParaRPr lang="en-US" sz="1050" b="0" dirty="0"/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fld id="{00000000-1234-1234-1234-123412341234}" type="slidenum">
              <a:rPr lang="en-US" sz="1200" b="0" i="0" u="none" strike="noStrike" cap="none" smtClean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5</a:t>
            </a:fld>
            <a:endParaRPr lang="en-US" sz="1200" b="0" i="0" u="none" strike="noStrike" cap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1382230222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9" name="Google Shape;109;h1e1805356538ab88_0_6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110" name="Google Shape;110;h1e1805356538ab88_0_6:notes"/>
          <p:cNvSpPr>
            <a:spLocks noGrp="1" noRot="1" noChangeAspect="1"/>
          </p:cNvSpPr>
          <p:nvPr>
            <p:ph type="sldImg" idx="2"/>
          </p:nvPr>
        </p:nvSpPr>
        <p:spPr>
          <a:xfrm>
            <a:off x="1371600" y="1143000"/>
            <a:ext cx="41148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h1e1805356538ab88_0_12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117" name="Google Shape;117;h1e1805356538ab88_0_12:notes"/>
          <p:cNvSpPr>
            <a:spLocks noGrp="1" noRot="1" noChangeAspect="1"/>
          </p:cNvSpPr>
          <p:nvPr>
            <p:ph type="sldImg" idx="2"/>
          </p:nvPr>
        </p:nvSpPr>
        <p:spPr>
          <a:xfrm>
            <a:off x="1371600" y="1143000"/>
            <a:ext cx="41148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h1e1805356538ab88_0_18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124" name="Google Shape;124;h1e1805356538ab88_0_18:notes"/>
          <p:cNvSpPr>
            <a:spLocks noGrp="1" noRot="1" noChangeAspect="1"/>
          </p:cNvSpPr>
          <p:nvPr>
            <p:ph type="sldImg" idx="2"/>
          </p:nvPr>
        </p:nvSpPr>
        <p:spPr>
          <a:xfrm>
            <a:off x="1371600" y="1143000"/>
            <a:ext cx="41148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Good baseline for </a:t>
            </a:r>
            <a:r>
              <a:rPr lang="en-US" dirty="0" err="1"/>
              <a:t>pres</a:t>
            </a:r>
            <a:r>
              <a:rPr lang="en-US" dirty="0"/>
              <a:t>, enlarge requirements (symbology: checkmarks), practice brief before final </a:t>
            </a:r>
            <a:r>
              <a:rPr lang="en-US" dirty="0" err="1"/>
              <a:t>pres</a:t>
            </a:r>
            <a:r>
              <a:rPr lang="en-US" dirty="0"/>
              <a:t>, add in/out to control loop, self-sustaining plots (have them be able to tell their own story, note important points), have pics tell story as well, include code snips (parse out each section + theory</a:t>
            </a:r>
            <a:r>
              <a:rPr lang="en-US"/>
              <a:t>), why does ADSC matter???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fld id="{00000000-1234-1234-1234-123412341234}" type="slidenum">
              <a:rPr lang="en-US" sz="1200" b="0" i="0" u="none" strike="noStrike" cap="none" smtClean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18</a:t>
            </a:fld>
            <a:endParaRPr lang="en-US" sz="1200" b="0" i="0" u="none" strike="noStrike" cap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362208493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spTree>
      <p:nvGrpSpPr>
        <p:cNvPr id="1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6"/>
          <p:cNvSpPr txBox="1">
            <a:spLocks noGrp="1"/>
          </p:cNvSpPr>
          <p:nvPr>
            <p:ph type="ctrTitle"/>
          </p:nvPr>
        </p:nvSpPr>
        <p:spPr>
          <a:xfrm>
            <a:off x="1177505" y="1287560"/>
            <a:ext cx="6788990" cy="2387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Quattrocento Sans"/>
              <a:buNone/>
              <a:defRPr sz="60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9" name="Google Shape;19;p6"/>
          <p:cNvSpPr txBox="1">
            <a:spLocks noGrp="1"/>
          </p:cNvSpPr>
          <p:nvPr>
            <p:ph type="subTitle" idx="1"/>
          </p:nvPr>
        </p:nvSpPr>
        <p:spPr>
          <a:xfrm>
            <a:off x="1143000" y="3781865"/>
            <a:ext cx="6858000" cy="165576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lvl="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/>
            </a:lvl1pPr>
            <a:lvl2pPr lvl="1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/>
            </a:lvl2pPr>
            <a:lvl3pPr lvl="2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4pPr>
            <a:lvl5pPr lvl="4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5pPr>
            <a:lvl6pPr lvl="5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6pPr>
            <a:lvl7pPr lvl="6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7pPr>
            <a:lvl8pPr lvl="7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8pPr>
            <a:lvl9pPr lvl="8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9pPr>
          </a:lstStyle>
          <a:p>
            <a:endParaRPr/>
          </a:p>
        </p:txBody>
      </p:sp>
      <p:sp>
        <p:nvSpPr>
          <p:cNvPr id="20" name="Google Shape;20;p6"/>
          <p:cNvSpPr txBox="1">
            <a:spLocks noGrp="1"/>
          </p:cNvSpPr>
          <p:nvPr>
            <p:ph type="dt" idx="10"/>
          </p:nvPr>
        </p:nvSpPr>
        <p:spPr>
          <a:xfrm>
            <a:off x="38291" y="6465105"/>
            <a:ext cx="20574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1" name="Google Shape;21;p6"/>
          <p:cNvSpPr txBox="1">
            <a:spLocks noGrp="1"/>
          </p:cNvSpPr>
          <p:nvPr>
            <p:ph type="sldNum" idx="12"/>
          </p:nvPr>
        </p:nvSpPr>
        <p:spPr>
          <a:xfrm>
            <a:off x="7040236" y="6465106"/>
            <a:ext cx="20574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22" name="Google Shape;22;p6"/>
          <p:cNvSpPr txBox="1"/>
          <p:nvPr/>
        </p:nvSpPr>
        <p:spPr>
          <a:xfrm>
            <a:off x="1028701" y="111639"/>
            <a:ext cx="7226780" cy="6963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marR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Quattrocento Sans"/>
              <a:buNone/>
            </a:pPr>
            <a:r>
              <a:rPr lang="en-US" sz="3600" b="1" i="0" u="none" strike="noStrike" cap="none">
                <a:solidFill>
                  <a:schemeClr val="dk1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USAFA ASTRO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3" name="Google Shape;23;p6"/>
          <p:cNvSpPr txBox="1"/>
          <p:nvPr/>
        </p:nvSpPr>
        <p:spPr>
          <a:xfrm>
            <a:off x="1143000" y="6288282"/>
            <a:ext cx="6858000" cy="50126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marR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None/>
            </a:pPr>
            <a:r>
              <a:rPr lang="en-US" sz="2000" b="1" i="1" u="none" strike="noStrike" cap="none">
                <a:solidFill>
                  <a:schemeClr val="dk1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ASTRO 331 – Space Systems Engineering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Content" type="obj">
  <p:cSld name="OBJECT">
    <p:spTree>
      <p:nvGrpSpPr>
        <p:cNvPr id="1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7"/>
          <p:cNvSpPr txBox="1">
            <a:spLocks noGrp="1"/>
          </p:cNvSpPr>
          <p:nvPr>
            <p:ph type="title"/>
          </p:nvPr>
        </p:nvSpPr>
        <p:spPr>
          <a:xfrm>
            <a:off x="866966" y="133186"/>
            <a:ext cx="7886700" cy="65219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6" name="Google Shape;26;p7"/>
          <p:cNvSpPr txBox="1">
            <a:spLocks noGrp="1"/>
          </p:cNvSpPr>
          <p:nvPr>
            <p:ph type="body" idx="1"/>
          </p:nvPr>
        </p:nvSpPr>
        <p:spPr>
          <a:xfrm>
            <a:off x="200025" y="1002506"/>
            <a:ext cx="8793015" cy="522755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27" name="Google Shape;27;p7"/>
          <p:cNvSpPr txBox="1">
            <a:spLocks noGrp="1"/>
          </p:cNvSpPr>
          <p:nvPr>
            <p:ph type="dt" idx="10"/>
          </p:nvPr>
        </p:nvSpPr>
        <p:spPr>
          <a:xfrm>
            <a:off x="38291" y="6465105"/>
            <a:ext cx="20574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8" name="Google Shape;28;p7"/>
          <p:cNvSpPr txBox="1">
            <a:spLocks noGrp="1"/>
          </p:cNvSpPr>
          <p:nvPr>
            <p:ph type="sldNum" idx="12"/>
          </p:nvPr>
        </p:nvSpPr>
        <p:spPr>
          <a:xfrm>
            <a:off x="7040236" y="6465106"/>
            <a:ext cx="20574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SECTION_HEADER">
    <p:spTree>
      <p:nvGrpSpPr>
        <p:cNvPr id="1" name="Shape 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Google Shape;30;p8"/>
          <p:cNvSpPr txBox="1">
            <a:spLocks noGrp="1"/>
          </p:cNvSpPr>
          <p:nvPr>
            <p:ph type="title"/>
          </p:nvPr>
        </p:nvSpPr>
        <p:spPr>
          <a:xfrm>
            <a:off x="623888" y="1709739"/>
            <a:ext cx="7886700" cy="285273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800"/>
              <a:buFont typeface="Quattrocento Sans"/>
              <a:buNone/>
              <a:defRPr sz="48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1" name="Google Shape;31;p8"/>
          <p:cNvSpPr txBox="1">
            <a:spLocks noGrp="1"/>
          </p:cNvSpPr>
          <p:nvPr>
            <p:ph type="body" idx="1"/>
          </p:nvPr>
        </p:nvSpPr>
        <p:spPr>
          <a:xfrm>
            <a:off x="623888" y="4589464"/>
            <a:ext cx="7886700" cy="15001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757575"/>
              </a:buClr>
              <a:buSzPts val="2400"/>
              <a:buNone/>
              <a:defRPr sz="2400">
                <a:solidFill>
                  <a:srgbClr val="757575"/>
                </a:solidFill>
              </a:defRPr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757575"/>
              </a:buClr>
              <a:buSzPts val="2000"/>
              <a:buNone/>
              <a:defRPr sz="2000">
                <a:solidFill>
                  <a:srgbClr val="757575"/>
                </a:solidFill>
              </a:defRPr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757575"/>
              </a:buClr>
              <a:buSzPts val="1800"/>
              <a:buNone/>
              <a:defRPr sz="1800">
                <a:solidFill>
                  <a:srgbClr val="757575"/>
                </a:solidFill>
              </a:defRPr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757575"/>
              </a:buClr>
              <a:buSzPts val="1600"/>
              <a:buNone/>
              <a:defRPr sz="1600">
                <a:solidFill>
                  <a:srgbClr val="757575"/>
                </a:solidFill>
              </a:defRPr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757575"/>
              </a:buClr>
              <a:buSzPts val="1600"/>
              <a:buNone/>
              <a:defRPr sz="1600">
                <a:solidFill>
                  <a:srgbClr val="757575"/>
                </a:solidFill>
              </a:defRPr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757575"/>
              </a:buClr>
              <a:buSzPts val="1600"/>
              <a:buNone/>
              <a:defRPr sz="1600">
                <a:solidFill>
                  <a:srgbClr val="757575"/>
                </a:solidFill>
              </a:defRPr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757575"/>
              </a:buClr>
              <a:buSzPts val="1600"/>
              <a:buNone/>
              <a:defRPr sz="1600">
                <a:solidFill>
                  <a:srgbClr val="757575"/>
                </a:solidFill>
              </a:defRPr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757575"/>
              </a:buClr>
              <a:buSzPts val="1600"/>
              <a:buNone/>
              <a:defRPr sz="1600">
                <a:solidFill>
                  <a:srgbClr val="757575"/>
                </a:solidFill>
              </a:defRPr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757575"/>
              </a:buClr>
              <a:buSzPts val="1600"/>
              <a:buNone/>
              <a:defRPr sz="1600">
                <a:solidFill>
                  <a:srgbClr val="757575"/>
                </a:solidFill>
              </a:defRPr>
            </a:lvl9pPr>
          </a:lstStyle>
          <a:p>
            <a:endParaRPr/>
          </a:p>
        </p:txBody>
      </p:sp>
      <p:sp>
        <p:nvSpPr>
          <p:cNvPr id="32" name="Google Shape;32;p8"/>
          <p:cNvSpPr txBox="1">
            <a:spLocks noGrp="1"/>
          </p:cNvSpPr>
          <p:nvPr>
            <p:ph type="dt" idx="10"/>
          </p:nvPr>
        </p:nvSpPr>
        <p:spPr>
          <a:xfrm>
            <a:off x="38291" y="6465105"/>
            <a:ext cx="20574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3" name="Google Shape;33;p8"/>
          <p:cNvSpPr txBox="1">
            <a:spLocks noGrp="1"/>
          </p:cNvSpPr>
          <p:nvPr>
            <p:ph type="sldNum" idx="12"/>
          </p:nvPr>
        </p:nvSpPr>
        <p:spPr>
          <a:xfrm>
            <a:off x="7040236" y="6465106"/>
            <a:ext cx="20574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wo Content" type="twoObj">
  <p:cSld name="TWO_OBJECTS">
    <p:spTree>
      <p:nvGrpSpPr>
        <p:cNvPr id="1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9"/>
          <p:cNvSpPr txBox="1">
            <a:spLocks noGrp="1"/>
          </p:cNvSpPr>
          <p:nvPr>
            <p:ph type="title"/>
          </p:nvPr>
        </p:nvSpPr>
        <p:spPr>
          <a:xfrm>
            <a:off x="866966" y="133186"/>
            <a:ext cx="7886700" cy="65219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6" name="Google Shape;36;p9"/>
          <p:cNvSpPr txBox="1">
            <a:spLocks noGrp="1"/>
          </p:cNvSpPr>
          <p:nvPr>
            <p:ph type="body" idx="1"/>
          </p:nvPr>
        </p:nvSpPr>
        <p:spPr>
          <a:xfrm>
            <a:off x="628650" y="1825625"/>
            <a:ext cx="3886200" cy="4351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37" name="Google Shape;37;p9"/>
          <p:cNvSpPr txBox="1">
            <a:spLocks noGrp="1"/>
          </p:cNvSpPr>
          <p:nvPr>
            <p:ph type="body" idx="2"/>
          </p:nvPr>
        </p:nvSpPr>
        <p:spPr>
          <a:xfrm>
            <a:off x="4629150" y="1825625"/>
            <a:ext cx="3886200" cy="4351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38" name="Google Shape;38;p9"/>
          <p:cNvSpPr txBox="1">
            <a:spLocks noGrp="1"/>
          </p:cNvSpPr>
          <p:nvPr>
            <p:ph type="dt" idx="10"/>
          </p:nvPr>
        </p:nvSpPr>
        <p:spPr>
          <a:xfrm>
            <a:off x="38291" y="6465105"/>
            <a:ext cx="20574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9" name="Google Shape;39;p9"/>
          <p:cNvSpPr txBox="1">
            <a:spLocks noGrp="1"/>
          </p:cNvSpPr>
          <p:nvPr>
            <p:ph type="sldNum" idx="12"/>
          </p:nvPr>
        </p:nvSpPr>
        <p:spPr>
          <a:xfrm>
            <a:off x="7040236" y="6465106"/>
            <a:ext cx="20574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mparison" type="twoTxTwoObj">
  <p:cSld name="TWO_OBJECTS_WITH_TEXT">
    <p:spTree>
      <p:nvGrpSpPr>
        <p:cNvPr id="1" name="Shape 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Google Shape;41;p10"/>
          <p:cNvSpPr txBox="1">
            <a:spLocks noGrp="1"/>
          </p:cNvSpPr>
          <p:nvPr>
            <p:ph type="title"/>
          </p:nvPr>
        </p:nvSpPr>
        <p:spPr>
          <a:xfrm>
            <a:off x="629841" y="365126"/>
            <a:ext cx="78867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2" name="Google Shape;42;p10"/>
          <p:cNvSpPr txBox="1">
            <a:spLocks noGrp="1"/>
          </p:cNvSpPr>
          <p:nvPr>
            <p:ph type="body" idx="1"/>
          </p:nvPr>
        </p:nvSpPr>
        <p:spPr>
          <a:xfrm>
            <a:off x="629842" y="1681163"/>
            <a:ext cx="3868340" cy="82391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 b="1"/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 b="1"/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1"/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9pPr>
          </a:lstStyle>
          <a:p>
            <a:endParaRPr/>
          </a:p>
        </p:txBody>
      </p:sp>
      <p:sp>
        <p:nvSpPr>
          <p:cNvPr id="43" name="Google Shape;43;p10"/>
          <p:cNvSpPr txBox="1">
            <a:spLocks noGrp="1"/>
          </p:cNvSpPr>
          <p:nvPr>
            <p:ph type="body" idx="2"/>
          </p:nvPr>
        </p:nvSpPr>
        <p:spPr>
          <a:xfrm>
            <a:off x="629842" y="2505075"/>
            <a:ext cx="3868340" cy="36845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44" name="Google Shape;44;p10"/>
          <p:cNvSpPr txBox="1">
            <a:spLocks noGrp="1"/>
          </p:cNvSpPr>
          <p:nvPr>
            <p:ph type="body" idx="3"/>
          </p:nvPr>
        </p:nvSpPr>
        <p:spPr>
          <a:xfrm>
            <a:off x="4629150" y="1681163"/>
            <a:ext cx="3887391" cy="82391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 b="1"/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 b="1"/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1"/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9pPr>
          </a:lstStyle>
          <a:p>
            <a:endParaRPr/>
          </a:p>
        </p:txBody>
      </p:sp>
      <p:sp>
        <p:nvSpPr>
          <p:cNvPr id="45" name="Google Shape;45;p10"/>
          <p:cNvSpPr txBox="1">
            <a:spLocks noGrp="1"/>
          </p:cNvSpPr>
          <p:nvPr>
            <p:ph type="body" idx="4"/>
          </p:nvPr>
        </p:nvSpPr>
        <p:spPr>
          <a:xfrm>
            <a:off x="4629150" y="2505075"/>
            <a:ext cx="3887391" cy="36845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46" name="Google Shape;46;p10"/>
          <p:cNvSpPr txBox="1">
            <a:spLocks noGrp="1"/>
          </p:cNvSpPr>
          <p:nvPr>
            <p:ph type="dt" idx="10"/>
          </p:nvPr>
        </p:nvSpPr>
        <p:spPr>
          <a:xfrm>
            <a:off x="38291" y="6465105"/>
            <a:ext cx="20574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7" name="Google Shape;47;p10"/>
          <p:cNvSpPr txBox="1">
            <a:spLocks noGrp="1"/>
          </p:cNvSpPr>
          <p:nvPr>
            <p:ph type="sldNum" idx="12"/>
          </p:nvPr>
        </p:nvSpPr>
        <p:spPr>
          <a:xfrm>
            <a:off x="7040236" y="6465106"/>
            <a:ext cx="20574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_ONLY">
    <p:spTree>
      <p:nvGrpSpPr>
        <p:cNvPr id="1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1"/>
          <p:cNvSpPr txBox="1">
            <a:spLocks noGrp="1"/>
          </p:cNvSpPr>
          <p:nvPr>
            <p:ph type="title"/>
          </p:nvPr>
        </p:nvSpPr>
        <p:spPr>
          <a:xfrm>
            <a:off x="866966" y="133186"/>
            <a:ext cx="7886700" cy="65219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0" name="Google Shape;50;p11"/>
          <p:cNvSpPr txBox="1">
            <a:spLocks noGrp="1"/>
          </p:cNvSpPr>
          <p:nvPr>
            <p:ph type="dt" idx="10"/>
          </p:nvPr>
        </p:nvSpPr>
        <p:spPr>
          <a:xfrm>
            <a:off x="38291" y="6465105"/>
            <a:ext cx="20574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1" name="Google Shape;51;p11"/>
          <p:cNvSpPr txBox="1">
            <a:spLocks noGrp="1"/>
          </p:cNvSpPr>
          <p:nvPr>
            <p:ph type="ftr" idx="11"/>
          </p:nvPr>
        </p:nvSpPr>
        <p:spPr>
          <a:xfrm>
            <a:off x="3028950" y="6501692"/>
            <a:ext cx="30861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52" name="Google Shape;52;p11"/>
          <p:cNvSpPr txBox="1">
            <a:spLocks noGrp="1"/>
          </p:cNvSpPr>
          <p:nvPr>
            <p:ph type="sldNum" idx="12"/>
          </p:nvPr>
        </p:nvSpPr>
        <p:spPr>
          <a:xfrm>
            <a:off x="7040236" y="6465106"/>
            <a:ext cx="20574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spTree>
      <p:nvGrpSpPr>
        <p:cNvPr id="1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2"/>
          <p:cNvSpPr txBox="1">
            <a:spLocks noGrp="1"/>
          </p:cNvSpPr>
          <p:nvPr>
            <p:ph type="dt" idx="10"/>
          </p:nvPr>
        </p:nvSpPr>
        <p:spPr>
          <a:xfrm>
            <a:off x="38291" y="6465105"/>
            <a:ext cx="20574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5" name="Google Shape;55;p12"/>
          <p:cNvSpPr txBox="1">
            <a:spLocks noGrp="1"/>
          </p:cNvSpPr>
          <p:nvPr>
            <p:ph type="sldNum" idx="12"/>
          </p:nvPr>
        </p:nvSpPr>
        <p:spPr>
          <a:xfrm>
            <a:off x="7040236" y="6465106"/>
            <a:ext cx="20574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ntent with Caption" type="objTx">
  <p:cSld name="OBJECT_WITH_CAPTION_TEXT">
    <p:spTree>
      <p:nvGrpSpPr>
        <p:cNvPr id="1" name="Shape 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" name="Google Shape;57;p13"/>
          <p:cNvSpPr txBox="1">
            <a:spLocks noGrp="1"/>
          </p:cNvSpPr>
          <p:nvPr>
            <p:ph type="title"/>
          </p:nvPr>
        </p:nvSpPr>
        <p:spPr>
          <a:xfrm>
            <a:off x="629841" y="457200"/>
            <a:ext cx="2949178" cy="160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Quattrocento Sans"/>
              <a:buNone/>
              <a:defRPr sz="32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8" name="Google Shape;58;p13"/>
          <p:cNvSpPr txBox="1">
            <a:spLocks noGrp="1"/>
          </p:cNvSpPr>
          <p:nvPr>
            <p:ph type="body" idx="1"/>
          </p:nvPr>
        </p:nvSpPr>
        <p:spPr>
          <a:xfrm>
            <a:off x="3887391" y="987426"/>
            <a:ext cx="4629150" cy="48736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4318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3200"/>
              <a:buChar char="•"/>
              <a:defRPr sz="3200"/>
            </a:lvl1pPr>
            <a:lvl2pPr marL="914400" lvl="1" indent="-406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2pPr>
            <a:lvl3pPr marL="1371600" lvl="2" indent="-381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3pPr>
            <a:lvl4pPr marL="1828800" lvl="3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4pPr>
            <a:lvl5pPr marL="2286000" lvl="4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5pPr>
            <a:lvl6pPr marL="2743200" lvl="5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6pPr>
            <a:lvl7pPr marL="3200400" lvl="6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7pPr>
            <a:lvl8pPr marL="3657600" lvl="7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8pPr>
            <a:lvl9pPr marL="4114800" lvl="8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9pPr>
          </a:lstStyle>
          <a:p>
            <a:endParaRPr/>
          </a:p>
        </p:txBody>
      </p:sp>
      <p:sp>
        <p:nvSpPr>
          <p:cNvPr id="59" name="Google Shape;59;p13"/>
          <p:cNvSpPr txBox="1">
            <a:spLocks noGrp="1"/>
          </p:cNvSpPr>
          <p:nvPr>
            <p:ph type="body" idx="2"/>
          </p:nvPr>
        </p:nvSpPr>
        <p:spPr>
          <a:xfrm>
            <a:off x="629841" y="2057400"/>
            <a:ext cx="2949178" cy="38115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9pPr>
          </a:lstStyle>
          <a:p>
            <a:endParaRPr/>
          </a:p>
        </p:txBody>
      </p:sp>
      <p:sp>
        <p:nvSpPr>
          <p:cNvPr id="60" name="Google Shape;60;p13"/>
          <p:cNvSpPr txBox="1">
            <a:spLocks noGrp="1"/>
          </p:cNvSpPr>
          <p:nvPr>
            <p:ph type="dt" idx="10"/>
          </p:nvPr>
        </p:nvSpPr>
        <p:spPr>
          <a:xfrm>
            <a:off x="38291" y="6465105"/>
            <a:ext cx="20574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1" name="Google Shape;61;p13"/>
          <p:cNvSpPr txBox="1">
            <a:spLocks noGrp="1"/>
          </p:cNvSpPr>
          <p:nvPr>
            <p:ph type="sldNum" idx="12"/>
          </p:nvPr>
        </p:nvSpPr>
        <p:spPr>
          <a:xfrm>
            <a:off x="7040236" y="6465106"/>
            <a:ext cx="20574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Picture with Caption" type="picTx">
  <p:cSld name="PICTURE_WITH_CAPTION_TEXT">
    <p:spTree>
      <p:nvGrpSpPr>
        <p:cNvPr id="1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14"/>
          <p:cNvSpPr txBox="1">
            <a:spLocks noGrp="1"/>
          </p:cNvSpPr>
          <p:nvPr>
            <p:ph type="title"/>
          </p:nvPr>
        </p:nvSpPr>
        <p:spPr>
          <a:xfrm>
            <a:off x="629841" y="457200"/>
            <a:ext cx="2949178" cy="160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Quattrocento Sans"/>
              <a:buNone/>
              <a:defRPr sz="32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4" name="Google Shape;64;p14"/>
          <p:cNvSpPr>
            <a:spLocks noGrp="1"/>
          </p:cNvSpPr>
          <p:nvPr>
            <p:ph type="pic" idx="2"/>
          </p:nvPr>
        </p:nvSpPr>
        <p:spPr>
          <a:xfrm>
            <a:off x="3887391" y="987426"/>
            <a:ext cx="4629150" cy="4873625"/>
          </a:xfrm>
          <a:prstGeom prst="rect">
            <a:avLst/>
          </a:prstGeom>
          <a:noFill/>
          <a:ln>
            <a:noFill/>
          </a:ln>
        </p:spPr>
      </p:sp>
      <p:sp>
        <p:nvSpPr>
          <p:cNvPr id="65" name="Google Shape;65;p14"/>
          <p:cNvSpPr txBox="1">
            <a:spLocks noGrp="1"/>
          </p:cNvSpPr>
          <p:nvPr>
            <p:ph type="body" idx="1"/>
          </p:nvPr>
        </p:nvSpPr>
        <p:spPr>
          <a:xfrm>
            <a:off x="629841" y="2057400"/>
            <a:ext cx="2949178" cy="38115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9pPr>
          </a:lstStyle>
          <a:p>
            <a:endParaRPr/>
          </a:p>
        </p:txBody>
      </p:sp>
      <p:sp>
        <p:nvSpPr>
          <p:cNvPr id="66" name="Google Shape;66;p14"/>
          <p:cNvSpPr txBox="1">
            <a:spLocks noGrp="1"/>
          </p:cNvSpPr>
          <p:nvPr>
            <p:ph type="dt" idx="10"/>
          </p:nvPr>
        </p:nvSpPr>
        <p:spPr>
          <a:xfrm>
            <a:off x="38291" y="6465105"/>
            <a:ext cx="20574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7" name="Google Shape;67;p14"/>
          <p:cNvSpPr txBox="1">
            <a:spLocks noGrp="1"/>
          </p:cNvSpPr>
          <p:nvPr>
            <p:ph type="sldNum" idx="12"/>
          </p:nvPr>
        </p:nvSpPr>
        <p:spPr>
          <a:xfrm>
            <a:off x="7040236" y="6465106"/>
            <a:ext cx="20574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Vertical Text" type="vertTx">
  <p:cSld name="VERTICAL_TEXT">
    <p:spTree>
      <p:nvGrpSpPr>
        <p:cNvPr id="1" name="Shape 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" name="Google Shape;69;p15"/>
          <p:cNvSpPr txBox="1">
            <a:spLocks noGrp="1"/>
          </p:cNvSpPr>
          <p:nvPr>
            <p:ph type="title"/>
          </p:nvPr>
        </p:nvSpPr>
        <p:spPr>
          <a:xfrm>
            <a:off x="866966" y="133186"/>
            <a:ext cx="7886700" cy="65219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0" name="Google Shape;70;p15"/>
          <p:cNvSpPr txBox="1">
            <a:spLocks noGrp="1"/>
          </p:cNvSpPr>
          <p:nvPr>
            <p:ph type="body" idx="1"/>
          </p:nvPr>
        </p:nvSpPr>
        <p:spPr>
          <a:xfrm rot="5400000">
            <a:off x="1982756" y="-780225"/>
            <a:ext cx="5227553" cy="879301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71" name="Google Shape;71;p15"/>
          <p:cNvSpPr txBox="1">
            <a:spLocks noGrp="1"/>
          </p:cNvSpPr>
          <p:nvPr>
            <p:ph type="dt" idx="10"/>
          </p:nvPr>
        </p:nvSpPr>
        <p:spPr>
          <a:xfrm>
            <a:off x="38291" y="6465105"/>
            <a:ext cx="20574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2" name="Google Shape;72;p15"/>
          <p:cNvSpPr txBox="1">
            <a:spLocks noGrp="1"/>
          </p:cNvSpPr>
          <p:nvPr>
            <p:ph type="sldNum" idx="12"/>
          </p:nvPr>
        </p:nvSpPr>
        <p:spPr>
          <a:xfrm>
            <a:off x="7040236" y="6465106"/>
            <a:ext cx="20574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Vertical Title and Text" type="vertTitleAndTx">
  <p:cSld name="VERTICAL_TITLE_AND_VERTICAL_TEXT">
    <p:spTree>
      <p:nvGrpSpPr>
        <p:cNvPr id="1" name="Shape 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" name="Google Shape;74;p16"/>
          <p:cNvSpPr txBox="1">
            <a:spLocks noGrp="1"/>
          </p:cNvSpPr>
          <p:nvPr>
            <p:ph type="title"/>
          </p:nvPr>
        </p:nvSpPr>
        <p:spPr>
          <a:xfrm rot="5400000">
            <a:off x="4623594" y="2285207"/>
            <a:ext cx="5811838" cy="19716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5" name="Google Shape;75;p16"/>
          <p:cNvSpPr txBox="1">
            <a:spLocks noGrp="1"/>
          </p:cNvSpPr>
          <p:nvPr>
            <p:ph type="body" idx="1"/>
          </p:nvPr>
        </p:nvSpPr>
        <p:spPr>
          <a:xfrm rot="5400000">
            <a:off x="623094" y="370681"/>
            <a:ext cx="5811838" cy="58007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76" name="Google Shape;76;p16"/>
          <p:cNvSpPr txBox="1">
            <a:spLocks noGrp="1"/>
          </p:cNvSpPr>
          <p:nvPr>
            <p:ph type="dt" idx="10"/>
          </p:nvPr>
        </p:nvSpPr>
        <p:spPr>
          <a:xfrm>
            <a:off x="38291" y="6465105"/>
            <a:ext cx="20574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7" name="Google Shape;77;p16"/>
          <p:cNvSpPr txBox="1">
            <a:spLocks noGrp="1"/>
          </p:cNvSpPr>
          <p:nvPr>
            <p:ph type="sldNum" idx="12"/>
          </p:nvPr>
        </p:nvSpPr>
        <p:spPr>
          <a:xfrm>
            <a:off x="7040236" y="6465106"/>
            <a:ext cx="20574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image" Target="../media/image1.png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5"/>
          <p:cNvSpPr txBox="1">
            <a:spLocks noGrp="1"/>
          </p:cNvSpPr>
          <p:nvPr>
            <p:ph type="title"/>
          </p:nvPr>
        </p:nvSpPr>
        <p:spPr>
          <a:xfrm>
            <a:off x="866966" y="133186"/>
            <a:ext cx="7886700" cy="65219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marR="0" lvl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Quattrocento Sans"/>
              <a:buNone/>
              <a:defRPr sz="2800" b="1" i="0" u="none" strike="noStrike" cap="none">
                <a:solidFill>
                  <a:schemeClr val="dk1"/>
                </a:solidFill>
                <a:latin typeface="Quattrocento Sans"/>
                <a:ea typeface="Quattrocento Sans"/>
                <a:cs typeface="Quattrocento Sans"/>
                <a:sym typeface="Quattrocento Sans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11" name="Google Shape;11;p5"/>
          <p:cNvSpPr txBox="1">
            <a:spLocks noGrp="1"/>
          </p:cNvSpPr>
          <p:nvPr>
            <p:ph type="body" idx="1"/>
          </p:nvPr>
        </p:nvSpPr>
        <p:spPr>
          <a:xfrm>
            <a:off x="200025" y="1002506"/>
            <a:ext cx="8793015" cy="522755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marR="0" lvl="0" indent="-4064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•"/>
              <a:defRPr sz="2800" b="0" i="0" u="none" strike="noStrike" cap="none">
                <a:solidFill>
                  <a:schemeClr val="dk1"/>
                </a:solidFill>
                <a:latin typeface="Quattrocento Sans"/>
                <a:ea typeface="Quattrocento Sans"/>
                <a:cs typeface="Quattrocento Sans"/>
                <a:sym typeface="Quattrocento Sans"/>
              </a:defRPr>
            </a:lvl1pPr>
            <a:lvl2pPr marL="914400" marR="0" lvl="1" indent="-3810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sz="2400" b="0" i="0" u="none" strike="noStrike" cap="none">
                <a:solidFill>
                  <a:schemeClr val="dk1"/>
                </a:solidFill>
                <a:latin typeface="Quattrocento Sans"/>
                <a:ea typeface="Quattrocento Sans"/>
                <a:cs typeface="Quattrocento Sans"/>
                <a:sym typeface="Quattrocento Sans"/>
              </a:defRPr>
            </a:lvl2pPr>
            <a:lvl3pPr marL="1371600" marR="0" lvl="2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Quattrocento Sans"/>
                <a:ea typeface="Quattrocento Sans"/>
                <a:cs typeface="Quattrocento Sans"/>
                <a:sym typeface="Quattrocento Sans"/>
              </a:defRPr>
            </a:lvl3pPr>
            <a:lvl4pPr marL="1828800" marR="0" lvl="3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Quattrocento Sans"/>
                <a:ea typeface="Quattrocento Sans"/>
                <a:cs typeface="Quattrocento Sans"/>
                <a:sym typeface="Quattrocento Sans"/>
              </a:defRPr>
            </a:lvl4pPr>
            <a:lvl5pPr marL="2286000" marR="0" lvl="4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Quattrocento Sans"/>
                <a:ea typeface="Quattrocento Sans"/>
                <a:cs typeface="Quattrocento Sans"/>
                <a:sym typeface="Quattrocento Sans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12" name="Google Shape;12;p5"/>
          <p:cNvSpPr txBox="1">
            <a:spLocks noGrp="1"/>
          </p:cNvSpPr>
          <p:nvPr>
            <p:ph type="dt" idx="10"/>
          </p:nvPr>
        </p:nvSpPr>
        <p:spPr>
          <a:xfrm>
            <a:off x="38291" y="6465105"/>
            <a:ext cx="20574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13" name="Google Shape;13;p5"/>
          <p:cNvSpPr txBox="1">
            <a:spLocks noGrp="1"/>
          </p:cNvSpPr>
          <p:nvPr>
            <p:ph type="sldNum" idx="12"/>
          </p:nvPr>
        </p:nvSpPr>
        <p:spPr>
          <a:xfrm>
            <a:off x="7040236" y="6465106"/>
            <a:ext cx="20574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14" name="Google Shape;14;p5"/>
          <p:cNvSpPr txBox="1"/>
          <p:nvPr/>
        </p:nvSpPr>
        <p:spPr>
          <a:xfrm>
            <a:off x="8115301" y="72097"/>
            <a:ext cx="970472" cy="30777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lang="en-US" sz="1400" b="1" i="0" u="none" strike="noStrike" cap="none">
                <a:solidFill>
                  <a:schemeClr val="dk1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2025 Fall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5" name="Google Shape;15;p5"/>
          <p:cNvSpPr/>
          <p:nvPr/>
        </p:nvSpPr>
        <p:spPr>
          <a:xfrm>
            <a:off x="46364" y="855395"/>
            <a:ext cx="9039409" cy="59616"/>
          </a:xfrm>
          <a:prstGeom prst="rect">
            <a:avLst/>
          </a:prstGeom>
          <a:solidFill>
            <a:schemeClr val="dk1"/>
          </a:solidFill>
          <a:ln w="19050" cap="flat" cmpd="sng">
            <a:solidFill>
              <a:schemeClr val="dk1"/>
            </a:solidFill>
            <a:prstDash val="solid"/>
            <a:miter lim="8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6" name="Google Shape;16;p5"/>
          <p:cNvPicPr preferRelativeResize="0"/>
          <p:nvPr/>
        </p:nvPicPr>
        <p:blipFill rotWithShape="1">
          <a:blip r:embed="rId13">
            <a:alphaModFix/>
          </a:blip>
          <a:srcRect/>
          <a:stretch/>
        </p:blipFill>
        <p:spPr>
          <a:xfrm>
            <a:off x="46365" y="18574"/>
            <a:ext cx="734686" cy="827487"/>
          </a:xfrm>
          <a:prstGeom prst="rect">
            <a:avLst/>
          </a:prstGeom>
          <a:noFill/>
          <a:ln>
            <a:noFill/>
          </a:ln>
        </p:spPr>
      </p:pic>
    </p:spTree>
  </p:cSld>
  <p:clrMap bg1="lt1" tx1="dk1" bg2="dk2" tx2="lt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.jpg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jpe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9.png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jpeg"/><Relationship Id="rId2" Type="http://schemas.openxmlformats.org/officeDocument/2006/relationships/image" Target="../media/image16.jpe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2.xml"/><Relationship Id="rId2" Type="http://schemas.openxmlformats.org/officeDocument/2006/relationships/video" Target="../media/media1.mp4"/><Relationship Id="rId1" Type="http://schemas.microsoft.com/office/2007/relationships/media" Target="../media/media1.mp4"/><Relationship Id="rId4" Type="http://schemas.openxmlformats.org/officeDocument/2006/relationships/image" Target="../media/image18.png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3" name="Google Shape;83;p1"/>
          <p:cNvSpPr txBox="1">
            <a:spLocks noGrp="1"/>
          </p:cNvSpPr>
          <p:nvPr>
            <p:ph type="ctrTitle"/>
          </p:nvPr>
        </p:nvSpPr>
        <p:spPr>
          <a:xfrm>
            <a:off x="1177505" y="1287560"/>
            <a:ext cx="6788990" cy="2387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800"/>
              <a:buFont typeface="Quattrocento Sans"/>
              <a:buNone/>
            </a:pPr>
            <a:r>
              <a:rPr lang="en-US" sz="4800" b="1"/>
              <a:t>Lab 8: </a:t>
            </a:r>
            <a:r>
              <a:rPr lang="en-US" sz="4800"/>
              <a:t>Preliminary Data Review</a:t>
            </a:r>
            <a:endParaRPr/>
          </a:p>
        </p:txBody>
      </p:sp>
      <p:sp>
        <p:nvSpPr>
          <p:cNvPr id="84" name="Google Shape;84;p1"/>
          <p:cNvSpPr txBox="1">
            <a:spLocks noGrp="1"/>
          </p:cNvSpPr>
          <p:nvPr>
            <p:ph type="subTitle" idx="1"/>
          </p:nvPr>
        </p:nvSpPr>
        <p:spPr>
          <a:xfrm>
            <a:off x="1143000" y="3429000"/>
            <a:ext cx="6858000" cy="231689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ctr" rtl="0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30"/>
              <a:buNone/>
            </a:pPr>
            <a:r>
              <a:rPr lang="en-US" sz="3630" b="1"/>
              <a:t>2/3 Body Problem</a:t>
            </a:r>
            <a:endParaRPr sz="2520"/>
          </a:p>
          <a:p>
            <a:pPr marL="0" lvl="0" indent="0" algn="ctr" rtl="0">
              <a:lnSpc>
                <a:spcPct val="7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220"/>
              <a:buNone/>
            </a:pPr>
            <a:endParaRPr sz="2520" b="1"/>
          </a:p>
          <a:p>
            <a:pPr marL="0" lvl="0" indent="0" algn="ctr" rtl="0">
              <a:lnSpc>
                <a:spcPct val="7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220"/>
              <a:buNone/>
            </a:pPr>
            <a:r>
              <a:rPr lang="en-US" sz="2520" b="1"/>
              <a:t>C2C Gowri Ramaprasad</a:t>
            </a:r>
            <a:endParaRPr sz="2520"/>
          </a:p>
          <a:p>
            <a:pPr marL="0" lvl="0" indent="0" algn="ctr" rtl="0">
              <a:lnSpc>
                <a:spcPct val="7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220"/>
              <a:buNone/>
            </a:pPr>
            <a:r>
              <a:rPr lang="en-US" sz="2520" b="1"/>
              <a:t>C2C Derek Weissinger</a:t>
            </a:r>
            <a:endParaRPr sz="2520" b="1"/>
          </a:p>
          <a:p>
            <a:pPr marL="0" lvl="0" indent="0" algn="ctr" rtl="0">
              <a:lnSpc>
                <a:spcPct val="7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220"/>
              <a:buNone/>
            </a:pPr>
            <a:r>
              <a:rPr lang="en-US" sz="2520" b="1"/>
              <a:t>C2C Owen Crawley</a:t>
            </a:r>
            <a:endParaRPr sz="2520" b="1"/>
          </a:p>
          <a:p>
            <a:pPr marL="0" lvl="0" indent="0" algn="ctr" rtl="0">
              <a:lnSpc>
                <a:spcPct val="7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220"/>
              <a:buNone/>
            </a:pPr>
            <a:endParaRPr sz="2520" b="1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" name="Google Shape;89;p3"/>
          <p:cNvSpPr txBox="1">
            <a:spLocks noGrp="1"/>
          </p:cNvSpPr>
          <p:nvPr>
            <p:ph type="title"/>
          </p:nvPr>
        </p:nvSpPr>
        <p:spPr>
          <a:xfrm>
            <a:off x="866966" y="133186"/>
            <a:ext cx="7886700" cy="65219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Quattrocento Sans"/>
              <a:buNone/>
            </a:pPr>
            <a:r>
              <a:rPr lang="en-US" dirty="0"/>
              <a:t>Overview/Objectives</a:t>
            </a:r>
            <a:endParaRPr dirty="0"/>
          </a:p>
        </p:txBody>
      </p:sp>
      <p:sp>
        <p:nvSpPr>
          <p:cNvPr id="90" name="Google Shape;90;p3"/>
          <p:cNvSpPr txBox="1">
            <a:spLocks noGrp="1"/>
          </p:cNvSpPr>
          <p:nvPr>
            <p:ph type="body" idx="1"/>
          </p:nvPr>
        </p:nvSpPr>
        <p:spPr>
          <a:xfrm>
            <a:off x="200025" y="1002506"/>
            <a:ext cx="8793015" cy="572230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457200" lvl="0" indent="-34290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800"/>
              <a:buChar char="•"/>
            </a:pPr>
            <a:r>
              <a:rPr lang="en-US" dirty="0"/>
              <a:t>Using the small air bearing table, develop a 3 degrees of freedom (3DoF) reaction wheel attitude control system.</a:t>
            </a:r>
            <a:endParaRPr dirty="0"/>
          </a:p>
          <a:p>
            <a:pPr marL="457200" lvl="0" indent="-34290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800"/>
              <a:buChar char="•"/>
            </a:pPr>
            <a:r>
              <a:rPr lang="en-US" dirty="0"/>
              <a:t>Develop a robust sensor fusion algorithm using gyroscopes, magnetometers and accelerometers to accurately determine attitude at any given state.</a:t>
            </a:r>
            <a:endParaRPr dirty="0"/>
          </a:p>
          <a:p>
            <a:pPr marL="228600" lvl="0" indent="-508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</a:pPr>
            <a:endParaRPr dirty="0"/>
          </a:p>
          <a:p>
            <a:pPr marL="685800" lvl="1" indent="-762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</a:pPr>
            <a:endParaRPr dirty="0"/>
          </a:p>
          <a:p>
            <a:pPr marL="685800" lvl="1" indent="-762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</a:pPr>
            <a:endParaRPr dirty="0"/>
          </a:p>
          <a:p>
            <a:pPr marL="685800" lvl="1" indent="-762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</a:pPr>
            <a:endParaRPr dirty="0"/>
          </a:p>
        </p:txBody>
      </p:sp>
      <p:sp>
        <p:nvSpPr>
          <p:cNvPr id="91" name="Google Shape;91;p3"/>
          <p:cNvSpPr txBox="1">
            <a:spLocks noGrp="1"/>
          </p:cNvSpPr>
          <p:nvPr>
            <p:ph type="sldNum" idx="12"/>
          </p:nvPr>
        </p:nvSpPr>
        <p:spPr>
          <a:xfrm>
            <a:off x="7040236" y="6465106"/>
            <a:ext cx="20574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</a:pPr>
            <a:fld id="{00000000-1234-1234-1234-123412341234}" type="slidenum">
              <a:rPr lang="en-US"/>
              <a:t>2</a:t>
            </a:fld>
            <a:endParaRPr/>
          </a:p>
        </p:txBody>
      </p:sp>
      <p:pic>
        <p:nvPicPr>
          <p:cNvPr id="92" name="Google Shape;92;p3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866975" y="3683750"/>
            <a:ext cx="2280799" cy="3041075"/>
          </a:xfrm>
          <a:prstGeom prst="rect">
            <a:avLst/>
          </a:prstGeom>
          <a:noFill/>
          <a:ln>
            <a:noFill/>
          </a:ln>
        </p:spPr>
      </p:pic>
      <p:pic>
        <p:nvPicPr>
          <p:cNvPr id="93" name="Google Shape;93;p3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6057900" y="3683750"/>
            <a:ext cx="2280799" cy="30410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Requirements: Verification &amp; Status</a:t>
            </a:r>
          </a:p>
        </p:txBody>
      </p:sp>
      <p:sp>
        <p:nvSpPr>
          <p:cNvPr id="91" name="Google Shape;91;p3"/>
          <p:cNvSpPr txBox="1">
            <a:spLocks noGrp="1"/>
          </p:cNvSpPr>
          <p:nvPr>
            <p:ph type="sldNum" idx="12"/>
          </p:nvPr>
        </p:nvSpPr>
        <p:spPr>
          <a:xfrm>
            <a:off x="7040236" y="6465106"/>
            <a:ext cx="20574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</a:pPr>
            <a:fld id="{00000000-1234-1234-1234-123412341234}" type="slidenum">
              <a:rPr lang="en-US"/>
              <a:t>3</a:t>
            </a:fld>
            <a:endParaRPr/>
          </a:p>
        </p:txBody>
      </p:sp>
      <p:graphicFrame>
        <p:nvGraphicFramePr>
          <p:cNvPr id="92" name="Table 9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984673067"/>
              </p:ext>
            </p:extLst>
          </p:nvPr>
        </p:nvGraphicFramePr>
        <p:xfrm>
          <a:off x="274320" y="1005840"/>
          <a:ext cx="8595360" cy="457200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0574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7033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83464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914400">
                <a:tc>
                  <a:txBody>
                    <a:bodyPr/>
                    <a:lstStyle/>
                    <a:p>
                      <a:r>
                        <a:rPr sz="1350" b="1">
                          <a:solidFill>
                            <a:srgbClr val="FFFFFF"/>
                          </a:solidFill>
                          <a:latin typeface="Quattrocento Sans"/>
                        </a:rPr>
                        <a:t>Requirement</a:t>
                      </a:r>
                    </a:p>
                  </a:txBody>
                  <a:tcPr marL="54864" marR="54864" marT="27432" marB="27432" anchor="ctr">
                    <a:solidFill>
                      <a:srgbClr val="40404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50" b="1">
                          <a:solidFill>
                            <a:srgbClr val="FFFFFF"/>
                          </a:solidFill>
                          <a:latin typeface="Quattrocento Sans"/>
                        </a:rPr>
                        <a:t>Verification method / pass criterion</a:t>
                      </a:r>
                    </a:p>
                  </a:txBody>
                  <a:tcPr marL="54864" marR="54864" marT="27432" marB="27432" anchor="ctr">
                    <a:solidFill>
                      <a:srgbClr val="40404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50" b="1">
                          <a:solidFill>
                            <a:srgbClr val="FFFFFF"/>
                          </a:solidFill>
                          <a:latin typeface="Quattrocento Sans"/>
                        </a:rPr>
                        <a:t>Status at review</a:t>
                      </a:r>
                    </a:p>
                  </a:txBody>
                  <a:tcPr marL="54864" marR="54864" marT="27432" marB="27432" anchor="ctr">
                    <a:solidFill>
                      <a:srgbClr val="40404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914400"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000000"/>
                          </a:solidFill>
                          <a:latin typeface="Quattrocento Sans"/>
                        </a:rPr>
                        <a:t>(1) Hold heading, no visible jitter or drift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0" dirty="0">
                          <a:solidFill>
                            <a:srgbClr val="000000"/>
                          </a:solidFill>
                          <a:latin typeface="Quattrocento Sans"/>
                        </a:rPr>
                        <a:t>ARM on the free-floating table, hold yaw = 0 for </a:t>
                      </a:r>
                      <a:r>
                        <a:rPr lang="en-US" sz="1250" b="0" dirty="0">
                          <a:solidFill>
                            <a:srgbClr val="000000"/>
                          </a:solidFill>
                          <a:latin typeface="Quattrocento Sans"/>
                        </a:rPr>
                        <a:t>1</a:t>
                      </a:r>
                      <a:r>
                        <a:rPr sz="1250" b="0" dirty="0">
                          <a:solidFill>
                            <a:srgbClr val="000000"/>
                          </a:solidFill>
                          <a:latin typeface="Quattrocento Sans"/>
                        </a:rPr>
                        <a:t> min, log attitude. Pass: |yaw error| &lt; 1°, no visible </a:t>
                      </a:r>
                      <a:r>
                        <a:rPr lang="en-US" sz="1250" b="0" dirty="0">
                          <a:solidFill>
                            <a:srgbClr val="000000"/>
                          </a:solidFill>
                          <a:latin typeface="Quattrocento Sans"/>
                        </a:rPr>
                        <a:t>jitter</a:t>
                      </a:r>
                      <a:endParaRPr sz="1250" b="0" dirty="0">
                        <a:solidFill>
                          <a:srgbClr val="000000"/>
                        </a:solidFill>
                        <a:latin typeface="Quattrocento Sans"/>
                      </a:endParaRP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0" dirty="0">
                          <a:solidFill>
                            <a:srgbClr val="000000"/>
                          </a:solidFill>
                          <a:latin typeface="Quattrocento Sans"/>
                        </a:rPr>
                        <a:t>In progress: controller built and simulated; closed-loop test </a:t>
                      </a:r>
                      <a:r>
                        <a:rPr lang="en-US" sz="1250" b="0" dirty="0">
                          <a:solidFill>
                            <a:srgbClr val="000000"/>
                          </a:solidFill>
                          <a:latin typeface="Quattrocento Sans"/>
                        </a:rPr>
                        <a:t>awaiting table balance</a:t>
                      </a:r>
                      <a:endParaRPr sz="1250" b="0" dirty="0">
                        <a:solidFill>
                          <a:srgbClr val="000000"/>
                        </a:solidFill>
                        <a:latin typeface="Quattrocento Sans"/>
                      </a:endParaRP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914400"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000000"/>
                          </a:solidFill>
                          <a:latin typeface="Quattrocento Sans"/>
                        </a:rPr>
                        <a:t>(2) Attitude ±1° in all 3 axes</a:t>
                      </a:r>
                    </a:p>
                  </a:txBody>
                  <a:tcPr marL="54864" marR="54864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250" b="0" dirty="0">
                          <a:solidFill>
                            <a:srgbClr val="000000"/>
                          </a:solidFill>
                          <a:latin typeface="Quattrocento Sans"/>
                        </a:rPr>
                        <a:t>Steady measured EKF attitude for roll and pitch,</a:t>
                      </a:r>
                      <a:r>
                        <a:rPr sz="1250" b="0" dirty="0">
                          <a:solidFill>
                            <a:srgbClr val="000000"/>
                          </a:solidFill>
                          <a:latin typeface="Quattrocento Sans"/>
                        </a:rPr>
                        <a:t> magnetometer + marked turns </a:t>
                      </a:r>
                      <a:r>
                        <a:rPr lang="en-US" sz="1250" b="0" dirty="0">
                          <a:solidFill>
                            <a:srgbClr val="000000"/>
                          </a:solidFill>
                          <a:latin typeface="Quattrocento Sans"/>
                        </a:rPr>
                        <a:t>for yaw</a:t>
                      </a:r>
                      <a:r>
                        <a:rPr sz="1250" b="0" dirty="0">
                          <a:solidFill>
                            <a:srgbClr val="000000"/>
                          </a:solidFill>
                          <a:latin typeface="Quattrocento Sans"/>
                        </a:rPr>
                        <a:t>. Pass: error &lt; 1° over the run</a:t>
                      </a:r>
                    </a:p>
                  </a:txBody>
                  <a:tcPr marL="54864" marR="54864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0" dirty="0">
                          <a:solidFill>
                            <a:srgbClr val="000000"/>
                          </a:solidFill>
                          <a:latin typeface="Quattrocento Sans"/>
                        </a:rPr>
                        <a:t>Roll/pitch verified at rest (σ = 0.02°). Yaw: 3 °/h after warm-up (replay); moving-table test next</a:t>
                      </a:r>
                    </a:p>
                  </a:txBody>
                  <a:tcPr marL="54864" marR="54864" marT="27432" marB="27432" anchor="ctr"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914400"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000000"/>
                          </a:solidFill>
                          <a:latin typeface="Quattrocento Sans"/>
                        </a:rPr>
                        <a:t>(3) Detect wheel failure and compensate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0" dirty="0">
                          <a:solidFill>
                            <a:srgbClr val="000000"/>
                          </a:solidFill>
                          <a:latin typeface="Quattrocento Sans"/>
                        </a:rPr>
                        <a:t>Disable a wheel (command or unplug) during a </a:t>
                      </a:r>
                      <a:r>
                        <a:rPr lang="en-US" sz="1250" b="0" dirty="0">
                          <a:solidFill>
                            <a:srgbClr val="000000"/>
                          </a:solidFill>
                          <a:latin typeface="Quattrocento Sans"/>
                        </a:rPr>
                        <a:t>maneuver</a:t>
                      </a:r>
                      <a:r>
                        <a:rPr sz="1250" b="0" dirty="0">
                          <a:solidFill>
                            <a:srgbClr val="000000"/>
                          </a:solidFill>
                          <a:latin typeface="Quattrocento Sans"/>
                        </a:rPr>
                        <a:t>. Pass: fault flagged &lt; 1 s and (1), (2) still met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0" dirty="0">
                          <a:solidFill>
                            <a:srgbClr val="000000"/>
                          </a:solidFill>
                          <a:latin typeface="Quattrocento Sans"/>
                        </a:rPr>
                        <a:t>In progress: 3-wheel allocation implemented; detection not started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914400">
                <a:tc>
                  <a:txBody>
                    <a:bodyPr/>
                    <a:lstStyle/>
                    <a:p>
                      <a:r>
                        <a:rPr sz="1250" b="0" dirty="0">
                          <a:solidFill>
                            <a:srgbClr val="000000"/>
                          </a:solidFill>
                          <a:latin typeface="Quattrocento Sans"/>
                        </a:rPr>
                        <a:t>Stretch: 4-attitude optimal slew</a:t>
                      </a:r>
                      <a:r>
                        <a:rPr lang="en-US" sz="1250" b="0" dirty="0">
                          <a:solidFill>
                            <a:srgbClr val="000000"/>
                          </a:solidFill>
                          <a:latin typeface="Quattrocento Sans"/>
                        </a:rPr>
                        <a:t> and hold</a:t>
                      </a:r>
                      <a:endParaRPr sz="1250" b="0" dirty="0">
                        <a:solidFill>
                          <a:srgbClr val="000000"/>
                        </a:solidFill>
                        <a:latin typeface="Quattrocento Sans"/>
                      </a:endParaRPr>
                    </a:p>
                  </a:txBody>
                  <a:tcPr marL="54864" marR="54864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0" dirty="0">
                          <a:solidFill>
                            <a:srgbClr val="000000"/>
                          </a:solidFill>
                          <a:latin typeface="Quattrocento Sans"/>
                        </a:rPr>
                        <a:t>Command 4 </a:t>
                      </a:r>
                      <a:r>
                        <a:rPr lang="en-US" sz="1250" b="0" dirty="0">
                          <a:solidFill>
                            <a:srgbClr val="000000"/>
                          </a:solidFill>
                          <a:latin typeface="Quattrocento Sans"/>
                        </a:rPr>
                        <a:t>points</a:t>
                      </a:r>
                      <a:r>
                        <a:rPr sz="1250" b="0" dirty="0">
                          <a:solidFill>
                            <a:srgbClr val="000000"/>
                          </a:solidFill>
                          <a:latin typeface="Quattrocento Sans"/>
                        </a:rPr>
                        <a:t> along quaternion (shortest) paths. Pass: each reached </a:t>
                      </a:r>
                      <a:r>
                        <a:rPr lang="en-US" sz="1250" b="0" dirty="0">
                          <a:solidFill>
                            <a:srgbClr val="000000"/>
                          </a:solidFill>
                          <a:latin typeface="Quattrocento Sans"/>
                        </a:rPr>
                        <a:t>and held for 5 s </a:t>
                      </a:r>
                      <a:r>
                        <a:rPr sz="1250" b="0" dirty="0">
                          <a:solidFill>
                            <a:srgbClr val="000000"/>
                          </a:solidFill>
                          <a:latin typeface="Quattrocento Sans"/>
                        </a:rPr>
                        <a:t>within ±1°</a:t>
                      </a:r>
                    </a:p>
                  </a:txBody>
                  <a:tcPr marL="54864" marR="54864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250" b="0" dirty="0">
                          <a:solidFill>
                            <a:srgbClr val="000000"/>
                          </a:solidFill>
                          <a:latin typeface="Quattrocento Sans"/>
                        </a:rPr>
                        <a:t>In progress: </a:t>
                      </a:r>
                      <a:r>
                        <a:rPr sz="1250" b="0" dirty="0">
                          <a:solidFill>
                            <a:srgbClr val="000000"/>
                          </a:solidFill>
                          <a:latin typeface="Quattrocento Sans"/>
                        </a:rPr>
                        <a:t>DEMO SPIN</a:t>
                      </a:r>
                      <a:r>
                        <a:rPr lang="en-US" sz="1250" b="0" dirty="0">
                          <a:solidFill>
                            <a:srgbClr val="000000"/>
                          </a:solidFill>
                          <a:latin typeface="Quattrocento Sans"/>
                        </a:rPr>
                        <a:t> optimal</a:t>
                      </a:r>
                      <a:r>
                        <a:rPr sz="1250" b="0" dirty="0">
                          <a:solidFill>
                            <a:srgbClr val="000000"/>
                          </a:solidFill>
                          <a:latin typeface="Quattrocento Sans"/>
                        </a:rPr>
                        <a:t> trajectory generator is reusable</a:t>
                      </a:r>
                    </a:p>
                  </a:txBody>
                  <a:tcPr marL="54864" marR="54864" marT="27432" marB="27432" anchor="ctr"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h1e1805356538ab88_0_0"/>
          <p:cNvSpPr txBox="1">
            <a:spLocks noGrp="1"/>
          </p:cNvSpPr>
          <p:nvPr>
            <p:ph type="title"/>
          </p:nvPr>
        </p:nvSpPr>
        <p:spPr>
          <a:xfrm>
            <a:off x="866966" y="133186"/>
            <a:ext cx="7886700" cy="652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Quattrocento Sans"/>
              <a:buNone/>
            </a:pPr>
            <a:r>
              <a:rPr lang="en-US"/>
              <a:t>Theory: Estimation &amp; Control Loop</a:t>
            </a:r>
            <a:endParaRPr/>
          </a:p>
        </p:txBody>
      </p:sp>
      <p:sp>
        <p:nvSpPr>
          <p:cNvPr id="107" name="Google Shape;107;h1e1805356538ab88_0_0"/>
          <p:cNvSpPr txBox="1">
            <a:spLocks noGrp="1"/>
          </p:cNvSpPr>
          <p:nvPr>
            <p:ph type="sldNum" idx="12"/>
          </p:nvPr>
        </p:nvSpPr>
        <p:spPr>
          <a:xfrm>
            <a:off x="7040236" y="6465106"/>
            <a:ext cx="20574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</a:pPr>
            <a:fld id="{00000000-1234-1234-1234-123412341234}" type="slidenum">
              <a:rPr lang="en-US"/>
              <a:t>4</a:t>
            </a:fld>
            <a:endParaRPr/>
          </a:p>
        </p:txBody>
      </p:sp>
      <p:pic>
        <p:nvPicPr>
          <p:cNvPr id="108" name="Picture 107" descr="diag_control_loop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4320" y="896112"/>
            <a:ext cx="8595360" cy="3154680"/>
          </a:xfrm>
          <a:prstGeom prst="rect">
            <a:avLst/>
          </a:prstGeom>
        </p:spPr>
      </p:pic>
      <p:sp>
        <p:nvSpPr>
          <p:cNvPr id="109" name="TextBox 108"/>
          <p:cNvSpPr txBox="1"/>
          <p:nvPr/>
        </p:nvSpPr>
        <p:spPr>
          <a:xfrm>
            <a:off x="274320" y="4160520"/>
            <a:ext cx="8595360" cy="1999009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marL="300000" indent="-228600">
              <a:lnSpc>
                <a:spcPct val="95000"/>
              </a:lnSpc>
              <a:spcBef>
                <a:spcPts val="700"/>
              </a:spcBef>
              <a:buChar char="•"/>
            </a:pPr>
            <a:r>
              <a:rPr sz="1600" b="0" dirty="0">
                <a:latin typeface="Quattrocento Sans"/>
              </a:rPr>
              <a:t>Multiplicative EKF on the Teensy: 6 error states (3 attitude + 3 gyro bias), attitude kept as a quaternion</a:t>
            </a:r>
          </a:p>
          <a:p>
            <a:pPr marL="300000" indent="-228600">
              <a:lnSpc>
                <a:spcPct val="95000"/>
              </a:lnSpc>
              <a:spcBef>
                <a:spcPts val="700"/>
              </a:spcBef>
              <a:buChar char="•"/>
            </a:pPr>
            <a:r>
              <a:rPr sz="1600" b="0" dirty="0">
                <a:latin typeface="Quattrocento Sans"/>
              </a:rPr>
              <a:t>Predict at 100 Hz with the gyro; update with the accelerometer (gravity direction) → corrects roll and pitch; rejects when |a| is not ≈ 1 g (accelerating)</a:t>
            </a:r>
          </a:p>
          <a:p>
            <a:pPr marL="300000" indent="-228600">
              <a:lnSpc>
                <a:spcPct val="95000"/>
              </a:lnSpc>
              <a:spcBef>
                <a:spcPts val="700"/>
              </a:spcBef>
              <a:buChar char="•"/>
            </a:pPr>
            <a:r>
              <a:rPr sz="1600" b="0" dirty="0">
                <a:latin typeface="Quattrocento Sans"/>
              </a:rPr>
              <a:t>Yaw is gyro-only: gravity carries no heading, and the magnetometer is disturbed by the wheel motors (see Data). The z-gyro bias comes from a 60–180 s calibration at rest</a:t>
            </a:r>
          </a:p>
          <a:p>
            <a:pPr marL="300000" indent="-228600">
              <a:lnSpc>
                <a:spcPct val="95000"/>
              </a:lnSpc>
              <a:spcBef>
                <a:spcPts val="700"/>
              </a:spcBef>
              <a:buChar char="•"/>
            </a:pPr>
            <a:r>
              <a:rPr sz="1600" b="0" dirty="0">
                <a:latin typeface="Quattrocento Sans"/>
              </a:rPr>
              <a:t>Frames: body z up, x = roll, y = pitch (right-handed); q maps inertial → body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Theory: Control Law &amp; Wheel Allocation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01168" y="914400"/>
            <a:ext cx="5074920" cy="5440680"/>
          </a:xfrm>
        </p:spPr>
        <p:txBody>
          <a:bodyPr wrap="square">
            <a:normAutofit/>
          </a:bodyPr>
          <a:lstStyle/>
          <a:p>
            <a:pPr marL="300000" indent="-228600">
              <a:lnSpc>
                <a:spcPct val="95000"/>
              </a:lnSpc>
              <a:spcBef>
                <a:spcPts val="1000"/>
              </a:spcBef>
              <a:buChar char="•"/>
            </a:pPr>
            <a:r>
              <a:rPr sz="1700" b="1" dirty="0"/>
              <a:t>Quaternion PD with feed-forward:</a:t>
            </a:r>
          </a:p>
          <a:p>
            <a:pPr marL="300000" indent="0">
              <a:lnSpc>
                <a:spcPct val="95000"/>
              </a:lnSpc>
              <a:spcBef>
                <a:spcPts val="400"/>
              </a:spcBef>
              <a:buNone/>
            </a:pPr>
            <a:r>
              <a:rPr sz="1550" b="0" i="1" dirty="0"/>
              <a:t>τ = −</a:t>
            </a:r>
            <a:r>
              <a:rPr sz="1550" b="0" i="1" dirty="0" err="1"/>
              <a:t>Kp</a:t>
            </a:r>
            <a:r>
              <a:rPr sz="1550" b="0" i="1" dirty="0"/>
              <a:t> θₑ − </a:t>
            </a:r>
            <a:r>
              <a:rPr sz="1550" b="0" i="1" dirty="0" err="1"/>
              <a:t>Kd</a:t>
            </a:r>
            <a:r>
              <a:rPr sz="1550" b="0" i="1" dirty="0"/>
              <a:t> (ω − </a:t>
            </a:r>
            <a:r>
              <a:rPr sz="1550" b="0" i="1" dirty="0" err="1"/>
              <a:t>ω_ref</a:t>
            </a:r>
            <a:r>
              <a:rPr sz="1550" b="0" i="1" dirty="0"/>
              <a:t>) + I α_ref + ω × (</a:t>
            </a:r>
            <a:r>
              <a:rPr sz="1550" b="0" i="1" dirty="0" err="1"/>
              <a:t>Iω</a:t>
            </a:r>
            <a:r>
              <a:rPr sz="1550" b="0" i="1" dirty="0"/>
              <a:t> + </a:t>
            </a:r>
            <a:r>
              <a:rPr sz="1550" b="0" i="1" dirty="0" err="1"/>
              <a:t>h_w</a:t>
            </a:r>
            <a:r>
              <a:rPr sz="1550" b="0" i="1" dirty="0"/>
              <a:t>)</a:t>
            </a:r>
          </a:p>
          <a:p>
            <a:pPr marL="351400" indent="0">
              <a:lnSpc>
                <a:spcPct val="95000"/>
              </a:lnSpc>
              <a:spcBef>
                <a:spcPts val="1000"/>
              </a:spcBef>
              <a:buNone/>
            </a:pPr>
            <a:r>
              <a:rPr sz="1500" b="0" dirty="0" err="1"/>
              <a:t>Kp</a:t>
            </a:r>
            <a:r>
              <a:rPr sz="1500" b="0" dirty="0"/>
              <a:t> = I ωₙ², </a:t>
            </a:r>
            <a:r>
              <a:rPr sz="1500" b="0" dirty="0" err="1"/>
              <a:t>Kd</a:t>
            </a:r>
            <a:r>
              <a:rPr sz="1500" b="0" dirty="0"/>
              <a:t> = 2ζ I ωₙ (</a:t>
            </a:r>
            <a:r>
              <a:rPr lang="en-US" sz="1500" dirty="0"/>
              <a:t>ref. Engr 341 2</a:t>
            </a:r>
            <a:r>
              <a:rPr lang="en-US" sz="1500" baseline="30000" dirty="0"/>
              <a:t>nd</a:t>
            </a:r>
            <a:r>
              <a:rPr lang="en-US" sz="1500" dirty="0"/>
              <a:t>-order system, </a:t>
            </a:r>
            <a:r>
              <a:rPr sz="1500" b="0" dirty="0"/>
              <a:t>ωₙ = 2 rad/s, ζ = 0.9</a:t>
            </a:r>
            <a:r>
              <a:rPr lang="en-US" sz="1500" b="0" dirty="0"/>
              <a:t>)</a:t>
            </a:r>
            <a:endParaRPr sz="1500" b="0" dirty="0"/>
          </a:p>
          <a:p>
            <a:pPr marL="300000" indent="-228600">
              <a:lnSpc>
                <a:spcPct val="95000"/>
              </a:lnSpc>
              <a:spcBef>
                <a:spcPts val="1000"/>
              </a:spcBef>
              <a:buChar char="•"/>
            </a:pPr>
            <a:r>
              <a:rPr sz="1700" b="0" dirty="0"/>
              <a:t>4 wheels in a 45° pyramid: any 3 still span all axes → the basis for wheel-failure tolerance (Req. 3)</a:t>
            </a:r>
          </a:p>
          <a:p>
            <a:pPr marL="300000" indent="-228600">
              <a:lnSpc>
                <a:spcPct val="95000"/>
              </a:lnSpc>
              <a:spcBef>
                <a:spcPts val="1000"/>
              </a:spcBef>
              <a:buChar char="•"/>
            </a:pPr>
            <a:r>
              <a:rPr sz="1700" b="0" dirty="0"/>
              <a:t>Minimum-norm allocation u = −</a:t>
            </a:r>
            <a:r>
              <a:rPr sz="1700" b="0" dirty="0" err="1"/>
              <a:t>D⁺τ</a:t>
            </a:r>
            <a:r>
              <a:rPr sz="1700" b="0" dirty="0"/>
              <a:t> over the enabled wheels; the 4th-wheel null mode [+1, −1, +1, −1] holds a bias speed</a:t>
            </a:r>
            <a:endParaRPr lang="en-US" sz="1700" b="0" dirty="0"/>
          </a:p>
          <a:p>
            <a:pPr marL="300000" indent="-228600">
              <a:lnSpc>
                <a:spcPct val="95000"/>
              </a:lnSpc>
              <a:spcBef>
                <a:spcPts val="1000"/>
              </a:spcBef>
              <a:buChar char="•"/>
            </a:pPr>
            <a:r>
              <a:rPr sz="1700" b="0" dirty="0"/>
              <a:t>Inner loop: 100 Hz wheel-speed PI with a back-EMF current limit (2.5 A, no current sensor)</a:t>
            </a:r>
          </a:p>
          <a:p>
            <a:pPr marL="300000" indent="-228600">
              <a:lnSpc>
                <a:spcPct val="95000"/>
              </a:lnSpc>
              <a:spcBef>
                <a:spcPts val="1000"/>
              </a:spcBef>
              <a:buChar char="•"/>
            </a:pPr>
            <a:r>
              <a:rPr sz="1700" b="0" dirty="0"/>
              <a:t>Physics limit: wheels cannot dump momentum. </a:t>
            </a:r>
          </a:p>
        </p:txBody>
      </p:sp>
      <p:sp>
        <p:nvSpPr>
          <p:cNvPr id="91" name="Google Shape;91;p3"/>
          <p:cNvSpPr txBox="1">
            <a:spLocks noGrp="1"/>
          </p:cNvSpPr>
          <p:nvPr>
            <p:ph type="sldNum" idx="12"/>
          </p:nvPr>
        </p:nvSpPr>
        <p:spPr>
          <a:xfrm>
            <a:off x="7040236" y="6465106"/>
            <a:ext cx="20574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</a:pPr>
            <a:fld id="{00000000-1234-1234-1234-123412341234}" type="slidenum">
              <a:rPr lang="en-US"/>
              <a:t>5</a:t>
            </a:fld>
            <a:endParaRPr/>
          </a:p>
        </p:txBody>
      </p:sp>
      <p:pic>
        <p:nvPicPr>
          <p:cNvPr id="92" name="Picture 91" descr="diag_wheel_pyrami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49240" y="1463040"/>
            <a:ext cx="3611880" cy="2045523"/>
          </a:xfrm>
          <a:prstGeom prst="rect">
            <a:avLst/>
          </a:prstGeom>
        </p:spPr>
      </p:pic>
      <p:sp>
        <p:nvSpPr>
          <p:cNvPr id="93" name="TextBox 92"/>
          <p:cNvSpPr txBox="1"/>
          <p:nvPr/>
        </p:nvSpPr>
        <p:spPr>
          <a:xfrm>
            <a:off x="5349240" y="3657600"/>
            <a:ext cx="3611880" cy="1463040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marL="0" indent="0">
              <a:lnSpc>
                <a:spcPct val="95000"/>
              </a:lnSpc>
              <a:spcBef>
                <a:spcPts val="400"/>
              </a:spcBef>
              <a:buNone/>
            </a:pPr>
            <a:r>
              <a:rPr sz="1250" b="0">
                <a:latin typeface="Quattrocento Sans"/>
              </a:rPr>
              <a:t>Wheel J = 3.06×10⁻⁴ kg·m² (CAD); table I ≈ 0.062 kg·m² (model)</a:t>
            </a:r>
          </a:p>
          <a:p>
            <a:pPr marL="0" indent="0">
              <a:lnSpc>
                <a:spcPct val="95000"/>
              </a:lnSpc>
              <a:spcBef>
                <a:spcPts val="400"/>
              </a:spcBef>
              <a:buNone/>
            </a:pPr>
            <a:r>
              <a:rPr sz="1250" b="0">
                <a:latin typeface="Quattrocento Sans"/>
              </a:rPr>
              <a:t>Speed limit 60 rad/s → ≈ 24 mN·m·s per tilt axis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h1e1805356538ab88_0_6"/>
          <p:cNvSpPr txBox="1">
            <a:spLocks noGrp="1"/>
          </p:cNvSpPr>
          <p:nvPr>
            <p:ph type="title"/>
          </p:nvPr>
        </p:nvSpPr>
        <p:spPr>
          <a:xfrm>
            <a:off x="866966" y="133186"/>
            <a:ext cx="7886700" cy="652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Quattrocento Sans"/>
              <a:buNone/>
            </a:pPr>
            <a:r>
              <a:rPr lang="en-US" dirty="0"/>
              <a:t>Build Progress: Hardware</a:t>
            </a:r>
            <a:endParaRPr dirty="0"/>
          </a:p>
        </p:txBody>
      </p:sp>
      <p:sp>
        <p:nvSpPr>
          <p:cNvPr id="114" name="Google Shape;114;h1e1805356538ab88_0_6"/>
          <p:cNvSpPr txBox="1">
            <a:spLocks noGrp="1"/>
          </p:cNvSpPr>
          <p:nvPr>
            <p:ph type="sldNum" idx="12"/>
          </p:nvPr>
        </p:nvSpPr>
        <p:spPr>
          <a:xfrm>
            <a:off x="7040236" y="6465106"/>
            <a:ext cx="20574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</a:pPr>
            <a:fld id="{00000000-1234-1234-1234-123412341234}" type="slidenum">
              <a:rPr lang="en-US"/>
              <a:t>6</a:t>
            </a:fld>
            <a:endParaRPr/>
          </a:p>
        </p:txBody>
      </p:sp>
      <p:pic>
        <p:nvPicPr>
          <p:cNvPr id="115" name="Picture 114" descr="diag_hardwar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4320" y="896112"/>
            <a:ext cx="8595360" cy="3657600"/>
          </a:xfrm>
          <a:prstGeom prst="rect">
            <a:avLst/>
          </a:prstGeom>
        </p:spPr>
      </p:pic>
      <p:sp>
        <p:nvSpPr>
          <p:cNvPr id="116" name="TextBox 115"/>
          <p:cNvSpPr txBox="1"/>
          <p:nvPr/>
        </p:nvSpPr>
        <p:spPr>
          <a:xfrm>
            <a:off x="274320" y="4617720"/>
            <a:ext cx="8595360" cy="1342675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marL="300000" indent="-228600">
              <a:lnSpc>
                <a:spcPct val="95000"/>
              </a:lnSpc>
              <a:spcBef>
                <a:spcPts val="600"/>
              </a:spcBef>
              <a:buChar char="•"/>
            </a:pPr>
            <a:r>
              <a:rPr sz="1500" b="0" dirty="0">
                <a:latin typeface="Quattrocento Sans"/>
              </a:rPr>
              <a:t>Power system: separate </a:t>
            </a:r>
            <a:r>
              <a:rPr lang="en-US" sz="1500" b="0" dirty="0">
                <a:latin typeface="Quattrocento Sans"/>
              </a:rPr>
              <a:t>5V </a:t>
            </a:r>
            <a:r>
              <a:rPr sz="1500" b="0" dirty="0">
                <a:latin typeface="Quattrocento Sans"/>
              </a:rPr>
              <a:t>logic pack, one 12 V pack per wheel, low-side motor switch, star ground, bench wiring sheet</a:t>
            </a:r>
          </a:p>
          <a:p>
            <a:pPr marL="300000" indent="-228600">
              <a:lnSpc>
                <a:spcPct val="95000"/>
              </a:lnSpc>
              <a:spcBef>
                <a:spcPts val="600"/>
              </a:spcBef>
              <a:buChar char="•"/>
            </a:pPr>
            <a:r>
              <a:rPr sz="1500" b="0" dirty="0">
                <a:latin typeface="Quattrocento Sans"/>
              </a:rPr>
              <a:t>Verified on the table: pin map and encoder wiring corrected, wheel/encoder signs set; gearboxes found to be 6.3:1, not 10:1 (hand-turn encoder counts)</a:t>
            </a:r>
          </a:p>
          <a:p>
            <a:pPr marL="300000" indent="-228600">
              <a:lnSpc>
                <a:spcPct val="95000"/>
              </a:lnSpc>
              <a:spcBef>
                <a:spcPts val="600"/>
              </a:spcBef>
              <a:buChar char="•"/>
            </a:pPr>
            <a:r>
              <a:rPr sz="1500" b="0" dirty="0">
                <a:latin typeface="Quattrocento Sans"/>
              </a:rPr>
              <a:t>Added IMU data-ready (INT) and reset (RST) wires → reliable data</a:t>
            </a:r>
            <a:r>
              <a:rPr lang="en-US" sz="1500" b="0" dirty="0">
                <a:latin typeface="Quattrocento Sans"/>
              </a:rPr>
              <a:t> at 100 Hz</a:t>
            </a:r>
            <a:endParaRPr sz="1500" b="0" dirty="0">
              <a:latin typeface="Quattrocento Sans"/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53C7459-B7DA-A256-5DBC-3AE9FFF61D5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Build Progress: Hardware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6B65AA0E-6B38-9533-7212-DE4E578347F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2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06342" y="2540016"/>
            <a:ext cx="3348508" cy="2170456"/>
          </a:xfrm>
          <a:prstGeom prst="rect">
            <a:avLst/>
          </a:prstGeom>
        </p:spPr>
      </p:pic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5D085C1-AA9C-29C3-F1E0-2F4B25557EFE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mtClean="0"/>
              <a:t>7</a:t>
            </a:fld>
            <a:endParaRPr lang="en-US"/>
          </a:p>
        </p:txBody>
      </p:sp>
      <p:pic>
        <p:nvPicPr>
          <p:cNvPr id="12" name="Picture 11">
            <a:extLst>
              <a:ext uri="{FF2B5EF4-FFF2-40B4-BE49-F238E27FC236}">
                <a16:creationId xmlns:a16="http://schemas.microsoft.com/office/drawing/2014/main" id="{611B78DB-089E-69E3-DC83-6BFC4E5D62EC}"/>
              </a:ext>
            </a:extLst>
          </p:cNvPr>
          <p:cNvPicPr>
            <a:picLocks noChangeAspect="1"/>
          </p:cNvPicPr>
          <p:nvPr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3737324" y="2009005"/>
            <a:ext cx="2377425" cy="3169899"/>
          </a:xfrm>
          <a:prstGeom prst="rect">
            <a:avLst/>
          </a:prstGeom>
        </p:spPr>
      </p:pic>
      <p:pic>
        <p:nvPicPr>
          <p:cNvPr id="14" name="Picture 13">
            <a:extLst>
              <a:ext uri="{FF2B5EF4-FFF2-40B4-BE49-F238E27FC236}">
                <a16:creationId xmlns:a16="http://schemas.microsoft.com/office/drawing/2014/main" id="{CC862525-2BF7-5F35-3DB3-63BF813D587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251341" y="2040295"/>
            <a:ext cx="2680153" cy="3169899"/>
          </a:xfrm>
          <a:prstGeom prst="rect">
            <a:avLst/>
          </a:prstGeom>
        </p:spPr>
      </p:pic>
      <p:sp>
        <p:nvSpPr>
          <p:cNvPr id="16" name="Caption: Battery Holder Detail"/>
          <p:cNvSpPr txBox="1"/>
          <p:nvPr/>
        </p:nvSpPr>
        <p:spPr>
          <a:xfrm>
            <a:off x="3943867" y="5329597"/>
            <a:ext cx="1964338" cy="24622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600" dirty="0">
                <a:solidFill>
                  <a:srgbClr val="000000"/>
                </a:solidFill>
                <a:latin typeface="Quattrocento Sans"/>
              </a:rPr>
              <a:t>Battery Holder Detail</a:t>
            </a:r>
          </a:p>
        </p:txBody>
      </p:sp>
      <p:sp>
        <p:nvSpPr>
          <p:cNvPr id="17" name="Caption: Battery Holder CAD"/>
          <p:cNvSpPr txBox="1"/>
          <p:nvPr/>
        </p:nvSpPr>
        <p:spPr>
          <a:xfrm>
            <a:off x="6484184" y="5329596"/>
            <a:ext cx="2214466" cy="24622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600" dirty="0">
                <a:solidFill>
                  <a:srgbClr val="000000"/>
                </a:solidFill>
                <a:latin typeface="Quattrocento Sans"/>
              </a:rPr>
              <a:t>Battery Holder CAD</a:t>
            </a:r>
          </a:p>
        </p:txBody>
      </p:sp>
      <p:sp>
        <p:nvSpPr>
          <p:cNvPr id="7" name="Caption: Battery Holder Detail">
            <a:extLst>
              <a:ext uri="{FF2B5EF4-FFF2-40B4-BE49-F238E27FC236}">
                <a16:creationId xmlns:a16="http://schemas.microsoft.com/office/drawing/2014/main" id="{81333CB7-D781-A4FA-4DFA-D17716E54430}"/>
              </a:ext>
            </a:extLst>
          </p:cNvPr>
          <p:cNvSpPr txBox="1"/>
          <p:nvPr/>
        </p:nvSpPr>
        <p:spPr>
          <a:xfrm>
            <a:off x="798427" y="4840576"/>
            <a:ext cx="1964338" cy="24622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lang="en-US" sz="1600" dirty="0">
                <a:solidFill>
                  <a:srgbClr val="000000"/>
                </a:solidFill>
                <a:latin typeface="Quattrocento Sans"/>
              </a:rPr>
              <a:t>Washer</a:t>
            </a:r>
            <a:r>
              <a:rPr sz="1600" dirty="0">
                <a:solidFill>
                  <a:srgbClr val="000000"/>
                </a:solidFill>
                <a:latin typeface="Quattrocento Sans"/>
              </a:rPr>
              <a:t> Holder </a:t>
            </a:r>
            <a:r>
              <a:rPr lang="en-US" sz="1600" dirty="0">
                <a:latin typeface="Quattrocento Sans"/>
              </a:rPr>
              <a:t>CAD</a:t>
            </a:r>
            <a:endParaRPr sz="1600" dirty="0">
              <a:solidFill>
                <a:srgbClr val="000000"/>
              </a:solidFill>
              <a:latin typeface="Quattrocento Sans"/>
            </a:endParaRPr>
          </a:p>
        </p:txBody>
      </p:sp>
    </p:spTree>
    <p:extLst>
      <p:ext uri="{BB962C8B-B14F-4D97-AF65-F5344CB8AC3E}">
        <p14:creationId xmlns:p14="http://schemas.microsoft.com/office/powerpoint/2010/main" val="3792216673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dirty="0"/>
              <a:t>Progress: Software</a:t>
            </a:r>
            <a:r>
              <a:rPr lang="en-US" dirty="0"/>
              <a:t> Build</a:t>
            </a:r>
            <a:r>
              <a:rPr dirty="0"/>
              <a:t> &amp; Tes</a:t>
            </a:r>
            <a:r>
              <a:rPr lang="en-US" dirty="0"/>
              <a:t>ts</a:t>
            </a:r>
            <a:endParaRPr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01168" y="914400"/>
            <a:ext cx="3977639" cy="5440680"/>
          </a:xfrm>
        </p:spPr>
        <p:txBody>
          <a:bodyPr wrap="square">
            <a:normAutofit/>
          </a:bodyPr>
          <a:lstStyle/>
          <a:p>
            <a:pPr marL="0" indent="0">
              <a:lnSpc>
                <a:spcPct val="95000"/>
              </a:lnSpc>
              <a:spcBef>
                <a:spcPts val="900"/>
              </a:spcBef>
              <a:buNone/>
            </a:pPr>
            <a:r>
              <a:rPr sz="1600" b="1" dirty="0"/>
              <a:t>Teensy </a:t>
            </a:r>
            <a:r>
              <a:rPr lang="en-US" sz="1600" b="1" dirty="0"/>
              <a:t>soft</a:t>
            </a:r>
            <a:r>
              <a:rPr sz="1600" b="1" dirty="0"/>
              <a:t>ware (C++, </a:t>
            </a:r>
            <a:r>
              <a:rPr sz="1600" b="1" dirty="0" err="1"/>
              <a:t>PlatformIO</a:t>
            </a:r>
            <a:r>
              <a:rPr sz="1600" b="1" dirty="0"/>
              <a:t>):</a:t>
            </a:r>
          </a:p>
          <a:p>
            <a:pPr marL="300000" indent="-228600">
              <a:lnSpc>
                <a:spcPct val="95000"/>
              </a:lnSpc>
              <a:spcBef>
                <a:spcPts val="900"/>
              </a:spcBef>
              <a:buChar char="•"/>
            </a:pPr>
            <a:r>
              <a:rPr sz="1600" b="0" dirty="0"/>
              <a:t>EKF, attitude controller, wheel allocation, wheel speed loops, safety supervisor</a:t>
            </a:r>
          </a:p>
          <a:p>
            <a:pPr marL="300000" indent="-228600">
              <a:lnSpc>
                <a:spcPct val="95000"/>
              </a:lnSpc>
              <a:spcBef>
                <a:spcPts val="900"/>
              </a:spcBef>
              <a:buChar char="•"/>
            </a:pPr>
            <a:r>
              <a:rPr sz="1600" b="0" dirty="0"/>
              <a:t>Logger: every sample to SD (100 Hz), </a:t>
            </a:r>
            <a:r>
              <a:rPr lang="en-US" sz="1600" b="0" dirty="0"/>
              <a:t>fractional </a:t>
            </a:r>
            <a:r>
              <a:rPr sz="1600" b="0" dirty="0"/>
              <a:t>live stream over </a:t>
            </a:r>
            <a:r>
              <a:rPr sz="1600" b="0" dirty="0" err="1"/>
              <a:t>XBee</a:t>
            </a:r>
            <a:endParaRPr sz="1600" b="0" dirty="0"/>
          </a:p>
          <a:p>
            <a:pPr marL="300000" indent="-228600">
              <a:lnSpc>
                <a:spcPct val="95000"/>
              </a:lnSpc>
              <a:spcBef>
                <a:spcPts val="900"/>
              </a:spcBef>
              <a:buChar char="•"/>
            </a:pPr>
            <a:r>
              <a:rPr sz="1600" b="0" dirty="0" err="1"/>
              <a:t>XBee</a:t>
            </a:r>
            <a:r>
              <a:rPr sz="1600" b="0" dirty="0"/>
              <a:t>/USB commands: ARM, KILL, STATUS, SPEED, TEST, CALIBRATE, BEGIN STATIC TEST, MAG MAP, DEMO SPIN</a:t>
            </a:r>
          </a:p>
          <a:p>
            <a:pPr marL="300000" indent="-228600">
              <a:lnSpc>
                <a:spcPct val="95000"/>
              </a:lnSpc>
              <a:spcBef>
                <a:spcPts val="900"/>
              </a:spcBef>
              <a:buChar char="•"/>
            </a:pPr>
            <a:r>
              <a:rPr sz="1600" b="0" dirty="0"/>
              <a:t>SPEED manual closed-loop wheel mode with ramps and filtering</a:t>
            </a:r>
            <a:r>
              <a:rPr lang="en-US" sz="1600" b="0" dirty="0"/>
              <a:t> to analyze motor control</a:t>
            </a:r>
            <a:endParaRPr sz="1600" b="0" dirty="0"/>
          </a:p>
          <a:p>
            <a:pPr marL="71400" indent="0">
              <a:lnSpc>
                <a:spcPct val="95000"/>
              </a:lnSpc>
              <a:spcBef>
                <a:spcPts val="900"/>
              </a:spcBef>
              <a:buNone/>
            </a:pPr>
            <a:endParaRPr sz="1600" b="0" dirty="0"/>
          </a:p>
        </p:txBody>
      </p:sp>
      <p:sp>
        <p:nvSpPr>
          <p:cNvPr id="91" name="Google Shape;91;p3"/>
          <p:cNvSpPr txBox="1">
            <a:spLocks noGrp="1"/>
          </p:cNvSpPr>
          <p:nvPr>
            <p:ph type="sldNum" idx="12"/>
          </p:nvPr>
        </p:nvSpPr>
        <p:spPr>
          <a:xfrm>
            <a:off x="7040236" y="6465106"/>
            <a:ext cx="20574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</a:pPr>
            <a:fld id="{00000000-1234-1234-1234-123412341234}" type="slidenum">
              <a:rPr lang="en-US"/>
              <a:t>8</a:t>
            </a:fld>
            <a:endParaRPr/>
          </a:p>
        </p:txBody>
      </p:sp>
      <p:graphicFrame>
        <p:nvGraphicFramePr>
          <p:cNvPr id="92" name="Table 9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138711891"/>
              </p:ext>
            </p:extLst>
          </p:nvPr>
        </p:nvGraphicFramePr>
        <p:xfrm>
          <a:off x="4343400" y="1005840"/>
          <a:ext cx="4572000" cy="5407721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5486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8288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19456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660191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Quattrocento Sans"/>
                        </a:rPr>
                        <a:t>Date</a:t>
                      </a:r>
                    </a:p>
                  </a:txBody>
                  <a:tcPr marL="54864" marR="54864" marT="27432" marB="27432" anchor="ctr">
                    <a:solidFill>
                      <a:srgbClr val="40404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Quattrocento Sans"/>
                        </a:rPr>
                        <a:t>Test</a:t>
                      </a:r>
                    </a:p>
                  </a:txBody>
                  <a:tcPr marL="54864" marR="54864" marT="27432" marB="27432" anchor="ctr">
                    <a:solidFill>
                      <a:srgbClr val="40404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Quattrocento Sans"/>
                        </a:rPr>
                        <a:t>Key result</a:t>
                      </a:r>
                    </a:p>
                  </a:txBody>
                  <a:tcPr marL="54864" marR="54864" marT="27432" marB="27432" anchor="ctr">
                    <a:solidFill>
                      <a:srgbClr val="40404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660191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00000"/>
                          </a:solidFill>
                          <a:latin typeface="Quattrocento Sans"/>
                        </a:rPr>
                        <a:t>10-08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dirty="0">
                          <a:solidFill>
                            <a:srgbClr val="000000"/>
                          </a:solidFill>
                          <a:latin typeface="Quattrocento Sans"/>
                        </a:rPr>
                        <a:t>Wheel </a:t>
                      </a:r>
                      <a:r>
                        <a:rPr lang="en-US" sz="1200" b="0" dirty="0">
                          <a:solidFill>
                            <a:srgbClr val="000000"/>
                          </a:solidFill>
                          <a:latin typeface="Quattrocento Sans"/>
                        </a:rPr>
                        <a:t>spin direction </a:t>
                      </a:r>
                      <a:r>
                        <a:rPr sz="1200" b="0" dirty="0">
                          <a:solidFill>
                            <a:srgbClr val="000000"/>
                          </a:solidFill>
                          <a:latin typeface="Quattrocento Sans"/>
                        </a:rPr>
                        <a:t>sign</a:t>
                      </a:r>
                      <a:r>
                        <a:rPr lang="en-US" sz="1200" b="0" dirty="0">
                          <a:solidFill>
                            <a:srgbClr val="000000"/>
                          </a:solidFill>
                          <a:latin typeface="Quattrocento Sans"/>
                        </a:rPr>
                        <a:t>s</a:t>
                      </a:r>
                      <a:endParaRPr sz="1200" b="0" dirty="0">
                        <a:solidFill>
                          <a:srgbClr val="000000"/>
                        </a:solidFill>
                        <a:latin typeface="Quattrocento Sans"/>
                      </a:endParaRP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b="0" dirty="0">
                          <a:solidFill>
                            <a:srgbClr val="000000"/>
                          </a:solidFill>
                          <a:latin typeface="Quattrocento Sans"/>
                        </a:rPr>
                        <a:t>Wiring </a:t>
                      </a:r>
                      <a:r>
                        <a:rPr sz="1200" b="0" dirty="0">
                          <a:solidFill>
                            <a:srgbClr val="000000"/>
                          </a:solidFill>
                          <a:latin typeface="Quattrocento Sans"/>
                        </a:rPr>
                        <a:t>corrected, signs set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660191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00000"/>
                          </a:solidFill>
                          <a:latin typeface="Quattrocento Sans"/>
                        </a:rPr>
                        <a:t>10-15</a:t>
                      </a:r>
                    </a:p>
                  </a:txBody>
                  <a:tcPr marL="54864" marR="54864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00000"/>
                          </a:solidFill>
                          <a:latin typeface="Quattrocento Sans"/>
                        </a:rPr>
                        <a:t>Bench speed sweeps, hand-turn counts</a:t>
                      </a:r>
                    </a:p>
                  </a:txBody>
                  <a:tcPr marL="54864" marR="54864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dirty="0">
                          <a:solidFill>
                            <a:srgbClr val="000000"/>
                          </a:solidFill>
                          <a:latin typeface="Quattrocento Sans"/>
                        </a:rPr>
                        <a:t>6.3:1 gearing; </a:t>
                      </a:r>
                      <a:r>
                        <a:rPr lang="en-US" sz="1200" b="0" dirty="0">
                          <a:solidFill>
                            <a:srgbClr val="000000"/>
                          </a:solidFill>
                          <a:latin typeface="Quattrocento Sans"/>
                        </a:rPr>
                        <a:t>Motor </a:t>
                      </a:r>
                      <a:r>
                        <a:rPr sz="1200" b="0" dirty="0">
                          <a:solidFill>
                            <a:srgbClr val="000000"/>
                          </a:solidFill>
                          <a:latin typeface="Quattrocento Sans"/>
                        </a:rPr>
                        <a:t>A rubs; </a:t>
                      </a:r>
                      <a:r>
                        <a:rPr lang="en-US" sz="1200" b="0" dirty="0">
                          <a:solidFill>
                            <a:srgbClr val="000000"/>
                          </a:solidFill>
                          <a:latin typeface="Quattrocento Sans"/>
                        </a:rPr>
                        <a:t>Motor </a:t>
                      </a:r>
                      <a:r>
                        <a:rPr sz="1200" b="0" dirty="0">
                          <a:solidFill>
                            <a:srgbClr val="000000"/>
                          </a:solidFill>
                          <a:latin typeface="Quattrocento Sans"/>
                        </a:rPr>
                        <a:t>C oscillates</a:t>
                      </a:r>
                    </a:p>
                  </a:txBody>
                  <a:tcPr marL="54864" marR="54864" marT="27432" marB="27432" anchor="ctr"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660191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00000"/>
                          </a:solidFill>
                          <a:latin typeface="Quattrocento Sans"/>
                        </a:rPr>
                        <a:t>10-15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00000"/>
                          </a:solidFill>
                          <a:latin typeface="Quattrocento Sans"/>
                        </a:rPr>
                        <a:t>Static IMU test (37 min)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dirty="0">
                          <a:solidFill>
                            <a:srgbClr val="000000"/>
                          </a:solidFill>
                          <a:latin typeface="Quattrocento Sans"/>
                        </a:rPr>
                        <a:t>Roll/pitch 0.02°; </a:t>
                      </a:r>
                      <a:r>
                        <a:rPr lang="en-US" sz="1200" b="0" dirty="0">
                          <a:solidFill>
                            <a:srgbClr val="000000"/>
                          </a:solidFill>
                          <a:latin typeface="Quattrocento Sans"/>
                        </a:rPr>
                        <a:t>gyro yaw drift</a:t>
                      </a:r>
                      <a:r>
                        <a:rPr sz="1200" b="0" dirty="0">
                          <a:solidFill>
                            <a:srgbClr val="000000"/>
                          </a:solidFill>
                          <a:latin typeface="Quattrocento Sans"/>
                        </a:rPr>
                        <a:t> −27 °/h; ¼ of samples lost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660191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00000"/>
                          </a:solidFill>
                          <a:latin typeface="Quattrocento Sans"/>
                        </a:rPr>
                        <a:t>10-16</a:t>
                      </a:r>
                    </a:p>
                  </a:txBody>
                  <a:tcPr marL="54864" marR="54864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00000"/>
                          </a:solidFill>
                          <a:latin typeface="Quattrocento Sans"/>
                        </a:rPr>
                        <a:t>Motors-on static test, MAG MAP</a:t>
                      </a:r>
                    </a:p>
                  </a:txBody>
                  <a:tcPr marL="54864" marR="54864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00000"/>
                          </a:solidFill>
                          <a:latin typeface="Quattrocento Sans"/>
                        </a:rPr>
                        <a:t>Gyro warm-up drift; magnetometer disturbance mapped</a:t>
                      </a:r>
                    </a:p>
                  </a:txBody>
                  <a:tcPr marL="54864" marR="54864" marT="27432" marB="27432" anchor="ctr"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660191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00000"/>
                          </a:solidFill>
                          <a:latin typeface="Quattrocento Sans"/>
                        </a:rPr>
                        <a:t>10-16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00000"/>
                          </a:solidFill>
                          <a:latin typeface="Quattrocento Sans"/>
                        </a:rPr>
                        <a:t>First DEMO SPIN on air bearing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00000"/>
                          </a:solidFill>
                          <a:latin typeface="Quattrocento Sans"/>
                        </a:rPr>
                        <a:t>Table is pendulous; wheels saturate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660191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00000"/>
                          </a:solidFill>
                          <a:latin typeface="Quattrocento Sans"/>
                        </a:rPr>
                        <a:t>10-20</a:t>
                      </a:r>
                    </a:p>
                  </a:txBody>
                  <a:tcPr marL="54864" marR="54864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dirty="0">
                          <a:solidFill>
                            <a:srgbClr val="000000"/>
                          </a:solidFill>
                          <a:latin typeface="Quattrocento Sans"/>
                        </a:rPr>
                        <a:t>IMU INT/RST + driver fixes</a:t>
                      </a:r>
                    </a:p>
                  </a:txBody>
                  <a:tcPr marL="54864" marR="54864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dirty="0">
                          <a:solidFill>
                            <a:srgbClr val="000000"/>
                          </a:solidFill>
                          <a:latin typeface="Quattrocento Sans"/>
                        </a:rPr>
                        <a:t>Sample loss 25% → 0.085%</a:t>
                      </a:r>
                    </a:p>
                  </a:txBody>
                  <a:tcPr marL="54864" marR="54864" marT="27432" marB="27432" anchor="ctr"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727903">
                <a:tc>
                  <a:txBody>
                    <a:bodyPr/>
                    <a:lstStyle/>
                    <a:p>
                      <a:r>
                        <a:rPr lang="en-US" sz="1200" b="0" dirty="0">
                          <a:solidFill>
                            <a:srgbClr val="000000"/>
                          </a:solidFill>
                          <a:latin typeface="Quattrocento Sans"/>
                        </a:rPr>
                        <a:t>10-21</a:t>
                      </a:r>
                      <a:endParaRPr sz="1200" b="0" dirty="0">
                        <a:solidFill>
                          <a:srgbClr val="000000"/>
                        </a:solidFill>
                        <a:latin typeface="Quattrocento Sans"/>
                      </a:endParaRPr>
                    </a:p>
                  </a:txBody>
                  <a:tcPr marL="54864" marR="54864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b="0" dirty="0">
                          <a:solidFill>
                            <a:srgbClr val="000000"/>
                          </a:solidFill>
                          <a:latin typeface="Quattrocento Sans"/>
                        </a:rPr>
                        <a:t>Battery Holders and </a:t>
                      </a:r>
                      <a:r>
                        <a:rPr lang="en-US" sz="1200" b="0" dirty="0" err="1">
                          <a:solidFill>
                            <a:srgbClr val="000000"/>
                          </a:solidFill>
                          <a:latin typeface="Quattrocento Sans"/>
                        </a:rPr>
                        <a:t>CoM</a:t>
                      </a:r>
                      <a:r>
                        <a:rPr lang="en-US" sz="1200" b="0" dirty="0">
                          <a:solidFill>
                            <a:srgbClr val="000000"/>
                          </a:solidFill>
                          <a:latin typeface="Quattrocento Sans"/>
                        </a:rPr>
                        <a:t> Calibration; Automatic Leveler Test via DEMO SPIN</a:t>
                      </a:r>
                      <a:endParaRPr sz="1200" b="0" dirty="0">
                        <a:solidFill>
                          <a:srgbClr val="000000"/>
                        </a:solidFill>
                        <a:latin typeface="Quattrocento Sans"/>
                      </a:endParaRPr>
                    </a:p>
                  </a:txBody>
                  <a:tcPr marL="54864" marR="54864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b="0" dirty="0">
                          <a:solidFill>
                            <a:srgbClr val="000000"/>
                          </a:solidFill>
                          <a:latin typeface="Quattrocento Sans"/>
                        </a:rPr>
                        <a:t>Visible leveling, not meeting 1° error requirement.</a:t>
                      </a:r>
                      <a:endParaRPr sz="1200" b="0" dirty="0">
                        <a:solidFill>
                          <a:srgbClr val="000000"/>
                        </a:solidFill>
                        <a:latin typeface="Quattrocento Sans"/>
                      </a:endParaRPr>
                    </a:p>
                  </a:txBody>
                  <a:tcPr marL="54864" marR="54864" marT="27432" marB="27432" anchor="ctr"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04864635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h1e1805356538ab88_0_12"/>
          <p:cNvSpPr txBox="1">
            <a:spLocks noGrp="1"/>
          </p:cNvSpPr>
          <p:nvPr>
            <p:ph type="title"/>
          </p:nvPr>
        </p:nvSpPr>
        <p:spPr>
          <a:xfrm>
            <a:off x="866966" y="133186"/>
            <a:ext cx="7886700" cy="652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Quattrocento Sans"/>
              <a:buNone/>
            </a:pPr>
            <a:r>
              <a:rPr lang="en-US"/>
              <a:t>Data: Wheel Speed Control</a:t>
            </a:r>
            <a:endParaRPr/>
          </a:p>
        </p:txBody>
      </p:sp>
      <p:sp>
        <p:nvSpPr>
          <p:cNvPr id="121" name="Google Shape;121;h1e1805356538ab88_0_12"/>
          <p:cNvSpPr txBox="1">
            <a:spLocks noGrp="1"/>
          </p:cNvSpPr>
          <p:nvPr>
            <p:ph type="sldNum" idx="12"/>
          </p:nvPr>
        </p:nvSpPr>
        <p:spPr>
          <a:xfrm>
            <a:off x="7040236" y="6465106"/>
            <a:ext cx="20574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</a:pPr>
            <a:fld id="{00000000-1234-1234-1234-123412341234}" type="slidenum">
              <a:rPr lang="en-US"/>
              <a:t>9</a:t>
            </a:fld>
            <a:endParaRPr/>
          </a:p>
        </p:txBody>
      </p:sp>
      <p:pic>
        <p:nvPicPr>
          <p:cNvPr id="122" name="Picture 121" descr="fig1_wheel_speed_sweep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4320" y="896112"/>
            <a:ext cx="8595360" cy="3210767"/>
          </a:xfrm>
          <a:prstGeom prst="rect">
            <a:avLst/>
          </a:prstGeom>
        </p:spPr>
      </p:pic>
      <p:sp>
        <p:nvSpPr>
          <p:cNvPr id="123" name="TextBox 122"/>
          <p:cNvSpPr txBox="1"/>
          <p:nvPr/>
        </p:nvSpPr>
        <p:spPr>
          <a:xfrm>
            <a:off x="274320" y="4169663"/>
            <a:ext cx="8595360" cy="1962076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marL="0" indent="0">
              <a:lnSpc>
                <a:spcPct val="95000"/>
              </a:lnSpc>
              <a:spcBef>
                <a:spcPts val="300"/>
              </a:spcBef>
              <a:buNone/>
            </a:pPr>
            <a:r>
              <a:rPr sz="1500" b="1" dirty="0">
                <a:latin typeface="Quattrocento Sans"/>
              </a:rPr>
              <a:t>MEASURE:  </a:t>
            </a:r>
            <a:r>
              <a:rPr sz="1500" b="0" dirty="0">
                <a:latin typeface="Quattrocento Sans"/>
              </a:rPr>
              <a:t>Commanded vs. measured speed, all 4 wheels, 0 → 480 → 0 rpm cosine </a:t>
            </a:r>
            <a:r>
              <a:rPr lang="en-US" sz="1500" b="0" dirty="0">
                <a:latin typeface="Quattrocento Sans"/>
              </a:rPr>
              <a:t>command </a:t>
            </a:r>
            <a:r>
              <a:rPr sz="1500" b="0" dirty="0">
                <a:latin typeface="Quattrocento Sans"/>
              </a:rPr>
              <a:t>profile (12 V packs</a:t>
            </a:r>
            <a:r>
              <a:rPr lang="en-US" sz="1500" b="0" dirty="0">
                <a:latin typeface="Quattrocento Sans"/>
              </a:rPr>
              <a:t>).</a:t>
            </a:r>
            <a:endParaRPr sz="1500" b="0" dirty="0">
              <a:latin typeface="Quattrocento Sans"/>
            </a:endParaRPr>
          </a:p>
          <a:p>
            <a:pPr marL="0" indent="0">
              <a:lnSpc>
                <a:spcPct val="95000"/>
              </a:lnSpc>
              <a:spcBef>
                <a:spcPts val="300"/>
              </a:spcBef>
              <a:buNone/>
            </a:pPr>
            <a:r>
              <a:rPr sz="1500" b="1" dirty="0">
                <a:latin typeface="Quattrocento Sans"/>
              </a:rPr>
              <a:t>COMPARE:  </a:t>
            </a:r>
            <a:r>
              <a:rPr sz="1500" b="0" dirty="0">
                <a:latin typeface="Quattrocento Sans"/>
              </a:rPr>
              <a:t>Expected tight tracking from the 100 Hz PI + feed-forward</a:t>
            </a:r>
            <a:r>
              <a:rPr lang="en-US" sz="1500" b="0" dirty="0">
                <a:latin typeface="Quattrocento Sans"/>
              </a:rPr>
              <a:t> control</a:t>
            </a:r>
            <a:r>
              <a:rPr sz="1500" b="0" dirty="0">
                <a:latin typeface="Quattrocento Sans"/>
              </a:rPr>
              <a:t>. B and D hold ±1 rpm; A and C swing ±10–16 rpm; no wheel moves until the command reaches ≈ 46 rpm.</a:t>
            </a:r>
          </a:p>
          <a:p>
            <a:pPr marL="0" indent="0">
              <a:lnSpc>
                <a:spcPct val="95000"/>
              </a:lnSpc>
              <a:spcBef>
                <a:spcPts val="300"/>
              </a:spcBef>
              <a:buNone/>
            </a:pPr>
            <a:r>
              <a:rPr sz="1500" b="1" dirty="0">
                <a:latin typeface="Quattrocento Sans"/>
              </a:rPr>
              <a:t>EXPLAIN:  </a:t>
            </a:r>
            <a:r>
              <a:rPr sz="1500" b="0" dirty="0">
                <a:latin typeface="Quattrocento Sans"/>
              </a:rPr>
              <a:t>Same gains on every wheel, so A/C differences are hardware: A rub</a:t>
            </a:r>
            <a:r>
              <a:rPr lang="en-US" sz="1500" b="0" dirty="0">
                <a:latin typeface="Quattrocento Sans"/>
              </a:rPr>
              <a:t>s</a:t>
            </a:r>
            <a:r>
              <a:rPr sz="1500" b="0" dirty="0">
                <a:latin typeface="Quattrocento Sans"/>
              </a:rPr>
              <a:t>; C is still unexplained. The start delay is static friction.</a:t>
            </a:r>
          </a:p>
          <a:p>
            <a:pPr marL="0" indent="0">
              <a:lnSpc>
                <a:spcPct val="95000"/>
              </a:lnSpc>
              <a:spcBef>
                <a:spcPts val="300"/>
              </a:spcBef>
              <a:buNone/>
            </a:pPr>
            <a:r>
              <a:rPr sz="1500" b="1" dirty="0">
                <a:latin typeface="Quattrocento Sans"/>
              </a:rPr>
              <a:t>NEXT:  </a:t>
            </a:r>
            <a:r>
              <a:rPr lang="en-US" sz="1500" b="0" dirty="0">
                <a:latin typeface="Quattrocento Sans"/>
              </a:rPr>
              <a:t>Fix A’s rub; check C’s pack voltage under load and its encoder; add static-friction compensation. Repeat test.</a:t>
            </a:r>
            <a:endParaRPr sz="1500" b="0" dirty="0">
              <a:latin typeface="Quattrocento Sans"/>
            </a:endParaRP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dirty="0"/>
              <a:t>Data: Attitude Determination at Rest</a:t>
            </a:r>
          </a:p>
        </p:txBody>
      </p:sp>
      <p:sp>
        <p:nvSpPr>
          <p:cNvPr id="91" name="Google Shape;91;p3"/>
          <p:cNvSpPr txBox="1">
            <a:spLocks noGrp="1"/>
          </p:cNvSpPr>
          <p:nvPr>
            <p:ph type="sldNum" idx="12"/>
          </p:nvPr>
        </p:nvSpPr>
        <p:spPr>
          <a:xfrm>
            <a:off x="7040236" y="6465106"/>
            <a:ext cx="20574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</a:pPr>
            <a:fld id="{00000000-1234-1234-1234-123412341234}" type="slidenum">
              <a:rPr lang="en-US"/>
              <a:t>10</a:t>
            </a:fld>
            <a:endParaRPr/>
          </a:p>
        </p:txBody>
      </p:sp>
      <p:pic>
        <p:nvPicPr>
          <p:cNvPr id="92" name="Picture 91" descr="fig2_static_attitud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896112"/>
            <a:ext cx="8595360" cy="3232694"/>
          </a:xfrm>
          <a:prstGeom prst="rect">
            <a:avLst/>
          </a:prstGeom>
        </p:spPr>
      </p:pic>
      <p:sp>
        <p:nvSpPr>
          <p:cNvPr id="93" name="TextBox 92"/>
          <p:cNvSpPr txBox="1"/>
          <p:nvPr/>
        </p:nvSpPr>
        <p:spPr>
          <a:xfrm>
            <a:off x="274320" y="4169663"/>
            <a:ext cx="8595360" cy="1962076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marL="0" indent="0">
              <a:lnSpc>
                <a:spcPct val="95000"/>
              </a:lnSpc>
              <a:spcBef>
                <a:spcPts val="300"/>
              </a:spcBef>
              <a:buNone/>
            </a:pPr>
            <a:r>
              <a:rPr sz="1500" b="1" dirty="0">
                <a:latin typeface="Quattrocento Sans"/>
              </a:rPr>
              <a:t>MEASURE:  </a:t>
            </a:r>
            <a:r>
              <a:rPr sz="1500" b="0" dirty="0">
                <a:latin typeface="Quattrocento Sans"/>
              </a:rPr>
              <a:t>37 min with the IMU fixed and motors off: EKF roll/pitch/yaw plus the independent magnetometer heading.</a:t>
            </a:r>
          </a:p>
          <a:p>
            <a:pPr marL="0" indent="0">
              <a:lnSpc>
                <a:spcPct val="95000"/>
              </a:lnSpc>
              <a:spcBef>
                <a:spcPts val="300"/>
              </a:spcBef>
              <a:buNone/>
            </a:pPr>
            <a:r>
              <a:rPr sz="1500" b="1" dirty="0">
                <a:latin typeface="Quattrocento Sans"/>
              </a:rPr>
              <a:t>COMPARE:  </a:t>
            </a:r>
            <a:r>
              <a:rPr sz="1500" b="0" dirty="0">
                <a:latin typeface="Quattrocento Sans"/>
              </a:rPr>
              <a:t>Requirement ±1°. Theory: a 3 s gyro-bias average leaves ≈ 26 °/h of yaw drift.</a:t>
            </a:r>
          </a:p>
          <a:p>
            <a:pPr marL="0" indent="0">
              <a:lnSpc>
                <a:spcPct val="95000"/>
              </a:lnSpc>
              <a:spcBef>
                <a:spcPts val="300"/>
              </a:spcBef>
              <a:buNone/>
            </a:pPr>
            <a:r>
              <a:rPr sz="1500" b="1" dirty="0">
                <a:latin typeface="Quattrocento Sans"/>
              </a:rPr>
              <a:t>EXPLAIN:  </a:t>
            </a:r>
            <a:r>
              <a:rPr sz="1500" b="0" dirty="0">
                <a:latin typeface="Quattrocento Sans"/>
              </a:rPr>
              <a:t>Roll/pitch σ = 0.02°, far inside ±1°. Yaw drifted −27 °/h, matching the predicted calibration error; the magnetometer stayed flat. Fixes: 60–180 s calibration, calibrate after a 10 min warm-up → ≈ 3 °/h in replay.</a:t>
            </a:r>
          </a:p>
          <a:p>
            <a:pPr marL="0" indent="0">
              <a:lnSpc>
                <a:spcPct val="95000"/>
              </a:lnSpc>
              <a:spcBef>
                <a:spcPts val="300"/>
              </a:spcBef>
              <a:buNone/>
            </a:pPr>
            <a:r>
              <a:rPr sz="1500" b="1" dirty="0">
                <a:latin typeface="Quattrocento Sans"/>
              </a:rPr>
              <a:t>NEXT:  </a:t>
            </a:r>
            <a:r>
              <a:rPr sz="1500" b="0" dirty="0">
                <a:latin typeface="Quattrocento Sans"/>
              </a:rPr>
              <a:t>Verify on the moving table; 3 °/h keeps yaw within ±1° for ≈20 min. Longer runs need a magnetometer aid.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Data: IMU Data Integrity (Unexpected Result)</a:t>
            </a:r>
          </a:p>
        </p:txBody>
      </p:sp>
      <p:sp>
        <p:nvSpPr>
          <p:cNvPr id="91" name="Google Shape;91;p3"/>
          <p:cNvSpPr txBox="1">
            <a:spLocks noGrp="1"/>
          </p:cNvSpPr>
          <p:nvPr>
            <p:ph type="sldNum" idx="12"/>
          </p:nvPr>
        </p:nvSpPr>
        <p:spPr>
          <a:xfrm>
            <a:off x="7040236" y="6465106"/>
            <a:ext cx="20574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</a:pPr>
            <a:fld id="{00000000-1234-1234-1234-123412341234}" type="slidenum">
              <a:rPr lang="en-US"/>
              <a:t>11</a:t>
            </a:fld>
            <a:endParaRPr/>
          </a:p>
        </p:txBody>
      </p:sp>
      <p:pic>
        <p:nvPicPr>
          <p:cNvPr id="92" name="Picture 91" descr="fig3_imu_integrit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896112"/>
            <a:ext cx="8595360" cy="3232694"/>
          </a:xfrm>
          <a:prstGeom prst="rect">
            <a:avLst/>
          </a:prstGeom>
        </p:spPr>
      </p:pic>
      <p:sp>
        <p:nvSpPr>
          <p:cNvPr id="93" name="TextBox 92"/>
          <p:cNvSpPr txBox="1"/>
          <p:nvPr/>
        </p:nvSpPr>
        <p:spPr>
          <a:xfrm>
            <a:off x="274320" y="4169663"/>
            <a:ext cx="8595360" cy="1962076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marL="0" indent="0">
              <a:lnSpc>
                <a:spcPct val="95000"/>
              </a:lnSpc>
              <a:spcBef>
                <a:spcPts val="300"/>
              </a:spcBef>
              <a:buNone/>
            </a:pPr>
            <a:r>
              <a:rPr sz="1500" b="1" dirty="0">
                <a:latin typeface="Quattrocento Sans"/>
              </a:rPr>
              <a:t>MEASURE:  </a:t>
            </a:r>
            <a:r>
              <a:rPr sz="1500" b="0" dirty="0">
                <a:latin typeface="Quattrocento Sans"/>
              </a:rPr>
              <a:t>Time between every gyro sample logged to SD, IMU at rest, before and after our fixes.</a:t>
            </a:r>
          </a:p>
          <a:p>
            <a:pPr marL="0" indent="0">
              <a:lnSpc>
                <a:spcPct val="95000"/>
              </a:lnSpc>
              <a:spcBef>
                <a:spcPts val="300"/>
              </a:spcBef>
              <a:buNone/>
            </a:pPr>
            <a:r>
              <a:rPr sz="1500" b="1" dirty="0">
                <a:latin typeface="Quattrocento Sans"/>
              </a:rPr>
              <a:t>COMPARE:  </a:t>
            </a:r>
            <a:r>
              <a:rPr sz="1500" b="0" dirty="0">
                <a:latin typeface="Quattrocento Sans"/>
              </a:rPr>
              <a:t>Expected 10 </a:t>
            </a:r>
            <a:r>
              <a:rPr sz="1500" b="0" dirty="0" err="1">
                <a:latin typeface="Quattrocento Sans"/>
              </a:rPr>
              <a:t>ms.</a:t>
            </a:r>
            <a:r>
              <a:rPr sz="1500" b="0" dirty="0">
                <a:latin typeface="Quattrocento Sans"/>
              </a:rPr>
              <a:t> Before: 25% of samples lost and 38 gaps &gt; 100 </a:t>
            </a:r>
            <a:r>
              <a:rPr sz="1500" b="0" dirty="0" err="1">
                <a:latin typeface="Quattrocento Sans"/>
              </a:rPr>
              <a:t>ms</a:t>
            </a:r>
            <a:r>
              <a:rPr sz="1500" b="0" dirty="0">
                <a:latin typeface="Quattrocento Sans"/>
              </a:rPr>
              <a:t>, each of which would have disarmed the wheels.</a:t>
            </a:r>
          </a:p>
          <a:p>
            <a:pPr marL="0" indent="0">
              <a:lnSpc>
                <a:spcPct val="95000"/>
              </a:lnSpc>
              <a:spcBef>
                <a:spcPts val="300"/>
              </a:spcBef>
              <a:buNone/>
            </a:pPr>
            <a:r>
              <a:rPr sz="1500" b="1" dirty="0">
                <a:latin typeface="Quattrocento Sans"/>
              </a:rPr>
              <a:t>EXPLAIN:  </a:t>
            </a:r>
            <a:r>
              <a:rPr sz="1500" b="0" dirty="0">
                <a:latin typeface="Quattrocento Sans"/>
              </a:rPr>
              <a:t>Root causes: the IMU library kept only the last report of each I²C read, SD writes blocked the loop, and no data-ready line. Fixed: INT/RST wired</a:t>
            </a:r>
            <a:r>
              <a:rPr lang="en-US" sz="1500" b="0" dirty="0">
                <a:latin typeface="Quattrocento Sans"/>
              </a:rPr>
              <a:t>,</a:t>
            </a:r>
            <a:r>
              <a:rPr sz="1500" b="0" dirty="0">
                <a:latin typeface="Quattrocento Sans"/>
              </a:rPr>
              <a:t> IMU serviced during SD waits, SD in </a:t>
            </a:r>
            <a:r>
              <a:rPr lang="en-US" sz="1500" b="0" dirty="0">
                <a:latin typeface="Quattrocento Sans"/>
              </a:rPr>
              <a:t>Direct Memory Access (</a:t>
            </a:r>
            <a:r>
              <a:rPr sz="1500" b="0" dirty="0">
                <a:latin typeface="Quattrocento Sans"/>
              </a:rPr>
              <a:t>DMA</a:t>
            </a:r>
            <a:r>
              <a:rPr lang="en-US" sz="1500" b="0" dirty="0">
                <a:latin typeface="Quattrocento Sans"/>
              </a:rPr>
              <a:t>)</a:t>
            </a:r>
            <a:r>
              <a:rPr sz="1500" b="0" dirty="0">
                <a:latin typeface="Quattrocento Sans"/>
              </a:rPr>
              <a:t> mode.</a:t>
            </a:r>
          </a:p>
          <a:p>
            <a:pPr marL="0" indent="0">
              <a:lnSpc>
                <a:spcPct val="95000"/>
              </a:lnSpc>
              <a:spcBef>
                <a:spcPts val="300"/>
              </a:spcBef>
              <a:buNone/>
            </a:pPr>
            <a:r>
              <a:rPr sz="1500" b="1" dirty="0">
                <a:latin typeface="Quattrocento Sans"/>
              </a:rPr>
              <a:t>NEXT:  </a:t>
            </a:r>
            <a:r>
              <a:rPr sz="1500" b="0" dirty="0">
                <a:latin typeface="Quattrocento Sans"/>
              </a:rPr>
              <a:t>Remaining 60–90 </a:t>
            </a:r>
            <a:r>
              <a:rPr sz="1500" b="0" dirty="0" err="1">
                <a:latin typeface="Quattrocento Sans"/>
              </a:rPr>
              <a:t>ms</a:t>
            </a:r>
            <a:r>
              <a:rPr sz="1500" b="0" dirty="0">
                <a:latin typeface="Quattrocento Sans"/>
              </a:rPr>
              <a:t> stalls come from inside the BNO085 (every ≈22 s): under the 100 </a:t>
            </a:r>
            <a:r>
              <a:rPr sz="1500" b="0" dirty="0" err="1">
                <a:latin typeface="Quattrocento Sans"/>
              </a:rPr>
              <a:t>ms</a:t>
            </a:r>
            <a:r>
              <a:rPr sz="1500" b="0" dirty="0">
                <a:latin typeface="Quattrocento Sans"/>
              </a:rPr>
              <a:t> timeout and now integrated by the EKF. Monitor on long runs.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Data: Magnetometer vs. Wheel Motors</a:t>
            </a:r>
          </a:p>
        </p:txBody>
      </p:sp>
      <p:sp>
        <p:nvSpPr>
          <p:cNvPr id="91" name="Google Shape;91;p3"/>
          <p:cNvSpPr txBox="1">
            <a:spLocks noGrp="1"/>
          </p:cNvSpPr>
          <p:nvPr>
            <p:ph type="sldNum" idx="12"/>
          </p:nvPr>
        </p:nvSpPr>
        <p:spPr>
          <a:xfrm>
            <a:off x="7040236" y="6465106"/>
            <a:ext cx="20574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</a:pPr>
            <a:fld id="{00000000-1234-1234-1234-123412341234}" type="slidenum">
              <a:rPr lang="en-US"/>
              <a:t>12</a:t>
            </a:fld>
            <a:endParaRPr/>
          </a:p>
        </p:txBody>
      </p:sp>
      <p:pic>
        <p:nvPicPr>
          <p:cNvPr id="92" name="Picture 91" descr="fig4_mag_disturbanc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896112"/>
            <a:ext cx="8595360" cy="3425566"/>
          </a:xfrm>
          <a:prstGeom prst="rect">
            <a:avLst/>
          </a:prstGeom>
        </p:spPr>
      </p:pic>
      <p:sp>
        <p:nvSpPr>
          <p:cNvPr id="93" name="TextBox 92"/>
          <p:cNvSpPr txBox="1"/>
          <p:nvPr/>
        </p:nvSpPr>
        <p:spPr>
          <a:xfrm>
            <a:off x="274320" y="4370832"/>
            <a:ext cx="8595360" cy="2075687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marL="0" indent="0">
              <a:lnSpc>
                <a:spcPct val="95000"/>
              </a:lnSpc>
              <a:spcBef>
                <a:spcPts val="300"/>
              </a:spcBef>
              <a:buNone/>
            </a:pPr>
            <a:r>
              <a:rPr sz="1450" b="1">
                <a:latin typeface="Quattrocento Sans"/>
              </a:rPr>
              <a:t>MEASURE:  </a:t>
            </a:r>
            <a:r>
              <a:rPr sz="1450" b="0">
                <a:latin typeface="Quattrocento Sans"/>
              </a:rPr>
              <a:t>Raw magnetometer heading on a fixed table while the wheels step through ±50/100/200 rpm.</a:t>
            </a:r>
          </a:p>
          <a:p>
            <a:pPr marL="0" indent="0">
              <a:lnSpc>
                <a:spcPct val="95000"/>
              </a:lnSpc>
              <a:spcBef>
                <a:spcPts val="300"/>
              </a:spcBef>
              <a:buNone/>
            </a:pPr>
            <a:r>
              <a:rPr sz="1450" b="1">
                <a:latin typeface="Quattrocento Sans"/>
              </a:rPr>
              <a:t>COMPARE:  </a:t>
            </a:r>
            <a:r>
              <a:rPr sz="1450" b="0">
                <a:latin typeface="Quattrocento Sans"/>
              </a:rPr>
              <a:t>A heading aid must be steady to well under 1°; with motors off it showed 0.7° noise and no drift.</a:t>
            </a:r>
          </a:p>
          <a:p>
            <a:pPr marL="0" indent="0">
              <a:lnSpc>
                <a:spcPct val="95000"/>
              </a:lnSpc>
              <a:spcBef>
                <a:spcPts val="300"/>
              </a:spcBef>
              <a:buNone/>
            </a:pPr>
            <a:r>
              <a:rPr sz="1450" b="1">
                <a:latin typeface="Quattrocento Sans"/>
              </a:rPr>
              <a:t>EXPLAIN:  </a:t>
            </a:r>
            <a:r>
              <a:rPr sz="1450" b="0">
                <a:latin typeface="Quattrocento Sans"/>
              </a:rPr>
              <a:t>Spinning wheels add 4.6–7.5° of fast, filterable noise. Stopped wheels leave a random offset up to ≈ 10° set by where each shaft stops (motor magnets), so no fixed calibration exists → yaw stays gyro-only.</a:t>
            </a:r>
          </a:p>
          <a:p>
            <a:pPr marL="0" indent="0">
              <a:lnSpc>
                <a:spcPct val="95000"/>
              </a:lnSpc>
              <a:spcBef>
                <a:spcPts val="300"/>
              </a:spcBef>
              <a:buNone/>
            </a:pPr>
            <a:r>
              <a:rPr sz="1450" b="1">
                <a:latin typeface="Quattrocento Sans"/>
              </a:rPr>
              <a:t>NEXT:  </a:t>
            </a:r>
            <a:r>
              <a:rPr sz="1450" b="0">
                <a:latin typeface="Quattrocento Sans"/>
              </a:rPr>
              <a:t>DEMO SPIN keeps every shaft at ±100 rpm so offsets average out; calibrate hard iron from a full turn, then add a gated magnetometer yaw update.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dirty="0"/>
              <a:t>Data: First DEMO SPIN (</a:t>
            </a:r>
            <a:r>
              <a:rPr lang="en-US" dirty="0"/>
              <a:t>Unsuccessful</a:t>
            </a:r>
            <a:r>
              <a:rPr dirty="0"/>
              <a:t>)</a:t>
            </a:r>
          </a:p>
        </p:txBody>
      </p:sp>
      <p:sp>
        <p:nvSpPr>
          <p:cNvPr id="91" name="Google Shape;91;p3"/>
          <p:cNvSpPr txBox="1">
            <a:spLocks noGrp="1"/>
          </p:cNvSpPr>
          <p:nvPr>
            <p:ph type="sldNum" idx="12"/>
          </p:nvPr>
        </p:nvSpPr>
        <p:spPr>
          <a:xfrm>
            <a:off x="7040236" y="6465106"/>
            <a:ext cx="20574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</a:pPr>
            <a:fld id="{00000000-1234-1234-1234-123412341234}" type="slidenum">
              <a:rPr lang="en-US"/>
              <a:t>13</a:t>
            </a:fld>
            <a:endParaRPr/>
          </a:p>
        </p:txBody>
      </p:sp>
      <p:pic>
        <p:nvPicPr>
          <p:cNvPr id="92" name="Picture 91" descr="fig5_demo_pendulu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896112"/>
            <a:ext cx="8595360" cy="3266152"/>
          </a:xfrm>
          <a:prstGeom prst="rect">
            <a:avLst/>
          </a:prstGeom>
        </p:spPr>
      </p:pic>
      <p:sp>
        <p:nvSpPr>
          <p:cNvPr id="93" name="TextBox 92"/>
          <p:cNvSpPr txBox="1"/>
          <p:nvPr/>
        </p:nvSpPr>
        <p:spPr>
          <a:xfrm>
            <a:off x="274320" y="4169663"/>
            <a:ext cx="8595360" cy="2115579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marL="0" indent="0">
              <a:lnSpc>
                <a:spcPct val="95000"/>
              </a:lnSpc>
              <a:spcBef>
                <a:spcPts val="300"/>
              </a:spcBef>
              <a:buNone/>
            </a:pPr>
            <a:r>
              <a:rPr sz="1450" b="1" dirty="0">
                <a:latin typeface="Quattrocento Sans"/>
              </a:rPr>
              <a:t>MEASURE:  </a:t>
            </a:r>
            <a:r>
              <a:rPr sz="1450" b="0" dirty="0">
                <a:latin typeface="Quattrocento Sans"/>
              </a:rPr>
              <a:t>Roll/pitch and wheel speeds with the table floating; three DEMO SPIN attempts (level, then spin).</a:t>
            </a:r>
          </a:p>
          <a:p>
            <a:pPr marL="0" indent="0">
              <a:lnSpc>
                <a:spcPct val="95000"/>
              </a:lnSpc>
              <a:spcBef>
                <a:spcPts val="300"/>
              </a:spcBef>
              <a:buNone/>
            </a:pPr>
            <a:r>
              <a:rPr sz="1450" b="1" dirty="0">
                <a:latin typeface="Quattrocento Sans"/>
              </a:rPr>
              <a:t>COMPARE:  </a:t>
            </a:r>
            <a:r>
              <a:rPr sz="1450" b="0" dirty="0">
                <a:latin typeface="Quattrocento Sans"/>
              </a:rPr>
              <a:t>Simulation (CG at the bearing cent</a:t>
            </a:r>
            <a:r>
              <a:rPr lang="en-US" sz="1450" b="0" dirty="0">
                <a:latin typeface="Quattrocento Sans"/>
              </a:rPr>
              <a:t>er</a:t>
            </a:r>
            <a:r>
              <a:rPr sz="1450" b="0" dirty="0">
                <a:latin typeface="Quattrocento Sans"/>
              </a:rPr>
              <a:t>) levelled from 30° in ≈11 s. On the table each attempt hit the 55 rad/s wheel limit within 1–2 s.</a:t>
            </a:r>
          </a:p>
          <a:p>
            <a:pPr marL="0" indent="0">
              <a:lnSpc>
                <a:spcPct val="95000"/>
              </a:lnSpc>
              <a:spcBef>
                <a:spcPts val="300"/>
              </a:spcBef>
              <a:buNone/>
            </a:pPr>
            <a:r>
              <a:rPr sz="1450" b="1" dirty="0">
                <a:latin typeface="Quattrocento Sans"/>
              </a:rPr>
              <a:t>EXPLAIN:  </a:t>
            </a:r>
            <a:r>
              <a:rPr sz="1450" b="0" dirty="0">
                <a:latin typeface="Quattrocento Sans"/>
              </a:rPr>
              <a:t>The </a:t>
            </a:r>
            <a:r>
              <a:rPr lang="en-US" sz="1450" dirty="0">
                <a:latin typeface="Quattrocento Sans"/>
              </a:rPr>
              <a:t>satellite</a:t>
            </a:r>
            <a:r>
              <a:rPr sz="1450" b="0" dirty="0">
                <a:latin typeface="Quattrocento Sans"/>
              </a:rPr>
              <a:t> is a pendulum</a:t>
            </a:r>
            <a:r>
              <a:rPr lang="en-US" sz="1450" b="0" dirty="0">
                <a:latin typeface="Quattrocento Sans"/>
              </a:rPr>
              <a:t> on the table</a:t>
            </a:r>
            <a:r>
              <a:rPr sz="1450" b="0" dirty="0">
                <a:latin typeface="Quattrocento Sans"/>
              </a:rPr>
              <a:t>: 1.8 s period, resting ≈3° off level. Gravity ≈ 16 </a:t>
            </a:r>
            <a:r>
              <a:rPr sz="1450" b="0" dirty="0" err="1">
                <a:latin typeface="Quattrocento Sans"/>
              </a:rPr>
              <a:t>mN·m</a:t>
            </a:r>
            <a:r>
              <a:rPr sz="1450" b="0" dirty="0">
                <a:latin typeface="Quattrocento Sans"/>
              </a:rPr>
              <a:t> per degree, so holding level needs ≈50 </a:t>
            </a:r>
            <a:r>
              <a:rPr sz="1450" b="0" dirty="0" err="1">
                <a:latin typeface="Quattrocento Sans"/>
              </a:rPr>
              <a:t>mN·m</a:t>
            </a:r>
            <a:r>
              <a:rPr sz="1450" b="0" dirty="0">
                <a:latin typeface="Quattrocento Sans"/>
              </a:rPr>
              <a:t> against ≈24 </a:t>
            </a:r>
            <a:r>
              <a:rPr sz="1450" b="0" dirty="0" err="1">
                <a:latin typeface="Quattrocento Sans"/>
              </a:rPr>
              <a:t>mN·m·s</a:t>
            </a:r>
            <a:r>
              <a:rPr sz="1450" b="0" dirty="0">
                <a:latin typeface="Quattrocento Sans"/>
              </a:rPr>
              <a:t> of wheel storage. Fits confirmed wheel signs and I ≈ 0.05–0.13 kg·m².</a:t>
            </a:r>
          </a:p>
          <a:p>
            <a:pPr marL="0" indent="0">
              <a:lnSpc>
                <a:spcPct val="95000"/>
              </a:lnSpc>
              <a:spcBef>
                <a:spcPts val="300"/>
              </a:spcBef>
              <a:buNone/>
            </a:pPr>
            <a:r>
              <a:rPr sz="1450" b="1" dirty="0">
                <a:latin typeface="Quattrocento Sans"/>
              </a:rPr>
              <a:t>NEXT:  </a:t>
            </a:r>
            <a:r>
              <a:rPr lang="en-US" sz="1450" dirty="0">
                <a:latin typeface="Quattrocento Sans"/>
              </a:rPr>
              <a:t>R</a:t>
            </a:r>
            <a:r>
              <a:rPr lang="en-US" sz="1450" b="0" dirty="0">
                <a:latin typeface="Quattrocento Sans"/>
              </a:rPr>
              <a:t>eturn the satellite to its original </a:t>
            </a:r>
            <a:r>
              <a:rPr lang="en-US" sz="1450" b="0" dirty="0" err="1">
                <a:latin typeface="Quattrocento Sans"/>
              </a:rPr>
              <a:t>CoM</a:t>
            </a:r>
            <a:r>
              <a:rPr lang="en-US" sz="1450" dirty="0">
                <a:latin typeface="Quattrocento Sans"/>
              </a:rPr>
              <a:t> configuration; add bottom weights and lateral trim screws to refine </a:t>
            </a:r>
            <a:r>
              <a:rPr lang="en-US" sz="1450" dirty="0" err="1">
                <a:latin typeface="Quattrocento Sans"/>
              </a:rPr>
              <a:t>CoM</a:t>
            </a:r>
            <a:r>
              <a:rPr lang="en-US" sz="1450" dirty="0">
                <a:latin typeface="Quattrocento Sans"/>
              </a:rPr>
              <a:t> placement to center on table bubble.</a:t>
            </a:r>
            <a:endParaRPr sz="1450" b="0" dirty="0">
              <a:latin typeface="Quattrocento Sans"/>
            </a:endParaRP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dirty="0"/>
              <a:t>Data: DEMO SPIN </a:t>
            </a:r>
            <a:r>
              <a:rPr lang="en-US" dirty="0"/>
              <a:t>Leveling</a:t>
            </a:r>
            <a:endParaRPr dirty="0"/>
          </a:p>
        </p:txBody>
      </p:sp>
      <p:sp>
        <p:nvSpPr>
          <p:cNvPr id="91" name="Google Shape;91;p3"/>
          <p:cNvSpPr txBox="1">
            <a:spLocks noGrp="1"/>
          </p:cNvSpPr>
          <p:nvPr>
            <p:ph type="sldNum" idx="12"/>
          </p:nvPr>
        </p:nvSpPr>
        <p:spPr>
          <a:xfrm>
            <a:off x="7040236" y="6465106"/>
            <a:ext cx="20574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</a:pPr>
            <a:fld id="{00000000-1234-1234-1234-123412341234}" type="slidenum">
              <a:rPr lang="en-US"/>
              <a:t>14</a:t>
            </a:fld>
            <a:endParaRPr/>
          </a:p>
        </p:txBody>
      </p:sp>
      <p:pic>
        <p:nvPicPr>
          <p:cNvPr id="92" name="Picture 91" descr="fig6_demo2_balanc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896112"/>
            <a:ext cx="7498079" cy="3488219"/>
          </a:xfrm>
          <a:prstGeom prst="rect">
            <a:avLst/>
          </a:prstGeom>
        </p:spPr>
      </p:pic>
      <p:sp>
        <p:nvSpPr>
          <p:cNvPr id="93" name="TextBox 92"/>
          <p:cNvSpPr txBox="1"/>
          <p:nvPr/>
        </p:nvSpPr>
        <p:spPr>
          <a:xfrm>
            <a:off x="274320" y="4434840"/>
            <a:ext cx="8595360" cy="1948226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marL="0" indent="0">
              <a:lnSpc>
                <a:spcPct val="95000"/>
              </a:lnSpc>
              <a:spcBef>
                <a:spcPts val="300"/>
              </a:spcBef>
              <a:buNone/>
            </a:pPr>
            <a:r>
              <a:rPr sz="1300" b="1" dirty="0">
                <a:latin typeface="Quattrocento Sans"/>
              </a:rPr>
              <a:t>MEASURE:  </a:t>
            </a:r>
            <a:r>
              <a:rPr sz="1300" b="0" dirty="0">
                <a:latin typeface="Quattrocento Sans"/>
              </a:rPr>
              <a:t>Six DEMO SPIN attempts after adding balance weights: roll, wheel speeds, and the free swing.</a:t>
            </a:r>
          </a:p>
          <a:p>
            <a:pPr marL="0" indent="0">
              <a:lnSpc>
                <a:spcPct val="95000"/>
              </a:lnSpc>
              <a:spcBef>
                <a:spcPts val="300"/>
              </a:spcBef>
              <a:buNone/>
            </a:pPr>
            <a:r>
              <a:rPr sz="1300" b="1" dirty="0">
                <a:latin typeface="Quattrocento Sans"/>
              </a:rPr>
              <a:t>COMPARE:  </a:t>
            </a:r>
            <a:r>
              <a:rPr sz="1300" b="0" dirty="0">
                <a:latin typeface="Quattrocento Sans"/>
              </a:rPr>
              <a:t>Expected: level (&lt; 1° for 3 s), then spin. Instead</a:t>
            </a:r>
            <a:r>
              <a:rPr lang="en-US" sz="1300" b="0" dirty="0">
                <a:latin typeface="Quattrocento Sans"/>
              </a:rPr>
              <a:t>,</a:t>
            </a:r>
            <a:r>
              <a:rPr sz="1300" b="0" dirty="0">
                <a:latin typeface="Quattrocento Sans"/>
              </a:rPr>
              <a:t> every attempt stayed in Level and stopped at the 55 rad/s wheel limit after 2.2–3.7 s (1–2 s before the weights).</a:t>
            </a:r>
          </a:p>
          <a:p>
            <a:pPr marL="0" indent="0">
              <a:lnSpc>
                <a:spcPct val="95000"/>
              </a:lnSpc>
              <a:spcBef>
                <a:spcPts val="300"/>
              </a:spcBef>
              <a:buNone/>
            </a:pPr>
            <a:r>
              <a:rPr sz="1300" b="1" dirty="0">
                <a:latin typeface="Quattrocento Sans"/>
              </a:rPr>
              <a:t>EXPLAIN:  </a:t>
            </a:r>
            <a:r>
              <a:rPr sz="1300" b="0" dirty="0">
                <a:latin typeface="Quattrocento Sans"/>
              </a:rPr>
              <a:t>Weights cut gravity’s pull ≈3× (swing period 1.8 → 3.3 s) and balanced pitch, but roll still rests ≈3.3° off level (−y side heavy). Holding roll at ≈2° pushes ≈8 </a:t>
            </a:r>
            <a:r>
              <a:rPr sz="1300" b="0" dirty="0" err="1">
                <a:latin typeface="Quattrocento Sans"/>
              </a:rPr>
              <a:t>mN·m</a:t>
            </a:r>
            <a:r>
              <a:rPr sz="1300" b="0" dirty="0">
                <a:latin typeface="Quattrocento Sans"/>
              </a:rPr>
              <a:t> against gravity and fills wheel A in ≈3 s; the stop then brakes the wheels and kicks the table.</a:t>
            </a:r>
          </a:p>
          <a:p>
            <a:pPr marL="0" indent="0">
              <a:lnSpc>
                <a:spcPct val="100000"/>
              </a:lnSpc>
              <a:spcBef>
                <a:spcPts val="300"/>
              </a:spcBef>
              <a:buNone/>
            </a:pPr>
            <a:r>
              <a:rPr sz="1300" b="1" dirty="0">
                <a:latin typeface="Quattrocento Sans"/>
              </a:rPr>
              <a:t>NEXT:  </a:t>
            </a:r>
            <a:r>
              <a:rPr sz="1300" b="0" dirty="0">
                <a:latin typeface="Quattrocento Sans"/>
              </a:rPr>
              <a:t>Trim roll (weight toward +y, ≈15 </a:t>
            </a:r>
            <a:r>
              <a:rPr sz="1300" b="0" dirty="0" err="1">
                <a:latin typeface="Quattrocento Sans"/>
              </a:rPr>
              <a:t>mN·m</a:t>
            </a:r>
            <a:r>
              <a:rPr sz="1300" b="0" dirty="0">
                <a:latin typeface="Quattrocento Sans"/>
              </a:rPr>
              <a:t>); new DEMO LEVEL test (level + hold, no spin) to measure hold time; ramp the wheels down instead of braking.</a:t>
            </a:r>
            <a:r>
              <a:rPr lang="en-US" sz="1300" b="0" dirty="0">
                <a:latin typeface="Quattrocento Sans"/>
              </a:rPr>
              <a:t> Increase allowable wheel limit to greater than 55 rad/s for more momentum storage.</a:t>
            </a:r>
            <a:endParaRPr sz="1300" b="0" dirty="0">
              <a:latin typeface="Quattrocento Sans"/>
            </a:endParaRP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3E87F73-F0E4-6922-67BC-49AB6097DE8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DEMO SPIN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53FAC40-CEAE-7914-E869-8F5406CF723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95074AB-EC0B-2CB1-8038-6DE37877DC25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mtClean="0"/>
              <a:t>15</a:t>
            </a:fld>
            <a:endParaRPr lang="en-US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2D6C281A-E20D-57C6-032A-B7375084EF67}"/>
              </a:ext>
            </a:extLst>
          </p:cNvPr>
          <p:cNvPicPr>
            <a:picLocks noChangeAspect="1"/>
          </p:cNvPicPr>
          <p:nvPr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729233" y="1097280"/>
            <a:ext cx="3614166" cy="4818888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3958D52C-E875-C8E2-FB59-DA9AFAFEF2AD}"/>
              </a:ext>
            </a:extLst>
          </p:cNvPr>
          <p:cNvPicPr>
            <a:picLocks noChangeAspect="1"/>
          </p:cNvPicPr>
          <p:nvPr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4800599" y="1097280"/>
            <a:ext cx="3614166" cy="4818888"/>
          </a:xfrm>
          <a:prstGeom prst="rect">
            <a:avLst/>
          </a:prstGeom>
        </p:spPr>
      </p:pic>
      <p:sp>
        <p:nvSpPr>
          <p:cNvPr id="10" name="Caption: Setting Up for Spin"/>
          <p:cNvSpPr txBox="1"/>
          <p:nvPr/>
        </p:nvSpPr>
        <p:spPr>
          <a:xfrm>
            <a:off x="729233" y="5971032"/>
            <a:ext cx="3614166" cy="38404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600">
                <a:solidFill>
                  <a:srgbClr val="000000"/>
                </a:solidFill>
                <a:latin typeface="Quattrocento Sans"/>
              </a:rPr>
              <a:t>Setting Up for Spin</a:t>
            </a:r>
          </a:p>
        </p:txBody>
      </p:sp>
      <p:sp>
        <p:nvSpPr>
          <p:cNvPr id="11" name="Caption: Additional Weight Detail"/>
          <p:cNvSpPr txBox="1"/>
          <p:nvPr/>
        </p:nvSpPr>
        <p:spPr>
          <a:xfrm>
            <a:off x="4800599" y="5971032"/>
            <a:ext cx="3614166" cy="38404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600">
                <a:solidFill>
                  <a:srgbClr val="000000"/>
                </a:solidFill>
                <a:latin typeface="Quattrocento Sans"/>
              </a:rPr>
              <a:t>Additional Weight Detail</a:t>
            </a:r>
          </a:p>
        </p:txBody>
      </p:sp>
    </p:spTree>
    <p:extLst>
      <p:ext uri="{BB962C8B-B14F-4D97-AF65-F5344CB8AC3E}">
        <p14:creationId xmlns:p14="http://schemas.microsoft.com/office/powerpoint/2010/main" val="3589227087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097644F-4DEA-4B4A-8AB4-4070082412F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DEMO SPIN: Leveling Video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3C51A14-DCC9-4D2E-8E8C-050F45D4723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0F099E3-E8D6-61AE-7166-798CAC1E286C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mtClean="0"/>
              <a:t>16</a:t>
            </a:fld>
            <a:endParaRPr lang="en-US"/>
          </a:p>
        </p:txBody>
      </p:sp>
      <p:pic>
        <p:nvPicPr>
          <p:cNvPr id="5" name="LevelTest21Oct">
            <a:hlinkClick r:id="" action="ppaction://media"/>
            <a:extLst>
              <a:ext uri="{FF2B5EF4-FFF2-40B4-BE49-F238E27FC236}">
                <a16:creationId xmlns:a16="http://schemas.microsoft.com/office/drawing/2014/main" id="{20ABE29E-2AB7-C42D-00A0-F1585378EEBA}"/>
              </a:ext>
            </a:extLst>
          </p:cNvPr>
          <p:cNvPicPr>
            <a:picLocks noChangeAspect="1"/>
          </p:cNvPicPr>
          <p:nvPr>
            <a:videoFile r:link="rId2"/>
            <p:extLst>
              <p:ext uri="{DAA4B4D4-6D71-4841-9C94-3DE7FCFB9230}">
                <p14:media xmlns:p14="http://schemas.microsoft.com/office/powerpoint/2010/main" r:embed="rId1"/>
              </p:ext>
            </p:extLst>
          </p:nvPr>
        </p:nvPicPr>
        <p:blipFill>
          <a:blip r:embed="rId4"/>
          <a:stretch>
            <a:fillRect/>
          </a:stretch>
        </p:blipFill>
        <p:spPr>
          <a:xfrm>
            <a:off x="2976372" y="1002506"/>
            <a:ext cx="2982277" cy="530182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2166403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5572" fill="hold"/>
                                        <p:tgtEl>
                                          <p:spTgt spid="5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video>
              <p:cMediaNode vol="80000">
                <p:cTn id="7" fill="hold" display="0">
                  <p:stCondLst>
                    <p:cond delay="indefinite"/>
                  </p:stCondLst>
                </p:cTn>
                <p:tgtEl>
                  <p:spTgt spid="5"/>
                </p:tgtEl>
              </p:cMediaNode>
            </p:video>
            <p:seq concurrent="1" nextAc="seek">
              <p:cTn id="8" restart="whenNotActive" fill="hold" evtFilter="cancelBubble" nodeType="interactiveSeq">
                <p:stCondLst>
                  <p:cond evt="onClick" delay="0">
                    <p:tgtEl>
                      <p:spTgt spid="5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9" fill="hold">
                      <p:stCondLst>
                        <p:cond delay="0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togglePause">
                                      <p:cBhvr>
                                        <p:cTn id="12" dur="1" fill="hold"/>
                                        <p:tgtEl>
                                          <p:spTgt spid="5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5"/>
                  </p:tgtEl>
                </p:cond>
              </p:nextCondLst>
            </p:seq>
          </p:childTnLst>
        </p:cTn>
      </p:par>
    </p:tn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h1e1805356538ab88_0_18"/>
          <p:cNvSpPr txBox="1">
            <a:spLocks noGrp="1"/>
          </p:cNvSpPr>
          <p:nvPr>
            <p:ph type="title"/>
          </p:nvPr>
        </p:nvSpPr>
        <p:spPr>
          <a:xfrm>
            <a:off x="866966" y="133186"/>
            <a:ext cx="7886700" cy="652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Quattrocento Sans"/>
              <a:buNone/>
            </a:pPr>
            <a:r>
              <a:rPr lang="en-US"/>
              <a:t>Future Plans: Where We Stand</a:t>
            </a:r>
            <a:endParaRPr/>
          </a:p>
        </p:txBody>
      </p:sp>
      <p:sp>
        <p:nvSpPr>
          <p:cNvPr id="128" name="Google Shape;128;h1e1805356538ab88_0_18"/>
          <p:cNvSpPr txBox="1">
            <a:spLocks noGrp="1"/>
          </p:cNvSpPr>
          <p:nvPr>
            <p:ph type="sldNum" idx="12"/>
          </p:nvPr>
        </p:nvSpPr>
        <p:spPr>
          <a:xfrm>
            <a:off x="7040236" y="6465106"/>
            <a:ext cx="20574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</a:pPr>
            <a:fld id="{00000000-1234-1234-1234-123412341234}" type="slidenum">
              <a:rPr lang="en-US"/>
              <a:t>17</a:t>
            </a:fld>
            <a:endParaRPr/>
          </a:p>
        </p:txBody>
      </p:sp>
      <p:sp>
        <p:nvSpPr>
          <p:cNvPr id="129" name="TextBox 128"/>
          <p:cNvSpPr txBox="1"/>
          <p:nvPr/>
        </p:nvSpPr>
        <p:spPr>
          <a:xfrm>
            <a:off x="274320" y="1005840"/>
            <a:ext cx="2743200" cy="340863"/>
          </a:xfrm>
          <a:prstGeom prst="rect">
            <a:avLst/>
          </a:prstGeom>
          <a:solidFill>
            <a:srgbClr val="404040"/>
          </a:solidFill>
        </p:spPr>
        <p:txBody>
          <a:bodyPr wrap="square" lIns="73152" rIns="73152">
            <a:spAutoFit/>
          </a:bodyPr>
          <a:lstStyle/>
          <a:p>
            <a:pPr marL="0" indent="0">
              <a:lnSpc>
                <a:spcPct val="95000"/>
              </a:lnSpc>
              <a:spcBef>
                <a:spcPts val="300"/>
              </a:spcBef>
              <a:buNone/>
            </a:pPr>
            <a:r>
              <a:rPr lang="en-US" sz="1700" b="1" dirty="0">
                <a:solidFill>
                  <a:srgbClr val="FFFFFF"/>
                </a:solidFill>
                <a:latin typeface="Quattrocento Sans"/>
              </a:rPr>
              <a:t>Complete</a:t>
            </a:r>
            <a:endParaRPr sz="1700" b="1" dirty="0">
              <a:solidFill>
                <a:srgbClr val="FFFFFF"/>
              </a:solidFill>
              <a:latin typeface="Quattrocento Sans"/>
            </a:endParaRPr>
          </a:p>
        </p:txBody>
      </p:sp>
      <p:sp>
        <p:nvSpPr>
          <p:cNvPr id="130" name="TextBox 129"/>
          <p:cNvSpPr txBox="1"/>
          <p:nvPr/>
        </p:nvSpPr>
        <p:spPr>
          <a:xfrm>
            <a:off x="274320" y="1508760"/>
            <a:ext cx="2743200" cy="3895425"/>
          </a:xfrm>
          <a:prstGeom prst="rect">
            <a:avLst/>
          </a:prstGeom>
          <a:solidFill>
            <a:srgbClr val="F2F2F2"/>
          </a:solidFill>
        </p:spPr>
        <p:txBody>
          <a:bodyPr wrap="square" lIns="73152" rIns="73152">
            <a:spAutoFit/>
          </a:bodyPr>
          <a:lstStyle/>
          <a:p>
            <a:pPr marL="300000" indent="-228600">
              <a:lnSpc>
                <a:spcPct val="95000"/>
              </a:lnSpc>
              <a:spcBef>
                <a:spcPts val="1600"/>
              </a:spcBef>
              <a:buChar char="•"/>
            </a:pPr>
            <a:r>
              <a:rPr sz="1700" b="0" dirty="0">
                <a:latin typeface="Quattrocento Sans"/>
              </a:rPr>
              <a:t>Attitude estimator: roll/pitch 0.02° at rest</a:t>
            </a:r>
          </a:p>
          <a:p>
            <a:pPr marL="300000" indent="-228600">
              <a:lnSpc>
                <a:spcPct val="95000"/>
              </a:lnSpc>
              <a:spcBef>
                <a:spcPts val="1600"/>
              </a:spcBef>
              <a:buChar char="•"/>
            </a:pPr>
            <a:r>
              <a:rPr sz="1700" b="0" dirty="0">
                <a:latin typeface="Quattrocento Sans"/>
              </a:rPr>
              <a:t>Reliable 100 Hz IMU data (0.085% lost)</a:t>
            </a:r>
          </a:p>
          <a:p>
            <a:pPr marL="300000" indent="-228600">
              <a:lnSpc>
                <a:spcPct val="95000"/>
              </a:lnSpc>
              <a:spcBef>
                <a:spcPts val="1600"/>
              </a:spcBef>
              <a:buChar char="•"/>
            </a:pPr>
            <a:r>
              <a:rPr sz="1700" b="0" dirty="0">
                <a:latin typeface="Quattrocento Sans"/>
              </a:rPr>
              <a:t>Wheel speed </a:t>
            </a:r>
            <a:r>
              <a:rPr lang="en-US" sz="1700" b="0" dirty="0">
                <a:latin typeface="Quattrocento Sans"/>
              </a:rPr>
              <a:t>control </a:t>
            </a:r>
            <a:r>
              <a:rPr sz="1700" b="0" dirty="0">
                <a:latin typeface="Quattrocento Sans"/>
              </a:rPr>
              <a:t>loop on all 4 wheels at 12 V</a:t>
            </a:r>
          </a:p>
          <a:p>
            <a:pPr marL="300000" indent="-228600">
              <a:lnSpc>
                <a:spcPct val="95000"/>
              </a:lnSpc>
              <a:spcBef>
                <a:spcPts val="1600"/>
              </a:spcBef>
              <a:buChar char="•"/>
            </a:pPr>
            <a:r>
              <a:rPr sz="1700" b="0" dirty="0">
                <a:latin typeface="Quattrocento Sans"/>
              </a:rPr>
              <a:t>SD + </a:t>
            </a:r>
            <a:r>
              <a:rPr sz="1700" b="0" dirty="0" err="1">
                <a:latin typeface="Quattrocento Sans"/>
              </a:rPr>
              <a:t>XBee</a:t>
            </a:r>
            <a:r>
              <a:rPr sz="1700" b="0" dirty="0">
                <a:latin typeface="Quattrocento Sans"/>
              </a:rPr>
              <a:t> logging and command link</a:t>
            </a:r>
          </a:p>
          <a:p>
            <a:pPr marL="300000" indent="-228600">
              <a:lnSpc>
                <a:spcPct val="95000"/>
              </a:lnSpc>
              <a:spcBef>
                <a:spcPts val="1600"/>
              </a:spcBef>
              <a:buChar char="•"/>
            </a:pPr>
            <a:r>
              <a:rPr sz="1700" b="0" dirty="0">
                <a:latin typeface="Quattrocento Sans"/>
              </a:rPr>
              <a:t>Wheel geometry and signs verified on the air bearing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3182112" y="1005840"/>
            <a:ext cx="2743200" cy="340863"/>
          </a:xfrm>
          <a:prstGeom prst="rect">
            <a:avLst/>
          </a:prstGeom>
          <a:solidFill>
            <a:srgbClr val="404040"/>
          </a:solidFill>
        </p:spPr>
        <p:txBody>
          <a:bodyPr wrap="square" lIns="73152" rIns="73152">
            <a:spAutoFit/>
          </a:bodyPr>
          <a:lstStyle/>
          <a:p>
            <a:pPr marL="0" indent="0">
              <a:lnSpc>
                <a:spcPct val="95000"/>
              </a:lnSpc>
              <a:spcBef>
                <a:spcPts val="300"/>
              </a:spcBef>
              <a:buNone/>
            </a:pPr>
            <a:r>
              <a:rPr sz="1700" b="1" dirty="0">
                <a:solidFill>
                  <a:srgbClr val="FFFFFF"/>
                </a:solidFill>
                <a:latin typeface="Quattrocento Sans"/>
              </a:rPr>
              <a:t>Needs improvemen</a:t>
            </a:r>
            <a:r>
              <a:rPr lang="en-US" sz="1700" b="1" dirty="0">
                <a:solidFill>
                  <a:srgbClr val="FFFFFF"/>
                </a:solidFill>
                <a:latin typeface="Quattrocento Sans"/>
              </a:rPr>
              <a:t>t</a:t>
            </a:r>
            <a:endParaRPr sz="1700" b="1" dirty="0">
              <a:solidFill>
                <a:srgbClr val="FFFFFF"/>
              </a:solidFill>
              <a:latin typeface="Quattrocento Sans"/>
            </a:endParaRPr>
          </a:p>
        </p:txBody>
      </p:sp>
      <p:sp>
        <p:nvSpPr>
          <p:cNvPr id="132" name="TextBox 131"/>
          <p:cNvSpPr txBox="1"/>
          <p:nvPr/>
        </p:nvSpPr>
        <p:spPr>
          <a:xfrm>
            <a:off x="3182112" y="1508760"/>
            <a:ext cx="2743200" cy="3398366"/>
          </a:xfrm>
          <a:prstGeom prst="rect">
            <a:avLst/>
          </a:prstGeom>
          <a:solidFill>
            <a:srgbClr val="F2F2F2"/>
          </a:solidFill>
        </p:spPr>
        <p:txBody>
          <a:bodyPr wrap="square" lIns="73152" rIns="73152">
            <a:spAutoFit/>
          </a:bodyPr>
          <a:lstStyle/>
          <a:p>
            <a:pPr marL="300000" indent="-228600">
              <a:lnSpc>
                <a:spcPct val="95000"/>
              </a:lnSpc>
              <a:spcBef>
                <a:spcPts val="1600"/>
              </a:spcBef>
              <a:buChar char="•"/>
            </a:pPr>
            <a:r>
              <a:rPr sz="1700" b="0" dirty="0">
                <a:latin typeface="Quattrocento Sans"/>
              </a:rPr>
              <a:t>Table balance: pitch fixed, roll still ≈3° off level</a:t>
            </a:r>
          </a:p>
          <a:p>
            <a:pPr marL="300000" indent="-228600">
              <a:lnSpc>
                <a:spcPct val="95000"/>
              </a:lnSpc>
              <a:spcBef>
                <a:spcPts val="1600"/>
              </a:spcBef>
              <a:buChar char="•"/>
            </a:pPr>
            <a:r>
              <a:rPr lang="en-US" sz="1700" b="0" dirty="0">
                <a:latin typeface="Quattrocento Sans"/>
              </a:rPr>
              <a:t>Yaw drift: ≈3 °/h after warm-up</a:t>
            </a:r>
          </a:p>
          <a:p>
            <a:pPr marL="300000" indent="-228600">
              <a:lnSpc>
                <a:spcPct val="95000"/>
              </a:lnSpc>
              <a:spcBef>
                <a:spcPts val="1600"/>
              </a:spcBef>
              <a:buChar char="•"/>
            </a:pPr>
            <a:r>
              <a:rPr sz="1700" b="0" dirty="0">
                <a:latin typeface="Quattrocento Sans"/>
              </a:rPr>
              <a:t>Wheel A rub; wheel C oscillation</a:t>
            </a:r>
          </a:p>
          <a:p>
            <a:pPr marL="300000" indent="-228600">
              <a:lnSpc>
                <a:spcPct val="95000"/>
              </a:lnSpc>
              <a:spcBef>
                <a:spcPts val="1600"/>
              </a:spcBef>
              <a:buChar char="•"/>
            </a:pPr>
            <a:r>
              <a:rPr sz="1700" b="0" dirty="0">
                <a:latin typeface="Quattrocento Sans"/>
              </a:rPr>
              <a:t>Static friction at low wheel speed</a:t>
            </a:r>
          </a:p>
          <a:p>
            <a:pPr marL="300000" indent="-228600">
              <a:lnSpc>
                <a:spcPct val="95000"/>
              </a:lnSpc>
              <a:spcBef>
                <a:spcPts val="1600"/>
              </a:spcBef>
              <a:buChar char="•"/>
            </a:pPr>
            <a:r>
              <a:rPr sz="1700" b="0" dirty="0">
                <a:latin typeface="Quattrocento Sans"/>
              </a:rPr>
              <a:t>Real inertia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6089904" y="1005840"/>
            <a:ext cx="2743200" cy="340863"/>
          </a:xfrm>
          <a:prstGeom prst="rect">
            <a:avLst/>
          </a:prstGeom>
          <a:solidFill>
            <a:srgbClr val="404040"/>
          </a:solidFill>
        </p:spPr>
        <p:txBody>
          <a:bodyPr wrap="square" lIns="73152" rIns="73152">
            <a:spAutoFit/>
          </a:bodyPr>
          <a:lstStyle/>
          <a:p>
            <a:pPr marL="0" indent="0">
              <a:lnSpc>
                <a:spcPct val="95000"/>
              </a:lnSpc>
              <a:spcBef>
                <a:spcPts val="300"/>
              </a:spcBef>
              <a:buNone/>
            </a:pPr>
            <a:r>
              <a:rPr sz="1700" b="1" dirty="0">
                <a:solidFill>
                  <a:srgbClr val="FFFFFF"/>
                </a:solidFill>
                <a:latin typeface="Quattrocento Sans"/>
              </a:rPr>
              <a:t>Remainin</a:t>
            </a:r>
            <a:r>
              <a:rPr lang="en-US" sz="1700" b="1" dirty="0">
                <a:solidFill>
                  <a:srgbClr val="FFFFFF"/>
                </a:solidFill>
                <a:latin typeface="Quattrocento Sans"/>
              </a:rPr>
              <a:t>g</a:t>
            </a:r>
            <a:endParaRPr sz="1700" b="1" dirty="0">
              <a:solidFill>
                <a:srgbClr val="FFFFFF"/>
              </a:solidFill>
              <a:latin typeface="Quattrocento Sans"/>
            </a:endParaRPr>
          </a:p>
        </p:txBody>
      </p:sp>
      <p:sp>
        <p:nvSpPr>
          <p:cNvPr id="134" name="TextBox 133"/>
          <p:cNvSpPr txBox="1"/>
          <p:nvPr/>
        </p:nvSpPr>
        <p:spPr>
          <a:xfrm>
            <a:off x="6089904" y="1508760"/>
            <a:ext cx="2743200" cy="3646896"/>
          </a:xfrm>
          <a:prstGeom prst="rect">
            <a:avLst/>
          </a:prstGeom>
          <a:solidFill>
            <a:srgbClr val="F2F2F2"/>
          </a:solidFill>
        </p:spPr>
        <p:txBody>
          <a:bodyPr wrap="square" lIns="73152" rIns="73152">
            <a:spAutoFit/>
          </a:bodyPr>
          <a:lstStyle/>
          <a:p>
            <a:pPr marL="300000" indent="-228600">
              <a:lnSpc>
                <a:spcPct val="95000"/>
              </a:lnSpc>
              <a:spcBef>
                <a:spcPts val="1600"/>
              </a:spcBef>
              <a:buChar char="•"/>
            </a:pPr>
            <a:r>
              <a:rPr lang="en-US" sz="1700" b="0" dirty="0">
                <a:latin typeface="Quattrocento Sans"/>
              </a:rPr>
              <a:t>Magnetometer sensor fusion</a:t>
            </a:r>
          </a:p>
          <a:p>
            <a:pPr marL="300000" indent="-228600">
              <a:lnSpc>
                <a:spcPct val="95000"/>
              </a:lnSpc>
              <a:spcBef>
                <a:spcPts val="1600"/>
              </a:spcBef>
              <a:buChar char="•"/>
            </a:pPr>
            <a:r>
              <a:rPr sz="1700" b="0" dirty="0">
                <a:latin typeface="Quattrocento Sans"/>
              </a:rPr>
              <a:t>Heading hold on the free table (Req. 1)</a:t>
            </a:r>
          </a:p>
          <a:p>
            <a:pPr marL="300000" indent="-228600">
              <a:lnSpc>
                <a:spcPct val="95000"/>
              </a:lnSpc>
              <a:spcBef>
                <a:spcPts val="1600"/>
              </a:spcBef>
              <a:buChar char="•"/>
            </a:pPr>
            <a:r>
              <a:rPr sz="1700" b="0" dirty="0">
                <a:latin typeface="Quattrocento Sans"/>
              </a:rPr>
              <a:t>Yaw accuracy on a moving table (Req. 2)</a:t>
            </a:r>
          </a:p>
          <a:p>
            <a:pPr marL="300000" indent="-228600">
              <a:lnSpc>
                <a:spcPct val="95000"/>
              </a:lnSpc>
              <a:spcBef>
                <a:spcPts val="1600"/>
              </a:spcBef>
              <a:buChar char="•"/>
            </a:pPr>
            <a:r>
              <a:rPr sz="1700" b="0" dirty="0">
                <a:latin typeface="Quattrocento Sans"/>
              </a:rPr>
              <a:t>Wheel-failure detection + 3-wheel control (Req. 3)</a:t>
            </a:r>
          </a:p>
          <a:p>
            <a:pPr marL="300000" indent="-228600">
              <a:lnSpc>
                <a:spcPct val="95000"/>
              </a:lnSpc>
              <a:spcBef>
                <a:spcPts val="1600"/>
              </a:spcBef>
              <a:buChar char="•"/>
            </a:pPr>
            <a:r>
              <a:rPr sz="1700" b="0" dirty="0">
                <a:latin typeface="Quattrocento Sans"/>
              </a:rPr>
              <a:t>Stretch: 4-</a:t>
            </a:r>
            <a:r>
              <a:rPr lang="en-US" sz="1700" b="0" dirty="0">
                <a:latin typeface="Quattrocento Sans"/>
              </a:rPr>
              <a:t>point</a:t>
            </a:r>
            <a:r>
              <a:rPr sz="1700" b="0" dirty="0">
                <a:latin typeface="Quattrocento Sans"/>
              </a:rPr>
              <a:t> optimal</a:t>
            </a:r>
            <a:r>
              <a:rPr lang="en-US" sz="1700" b="0" dirty="0">
                <a:latin typeface="Quattrocento Sans"/>
              </a:rPr>
              <a:t> course</a:t>
            </a:r>
            <a:r>
              <a:rPr sz="1700" b="0" dirty="0">
                <a:latin typeface="Quattrocento Sans"/>
              </a:rPr>
              <a:t> slew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Future Plans: Path to Lesson 31</a:t>
            </a:r>
          </a:p>
        </p:txBody>
      </p:sp>
      <p:sp>
        <p:nvSpPr>
          <p:cNvPr id="91" name="Google Shape;91;p3"/>
          <p:cNvSpPr txBox="1">
            <a:spLocks noGrp="1"/>
          </p:cNvSpPr>
          <p:nvPr>
            <p:ph type="sldNum" idx="12"/>
          </p:nvPr>
        </p:nvSpPr>
        <p:spPr>
          <a:xfrm>
            <a:off x="7040236" y="6465106"/>
            <a:ext cx="20574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</a:pPr>
            <a:fld id="{00000000-1234-1234-1234-123412341234}" type="slidenum">
              <a:rPr lang="en-US"/>
              <a:t>18</a:t>
            </a:fld>
            <a:endParaRPr/>
          </a:p>
        </p:txBody>
      </p:sp>
      <p:graphicFrame>
        <p:nvGraphicFramePr>
          <p:cNvPr id="92" name="Table 9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981296516"/>
              </p:ext>
            </p:extLst>
          </p:nvPr>
        </p:nvGraphicFramePr>
        <p:xfrm>
          <a:off x="274320" y="1005840"/>
          <a:ext cx="8595360" cy="301752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348461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5614087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316406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316406">
                  <a:extLst>
                    <a:ext uri="{9D8B030D-6E8A-4147-A177-3AD203B41FA5}">
                      <a16:colId xmlns:a16="http://schemas.microsoft.com/office/drawing/2014/main" val="3117428457"/>
                    </a:ext>
                  </a:extLst>
                </a:gridCol>
              </a:tblGrid>
              <a:tr h="502920"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Quattrocento Sans"/>
                        </a:rPr>
                        <a:t>#</a:t>
                      </a:r>
                    </a:p>
                  </a:txBody>
                  <a:tcPr marL="54864" marR="54864" marT="27432" marB="27432" anchor="ctr">
                    <a:solidFill>
                      <a:srgbClr val="40404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 dirty="0">
                          <a:solidFill>
                            <a:srgbClr val="FFFFFF"/>
                          </a:solidFill>
                          <a:latin typeface="Quattrocento Sans"/>
                        </a:rPr>
                        <a:t>Next task</a:t>
                      </a:r>
                    </a:p>
                  </a:txBody>
                  <a:tcPr marL="54864" marR="54864" marT="27432" marB="27432" anchor="ctr">
                    <a:solidFill>
                      <a:srgbClr val="40404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Quattrocento Sans"/>
                        </a:rPr>
                        <a:t>Verifies</a:t>
                      </a:r>
                    </a:p>
                  </a:txBody>
                  <a:tcPr marL="54864" marR="54864" marT="27432" marB="27432" anchor="ctr">
                    <a:solidFill>
                      <a:srgbClr val="40404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Quattrocento Sans"/>
                        </a:rPr>
                        <a:t>Complete By</a:t>
                      </a:r>
                      <a:endParaRPr sz="1400" b="1" dirty="0">
                        <a:solidFill>
                          <a:srgbClr val="FFFFFF"/>
                        </a:solidFill>
                        <a:latin typeface="Quattrocento Sans"/>
                      </a:endParaRPr>
                    </a:p>
                  </a:txBody>
                  <a:tcPr marL="54864" marR="54864" marT="27432" marB="27432" anchor="ctr">
                    <a:solidFill>
                      <a:srgbClr val="40404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02920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000000"/>
                          </a:solidFill>
                          <a:latin typeface="Quattrocento Sans"/>
                        </a:rPr>
                        <a:t>1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 dirty="0">
                          <a:solidFill>
                            <a:srgbClr val="000000"/>
                          </a:solidFill>
                          <a:latin typeface="Quattrocento Sans"/>
                        </a:rPr>
                        <a:t>Trim roll balance (weight toward +y); measure hold time with the new DEMO LEVEL test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 dirty="0">
                          <a:solidFill>
                            <a:srgbClr val="000000"/>
                          </a:solidFill>
                          <a:latin typeface="Quattrocento Sans"/>
                        </a:rPr>
                        <a:t>Enables hold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300" b="0" dirty="0" err="1">
                          <a:solidFill>
                            <a:srgbClr val="000000"/>
                          </a:solidFill>
                          <a:latin typeface="Quattrocento Sans"/>
                        </a:rPr>
                        <a:t>Lsn</a:t>
                      </a:r>
                      <a:r>
                        <a:rPr lang="en-US" sz="1300" b="0" dirty="0">
                          <a:solidFill>
                            <a:srgbClr val="000000"/>
                          </a:solidFill>
                          <a:latin typeface="Quattrocento Sans"/>
                        </a:rPr>
                        <a:t> 27</a:t>
                      </a:r>
                      <a:endParaRPr sz="1300" b="0" dirty="0">
                        <a:solidFill>
                          <a:srgbClr val="000000"/>
                        </a:solidFill>
                        <a:latin typeface="Quattrocento Sans"/>
                      </a:endParaRP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02920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000000"/>
                          </a:solidFill>
                          <a:latin typeface="Quattrocento Sans"/>
                        </a:rPr>
                        <a:t>2</a:t>
                      </a:r>
                    </a:p>
                  </a:txBody>
                  <a:tcPr marL="54864" marR="54864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 dirty="0">
                          <a:solidFill>
                            <a:srgbClr val="000000"/>
                          </a:solidFill>
                          <a:latin typeface="Quattrocento Sans"/>
                        </a:rPr>
                        <a:t>ARM heading hold on the free table for 5 min, logged</a:t>
                      </a:r>
                    </a:p>
                  </a:txBody>
                  <a:tcPr marL="54864" marR="54864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 dirty="0">
                          <a:solidFill>
                            <a:srgbClr val="000000"/>
                          </a:solidFill>
                          <a:latin typeface="Quattrocento Sans"/>
                        </a:rPr>
                        <a:t>Req. 1</a:t>
                      </a:r>
                    </a:p>
                  </a:txBody>
                  <a:tcPr marL="54864" marR="54864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300" b="0" dirty="0" err="1">
                          <a:solidFill>
                            <a:srgbClr val="000000"/>
                          </a:solidFill>
                          <a:latin typeface="Quattrocento Sans"/>
                        </a:rPr>
                        <a:t>Lsn</a:t>
                      </a:r>
                      <a:r>
                        <a:rPr lang="en-US" sz="1300" b="0" dirty="0">
                          <a:solidFill>
                            <a:srgbClr val="000000"/>
                          </a:solidFill>
                          <a:latin typeface="Quattrocento Sans"/>
                        </a:rPr>
                        <a:t> 28</a:t>
                      </a:r>
                      <a:endParaRPr sz="1300" b="0" dirty="0">
                        <a:solidFill>
                          <a:srgbClr val="000000"/>
                        </a:solidFill>
                        <a:latin typeface="Quattrocento Sans"/>
                      </a:endParaRPr>
                    </a:p>
                  </a:txBody>
                  <a:tcPr marL="54864" marR="54864" marT="27432" marB="27432" anchor="ctr"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02920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000000"/>
                          </a:solidFill>
                          <a:latin typeface="Quattrocento Sans"/>
                        </a:rPr>
                        <a:t>3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 dirty="0">
                          <a:solidFill>
                            <a:srgbClr val="000000"/>
                          </a:solidFill>
                          <a:latin typeface="Quattrocento Sans"/>
                        </a:rPr>
                        <a:t>Yaw truth test: marked turns + calibrated magnetometer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000000"/>
                          </a:solidFill>
                          <a:latin typeface="Quattrocento Sans"/>
                        </a:rPr>
                        <a:t>Req. 2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300" b="0" dirty="0" err="1">
                          <a:solidFill>
                            <a:srgbClr val="000000"/>
                          </a:solidFill>
                          <a:latin typeface="Quattrocento Sans"/>
                        </a:rPr>
                        <a:t>Lsn</a:t>
                      </a:r>
                      <a:r>
                        <a:rPr lang="en-US" sz="1300" b="0" dirty="0">
                          <a:solidFill>
                            <a:srgbClr val="000000"/>
                          </a:solidFill>
                          <a:latin typeface="Quattrocento Sans"/>
                        </a:rPr>
                        <a:t> 29</a:t>
                      </a:r>
                      <a:endParaRPr sz="1300" b="0" dirty="0">
                        <a:solidFill>
                          <a:srgbClr val="000000"/>
                        </a:solidFill>
                        <a:latin typeface="Quattrocento Sans"/>
                      </a:endParaRP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02920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000000"/>
                          </a:solidFill>
                          <a:latin typeface="Quattrocento Sans"/>
                        </a:rPr>
                        <a:t>4</a:t>
                      </a:r>
                    </a:p>
                  </a:txBody>
                  <a:tcPr marL="54864" marR="54864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 dirty="0">
                          <a:solidFill>
                            <a:srgbClr val="000000"/>
                          </a:solidFill>
                          <a:latin typeface="Quattrocento Sans"/>
                        </a:rPr>
                        <a:t>Wheel-failure detection</a:t>
                      </a:r>
                      <a:r>
                        <a:rPr lang="en-US" sz="1300" b="0" dirty="0">
                          <a:solidFill>
                            <a:srgbClr val="000000"/>
                          </a:solidFill>
                          <a:latin typeface="Quattrocento Sans"/>
                        </a:rPr>
                        <a:t> </a:t>
                      </a:r>
                      <a:r>
                        <a:rPr sz="1300" b="0" dirty="0">
                          <a:solidFill>
                            <a:srgbClr val="000000"/>
                          </a:solidFill>
                          <a:latin typeface="Quattrocento Sans"/>
                        </a:rPr>
                        <a:t>→ drop to 3-wheel allocation</a:t>
                      </a:r>
                    </a:p>
                  </a:txBody>
                  <a:tcPr marL="54864" marR="54864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000000"/>
                          </a:solidFill>
                          <a:latin typeface="Quattrocento Sans"/>
                        </a:rPr>
                        <a:t>Req. 3</a:t>
                      </a:r>
                    </a:p>
                  </a:txBody>
                  <a:tcPr marL="54864" marR="54864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300" b="0" dirty="0" err="1">
                          <a:solidFill>
                            <a:srgbClr val="000000"/>
                          </a:solidFill>
                          <a:latin typeface="Quattrocento Sans"/>
                        </a:rPr>
                        <a:t>Lsn</a:t>
                      </a:r>
                      <a:r>
                        <a:rPr lang="en-US" sz="1300" b="0" dirty="0">
                          <a:solidFill>
                            <a:srgbClr val="000000"/>
                          </a:solidFill>
                          <a:latin typeface="Quattrocento Sans"/>
                        </a:rPr>
                        <a:t> 30</a:t>
                      </a:r>
                      <a:endParaRPr sz="1300" b="0" dirty="0">
                        <a:solidFill>
                          <a:srgbClr val="000000"/>
                        </a:solidFill>
                        <a:latin typeface="Quattrocento Sans"/>
                      </a:endParaRPr>
                    </a:p>
                  </a:txBody>
                  <a:tcPr marL="54864" marR="54864" marT="27432" marB="27432" anchor="ctr"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502920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000000"/>
                          </a:solidFill>
                          <a:latin typeface="Quattrocento Sans"/>
                        </a:rPr>
                        <a:t>5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000000"/>
                          </a:solidFill>
                          <a:latin typeface="Quattrocento Sans"/>
                        </a:rPr>
                        <a:t>4-attitude slew along quaternion (shortest) paths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 dirty="0">
                          <a:solidFill>
                            <a:srgbClr val="000000"/>
                          </a:solidFill>
                          <a:latin typeface="Quattrocento Sans"/>
                        </a:rPr>
                        <a:t>Stretch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300" b="0" dirty="0" err="1">
                          <a:solidFill>
                            <a:srgbClr val="000000"/>
                          </a:solidFill>
                          <a:latin typeface="Quattrocento Sans"/>
                        </a:rPr>
                        <a:t>Lsn</a:t>
                      </a:r>
                      <a:r>
                        <a:rPr lang="en-US" sz="1300" b="0" dirty="0">
                          <a:solidFill>
                            <a:srgbClr val="000000"/>
                          </a:solidFill>
                          <a:latin typeface="Quattrocento Sans"/>
                        </a:rPr>
                        <a:t> 31</a:t>
                      </a:r>
                      <a:endParaRPr sz="1300" b="0" dirty="0">
                        <a:solidFill>
                          <a:srgbClr val="000000"/>
                        </a:solidFill>
                        <a:latin typeface="Quattrocento Sans"/>
                      </a:endParaRP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93" name="TextBox 92"/>
          <p:cNvSpPr txBox="1"/>
          <p:nvPr/>
        </p:nvSpPr>
        <p:spPr>
          <a:xfrm>
            <a:off x="274320" y="4251960"/>
            <a:ext cx="4160520" cy="1678921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marL="0" indent="0">
              <a:lnSpc>
                <a:spcPct val="95000"/>
              </a:lnSpc>
              <a:spcBef>
                <a:spcPts val="400"/>
              </a:spcBef>
              <a:buNone/>
            </a:pPr>
            <a:r>
              <a:rPr sz="1400" b="1" dirty="0">
                <a:latin typeface="Quattrocento Sans"/>
              </a:rPr>
              <a:t>Key risks</a:t>
            </a:r>
          </a:p>
          <a:p>
            <a:pPr marL="300000" indent="-228600">
              <a:lnSpc>
                <a:spcPct val="95000"/>
              </a:lnSpc>
              <a:spcBef>
                <a:spcPts val="400"/>
              </a:spcBef>
              <a:buChar char="•"/>
            </a:pPr>
            <a:r>
              <a:rPr sz="1400" b="0" dirty="0">
                <a:latin typeface="Quattrocento Sans"/>
              </a:rPr>
              <a:t>Balance limits hold time (wheels store only ≈24 </a:t>
            </a:r>
            <a:r>
              <a:rPr sz="1400" b="0" dirty="0" err="1">
                <a:latin typeface="Quattrocento Sans"/>
              </a:rPr>
              <a:t>mN·m·s</a:t>
            </a:r>
            <a:r>
              <a:rPr sz="1400" b="0" dirty="0">
                <a:latin typeface="Quattrocento Sans"/>
              </a:rPr>
              <a:t> per axis</a:t>
            </a:r>
            <a:r>
              <a:rPr lang="en-US" sz="1400" b="0" dirty="0">
                <a:latin typeface="Quattrocento Sans"/>
              </a:rPr>
              <a:t> in current configuration, unknown how much it can reliably increase</a:t>
            </a:r>
            <a:r>
              <a:rPr sz="1400" b="0" dirty="0">
                <a:latin typeface="Quattrocento Sans"/>
              </a:rPr>
              <a:t>)</a:t>
            </a:r>
          </a:p>
          <a:p>
            <a:pPr marL="300000" indent="-228600">
              <a:lnSpc>
                <a:spcPct val="95000"/>
              </a:lnSpc>
              <a:spcBef>
                <a:spcPts val="400"/>
              </a:spcBef>
              <a:buChar char="•"/>
            </a:pPr>
            <a:r>
              <a:rPr sz="1400" b="0" dirty="0">
                <a:latin typeface="Quattrocento Sans"/>
              </a:rPr>
              <a:t>Yaw drift on long runs without a magnetometer aid</a:t>
            </a:r>
          </a:p>
          <a:p>
            <a:pPr marL="300000" indent="-228600">
              <a:lnSpc>
                <a:spcPct val="95000"/>
              </a:lnSpc>
              <a:spcBef>
                <a:spcPts val="400"/>
              </a:spcBef>
              <a:buChar char="•"/>
            </a:pPr>
            <a:r>
              <a:rPr lang="en-US" dirty="0">
                <a:latin typeface="Quattrocento Sans"/>
              </a:rPr>
              <a:t>Unexplained w</a:t>
            </a:r>
            <a:r>
              <a:rPr sz="1400" b="0" dirty="0">
                <a:latin typeface="Quattrocento Sans"/>
              </a:rPr>
              <a:t>heel A/C hardware faults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4709160" y="4251960"/>
            <a:ext cx="4160520" cy="1474250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marL="0" indent="0">
              <a:lnSpc>
                <a:spcPct val="95000"/>
              </a:lnSpc>
              <a:spcBef>
                <a:spcPts val="400"/>
              </a:spcBef>
              <a:buNone/>
            </a:pPr>
            <a:r>
              <a:rPr sz="1400" b="1" dirty="0">
                <a:latin typeface="Quattrocento Sans"/>
              </a:rPr>
              <a:t>Improvements beyond </a:t>
            </a:r>
            <a:r>
              <a:rPr lang="en-US" sz="1400" b="1" dirty="0" err="1">
                <a:latin typeface="Quattrocento Sans"/>
              </a:rPr>
              <a:t>KestrelSAT</a:t>
            </a:r>
            <a:endParaRPr sz="1400" b="1" dirty="0">
              <a:latin typeface="Quattrocento Sans"/>
            </a:endParaRPr>
          </a:p>
          <a:p>
            <a:pPr marL="300000" indent="-228600">
              <a:lnSpc>
                <a:spcPct val="95000"/>
              </a:lnSpc>
              <a:spcBef>
                <a:spcPts val="400"/>
              </a:spcBef>
              <a:buChar char="•"/>
            </a:pPr>
            <a:r>
              <a:rPr lang="en-US" sz="1400" b="0" dirty="0">
                <a:latin typeface="Quattrocento Sans"/>
              </a:rPr>
              <a:t>Use of Air Bearing Table</a:t>
            </a:r>
          </a:p>
          <a:p>
            <a:pPr marL="300000" indent="-228600">
              <a:lnSpc>
                <a:spcPct val="95000"/>
              </a:lnSpc>
              <a:spcBef>
                <a:spcPts val="400"/>
              </a:spcBef>
              <a:buChar char="•"/>
            </a:pPr>
            <a:r>
              <a:rPr sz="1400" b="0" dirty="0">
                <a:latin typeface="Quattrocento Sans"/>
              </a:rPr>
              <a:t>Interrupt-driven IMU pipeline with per-sample logging (25% → 0.085% loss)</a:t>
            </a:r>
          </a:p>
          <a:p>
            <a:pPr marL="300000" indent="-228600">
              <a:lnSpc>
                <a:spcPct val="95000"/>
              </a:lnSpc>
              <a:spcBef>
                <a:spcPts val="400"/>
              </a:spcBef>
              <a:buChar char="•"/>
            </a:pPr>
            <a:r>
              <a:rPr sz="1400" b="0" dirty="0">
                <a:latin typeface="Quattrocento Sans"/>
              </a:rPr>
              <a:t>4-wheel pyramid </a:t>
            </a:r>
            <a:r>
              <a:rPr lang="en-US" sz="1400" b="0" dirty="0">
                <a:latin typeface="Quattrocento Sans"/>
              </a:rPr>
              <a:t>allowing 3DOF attitude control</a:t>
            </a:r>
            <a:endParaRPr sz="1400" b="0" dirty="0">
              <a:latin typeface="Quattrocento Sans"/>
            </a:endParaRP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GenAI Use Documentation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01168" y="914400"/>
            <a:ext cx="8741664" cy="5440680"/>
          </a:xfrm>
        </p:spPr>
        <p:txBody>
          <a:bodyPr wrap="square">
            <a:normAutofit/>
          </a:bodyPr>
          <a:lstStyle/>
          <a:p>
            <a:pPr marL="285750" indent="-285750">
              <a:lnSpc>
                <a:spcPct val="95000"/>
              </a:lnSpc>
              <a:spcBef>
                <a:spcPts val="1400"/>
              </a:spcBef>
            </a:pPr>
            <a:r>
              <a:rPr lang="en-US" sz="1800" b="1" dirty="0"/>
              <a:t>Primary </a:t>
            </a:r>
            <a:r>
              <a:rPr sz="1800" b="1" dirty="0"/>
              <a:t>Tool: Claude Code</a:t>
            </a:r>
            <a:r>
              <a:rPr lang="en-US" sz="1800" b="1" dirty="0"/>
              <a:t>, Opus Model</a:t>
            </a:r>
          </a:p>
          <a:p>
            <a:pPr marL="742950" lvl="1" indent="-285750">
              <a:lnSpc>
                <a:spcPct val="95000"/>
              </a:lnSpc>
              <a:spcBef>
                <a:spcPts val="1400"/>
              </a:spcBef>
            </a:pPr>
            <a:r>
              <a:rPr sz="1400" b="0" dirty="0"/>
              <a:t>Firmware: drafted the EKF, controller, wheel allocation, IMU driver, logger and command set from the team’s requirements and design decisions; the team reviewed, uploaded and tested every build on the hardware</a:t>
            </a:r>
          </a:p>
          <a:p>
            <a:pPr marL="757200" lvl="1" indent="-228600">
              <a:lnSpc>
                <a:spcPct val="95000"/>
              </a:lnSpc>
              <a:spcBef>
                <a:spcPts val="1400"/>
              </a:spcBef>
            </a:pPr>
            <a:r>
              <a:rPr sz="1400" b="0" dirty="0"/>
              <a:t>Analysis: wrote the Python scripts and plots for each test log; the team ran the tests and checked the conclusions</a:t>
            </a:r>
          </a:p>
          <a:p>
            <a:pPr marL="757200" lvl="1" indent="-228600">
              <a:lnSpc>
                <a:spcPct val="95000"/>
              </a:lnSpc>
              <a:spcBef>
                <a:spcPts val="1400"/>
              </a:spcBef>
            </a:pPr>
            <a:r>
              <a:rPr sz="1400" b="0" dirty="0"/>
              <a:t>Documentation: CLAUDE.md, TODO.md, PROGRESS_LOG.md and a first draft of these slides</a:t>
            </a:r>
          </a:p>
          <a:p>
            <a:pPr marL="300000" indent="-228600">
              <a:lnSpc>
                <a:spcPct val="95000"/>
              </a:lnSpc>
              <a:spcBef>
                <a:spcPts val="1400"/>
              </a:spcBef>
              <a:buChar char="•"/>
            </a:pPr>
            <a:r>
              <a:rPr sz="1800" b="0" dirty="0"/>
              <a:t>Team-owned: hardware build, wiring and power system, requirement and design decisions, </a:t>
            </a:r>
            <a:r>
              <a:rPr lang="en-US" sz="1800" b="0" dirty="0"/>
              <a:t>test design, execution</a:t>
            </a:r>
            <a:r>
              <a:rPr sz="1800" b="0" dirty="0"/>
              <a:t>, and final review of every result</a:t>
            </a:r>
          </a:p>
          <a:p>
            <a:pPr marL="300000" indent="-228600">
              <a:lnSpc>
                <a:spcPct val="95000"/>
              </a:lnSpc>
              <a:spcBef>
                <a:spcPts val="1400"/>
              </a:spcBef>
              <a:buChar char="•"/>
            </a:pPr>
            <a:r>
              <a:rPr sz="1800" b="0" dirty="0"/>
              <a:t>Full record of work: PROGRESS_LOG.md and the git history in the team repository</a:t>
            </a:r>
          </a:p>
        </p:txBody>
      </p:sp>
      <p:sp>
        <p:nvSpPr>
          <p:cNvPr id="91" name="Google Shape;91;p3"/>
          <p:cNvSpPr txBox="1">
            <a:spLocks noGrp="1"/>
          </p:cNvSpPr>
          <p:nvPr>
            <p:ph type="sldNum" idx="12"/>
          </p:nvPr>
        </p:nvSpPr>
        <p:spPr>
          <a:xfrm>
            <a:off x="7040236" y="6465106"/>
            <a:ext cx="20574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</a:pPr>
            <a:fld id="{00000000-1234-1234-1234-123412341234}" type="slidenum">
              <a:rPr lang="en-US"/>
              <a:t>19</a:t>
            </a:fld>
            <a:endParaRPr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 Theme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210</TotalTime>
  <Words>2378</Words>
  <Application>Microsoft Office PowerPoint</Application>
  <PresentationFormat>On-screen Show (4:3)</PresentationFormat>
  <Paragraphs>199</Paragraphs>
  <Slides>19</Slides>
  <Notes>8</Notes>
  <HiddenSlides>0</HiddenSlides>
  <MMClips>1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19</vt:i4>
      </vt:variant>
    </vt:vector>
  </HeadingPairs>
  <TitlesOfParts>
    <vt:vector size="22" baseType="lpstr">
      <vt:lpstr>Arial</vt:lpstr>
      <vt:lpstr>Quattrocento Sans</vt:lpstr>
      <vt:lpstr>Office Theme</vt:lpstr>
      <vt:lpstr>Lab 8: Preliminary Data Review</vt:lpstr>
      <vt:lpstr>Overview/Objectives</vt:lpstr>
      <vt:lpstr>Requirements: Verification &amp; Status</vt:lpstr>
      <vt:lpstr>Theory: Estimation &amp; Control Loop</vt:lpstr>
      <vt:lpstr>Theory: Control Law &amp; Wheel Allocation</vt:lpstr>
      <vt:lpstr>Build Progress: Hardware</vt:lpstr>
      <vt:lpstr>Build Progress: Hardware</vt:lpstr>
      <vt:lpstr>Progress: Software Build &amp; Tests</vt:lpstr>
      <vt:lpstr>Data: Wheel Speed Control</vt:lpstr>
      <vt:lpstr>Data: Attitude Determination at Rest</vt:lpstr>
      <vt:lpstr>Data: IMU Data Integrity (Unexpected Result)</vt:lpstr>
      <vt:lpstr>Data: Magnetometer vs. Wheel Motors</vt:lpstr>
      <vt:lpstr>Data: First DEMO SPIN (Unsuccessful)</vt:lpstr>
      <vt:lpstr>Data: DEMO SPIN Leveling</vt:lpstr>
      <vt:lpstr>DEMO SPIN</vt:lpstr>
      <vt:lpstr>DEMO SPIN: Leveling Video</vt:lpstr>
      <vt:lpstr>Future Plans: Where We Stand</vt:lpstr>
      <vt:lpstr>Future Plans: Path to Lesson 31</vt:lpstr>
      <vt:lpstr>GenAI Use Documentation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creator>Harris, Wyatt J Lt Col USAF USAFA DF/DFAS</dc:creator>
  <cp:lastModifiedBy>Weissinger, Derek H C2C USAF USAFA CW/CS40</cp:lastModifiedBy>
  <cp:revision>10</cp:revision>
  <dcterms:created xsi:type="dcterms:W3CDTF">2025-07-17T17:53:42Z</dcterms:created>
  <dcterms:modified xsi:type="dcterms:W3CDTF">2026-10-23T21:36:52Z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0x01010079E104B47FA86644A46CA5C8803E74CD</vt:lpwstr>
  </property>
  <property fmtid="{D5CDD505-2E9C-101B-9397-08002B2CF9AE}" pid="3" name="MediaServiceImageTags">
    <vt:lpwstr/>
  </property>
</Properties>
</file>