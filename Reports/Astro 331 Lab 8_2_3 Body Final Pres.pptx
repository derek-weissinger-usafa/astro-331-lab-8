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autoCompressPictures="0">
  <p:sldMasterIdLst>
    <p:sldMasterId id="2147483648" r:id="rId1"/>
  </p:sldMasterIdLst>
  <p:notesMasterIdLst>
    <p:notesMasterId r:id="rId21"/>
  </p:notesMasterIdLst>
  <p:sldIdLst>
    <p:sldId id="256" r:id="rId2"/>
    <p:sldId id="257" r:id="rId3"/>
    <p:sldId id="276" r:id="rId31"/>
    <p:sldId id="263" r:id="rId4"/>
    <p:sldId id="259" r:id="rId5"/>
    <p:sldId id="264" r:id="rId6"/>
    <p:sldId id="277" r:id="rId32"/>
    <p:sldId id="278" r:id="rId33"/>
    <p:sldId id="279" r:id="rId34"/>
    <p:sldId id="260" r:id="rId7"/>
    <p:sldId id="273" r:id="rId8"/>
    <p:sldId id="265" r:id="rId9"/>
    <p:sldId id="280" r:id="rId35"/>
    <p:sldId id="281" r:id="rId36"/>
    <p:sldId id="282" r:id="rId37"/>
    <p:sldId id="261" r:id="rId10"/>
    <p:sldId id="266" r:id="rId11"/>
    <p:sldId id="267" r:id="rId12"/>
    <p:sldId id="268" r:id="rId13"/>
    <p:sldId id="283" r:id="rId38"/>
    <p:sldId id="269" r:id="rId14"/>
    <p:sldId id="270" r:id="rId15"/>
    <p:sldId id="274" r:id="rId16"/>
    <p:sldId id="275" r:id="rId17"/>
    <p:sldId id="284" r:id="rId39"/>
    <p:sldId id="285" r:id="rId40"/>
    <p:sldId id="262" r:id="rId18"/>
    <p:sldId id="271" r:id="rId19"/>
    <p:sldId id="272" r:id="rId20"/>
  </p:sldIdLst>
  <p:sldSz cx="9144000" cy="6858000" type="screen4x3"/>
  <p:notesSz cx="6858000" cy="9144000"/>
  <p:embeddedFontLst>
    <p:embeddedFont>
      <p:font typeface="Quattrocento Sans" panose="020B0502050000020003"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jdeCnu8lAzD9+tydpnVE8c63/G3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04" autoAdjust="0"/>
  </p:normalViewPr>
  <p:slideViewPr>
    <p:cSldViewPr snapToGrid="0">
      <p:cViewPr>
        <p:scale>
          <a:sx n="66" d="100"/>
          <a:sy n="66" d="100"/>
        </p:scale>
        <p:origin x="1280" y="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customschemas.google.com/relationships/presentationmetadata" Target="meta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https://www.youtube.com/watch?v=jVXgWGK9Kr8</a:t>
            </a:r>
            <a:endParaRPr/>
          </a:p>
        </p:txBody>
      </p:sp>
      <p:sp>
        <p:nvSpPr>
          <p:cNvPr id="81" name="Google Shape;8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h1e1805356538ab8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h1e1805356538ab88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342900" algn="l" defTabSz="914400" rtl="0" eaLnBrk="1" fontAlgn="auto" latinLnBrk="0" hangingPunct="1">
              <a:lnSpc>
                <a:spcPct val="100000"/>
              </a:lnSpc>
              <a:spcBef>
                <a:spcPts val="0"/>
              </a:spcBef>
              <a:spcAft>
                <a:spcPts val="0"/>
              </a:spcAft>
              <a:buClr>
                <a:schemeClr val="dk1"/>
              </a:buClr>
              <a:buSzPts val="1800"/>
              <a:buFont typeface="Arial"/>
              <a:buChar char="•"/>
              <a:tabLst/>
              <a:defRPr/>
            </a:pPr>
            <a:r>
              <a:rPr lang="en-US" dirty="0"/>
              <a:t>I * </a:t>
            </a:r>
            <a:r>
              <a:rPr lang="en-US" dirty="0" err="1"/>
              <a:t>alpha_ref</a:t>
            </a:r>
            <a:r>
              <a:rPr lang="en-US" dirty="0"/>
              <a:t> is feed-forward: we know acceleration dynamics, so we just put it in control law instead of waiting for error to build up. </a:t>
            </a:r>
          </a:p>
          <a:p>
            <a:pPr marL="457200" marR="0" lvl="0" indent="-342900" algn="l" defTabSz="914400" rtl="0" eaLnBrk="1" fontAlgn="auto" latinLnBrk="0" hangingPunct="1">
              <a:lnSpc>
                <a:spcPct val="100000"/>
              </a:lnSpc>
              <a:spcBef>
                <a:spcPts val="0"/>
              </a:spcBef>
              <a:spcAft>
                <a:spcPts val="0"/>
              </a:spcAft>
              <a:buClr>
                <a:schemeClr val="dk1"/>
              </a:buClr>
              <a:buSzPts val="1800"/>
              <a:buFont typeface="Arial"/>
              <a:buChar char="•"/>
              <a:tabLst/>
              <a:defRPr/>
            </a:pPr>
            <a:endParaRPr lang="en-US" sz="1200" dirty="0"/>
          </a:p>
          <a:p>
            <a:pPr marL="457200" marR="0" lvl="0" indent="-342900" algn="l" defTabSz="914400" rtl="0" eaLnBrk="1" fontAlgn="auto" latinLnBrk="0" hangingPunct="1">
              <a:lnSpc>
                <a:spcPct val="100000"/>
              </a:lnSpc>
              <a:spcBef>
                <a:spcPts val="0"/>
              </a:spcBef>
              <a:spcAft>
                <a:spcPts val="0"/>
              </a:spcAft>
              <a:buClr>
                <a:schemeClr val="dk1"/>
              </a:buClr>
              <a:buSzPts val="1800"/>
              <a:buFont typeface="Arial"/>
              <a:buChar char="•"/>
              <a:tabLst/>
              <a:defRPr/>
            </a:pPr>
            <a:r>
              <a:rPr lang="en-US" sz="1200" dirty="0"/>
              <a:t>D⁺: pseudo-inverse of D, gives least wheel torque for desired body torque</a:t>
            </a:r>
            <a:endParaRPr lang="en-US" sz="1050" b="0" dirty="0"/>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82230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h1e1805356538ab88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h1e1805356538ab88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h1e1805356538ab88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h1e1805356538ab88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h1e1805356538ab88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 name="Google Shape;124;h1e1805356538ab88_0_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Spoken Feedback: Good baseline for </a:t>
            </a:r>
            <a:r>
              <a:rPr lang="en-US" dirty="0" err="1"/>
              <a:t>pres</a:t>
            </a:r>
            <a:r>
              <a:rPr lang="en-US" dirty="0"/>
              <a:t>, enlarge requirements (symbology: checkmarks), practice brief before final </a:t>
            </a:r>
            <a:r>
              <a:rPr lang="en-US" dirty="0" err="1"/>
              <a:t>pres</a:t>
            </a:r>
            <a:r>
              <a:rPr lang="en-US" dirty="0"/>
              <a:t>, add in/out to control loop, self-sustaining plots (have them be able to tell their own story, note important points), have pics tell story as well, include code snips (parse out each section + theory), why does ADSC matter???</a:t>
            </a:r>
          </a:p>
          <a:p>
            <a:endParaRPr lang="en-US" dirty="0"/>
          </a:p>
          <a:p>
            <a:r>
              <a:rPr lang="en-US" dirty="0"/>
              <a:t>Written Feedback: Clean up readability of wordy slides. Add simulation methods/results. Add Input and output explicitly to closed loop system. Make sure to tell story with plots, independent of description. Show and discuss code snippets for various parts.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22084931"/>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spacecraft job depends on pointing: comms antennas at the ground, solar arrays at the sun, payloads at the target. If we cannot measure attitude, we cannot point; and wheels are the parts that wear out (Kepler). Our three requirements map one-to-one onto these jobs. The air bearing lets us test the whole loop on the ground: it removes friction and lets the table rotate freely in all three axes.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Requirement 2: roll and pitch are far inside the limit. Yaw with the magnetometer aid passed 36 of 37 graded steps of MAG TEST on the fixed table; the one miss was 1.02°, 0.02° over. Replaying the same log showed why (each new wheel pattern was learned at the current yaw error) and that predicting those references instead passes 37/37, worst 0.77°: that firmware is built, not yet run on the table. Requirements 1 and 3 have working firmware and simulations; the remaining risk is table time and balance.</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magnetometer update we added after the prelim. The key design choice is the gain edit: the filter is only allowed to rotate the estimate about vertical, so a bad magnetic sample can never tip roll or pitch. The aid decides when the field can be trusted at all: the wheels must be in a known state.</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control law is one line of code per term of the equation on the theory slide. Allocation is a pseudo-inverse over whichever wheels are enabled, which is why losing one wheel needs no new code path. The null mode spins the wheels against each other with zero net torque: we use it to keep every wheel away from zero speed for the magnetometer.</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There is no current sensor, so we infer motor current from the duty cycle and the back-EMF. A healthy motor that is pushed hard must speed up; a dead one does not. Two bad 0.1 s blocks in a row and the wheel is taken out of the allocation. It coasts instead of braking, because braking a spinning wheel would dump its momentum into the table.</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simulate before every table session: table time is scarce, and a bad controller can throw the satellite off the bearing. The truth model is written separately from the firmware, so the two can disagree. That is how we caught real bugs. The estimator check below is the first thing we ran.</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FAULT TEST in simulation. Wheel A dies 10 s into a level hold on today’s pendulous table. The detector flags it 0.6 s later, the wheel coasts down, and B, C and D take over. The peak error stays inside ±1°. We ran every wheel, failures mid-slew and mid-hold, and an unplugged motor: 9 of 9 pass.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SLEW TEST: four targets, shortest-rotation slews on a smooth profile, then a 5 s hold graded at ±1°. On a balanced table all four pass with under a tenth of a degree of error. On today’s table, gravity torque saturates a wheel 4.9 s into the first tilted slew. So the stretch goal is now a balance problem, not a software one.</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MAG TEST runs on the Teensy and grades itself. The table is clamped, so the true heading is zero and any yaw shown is estimation error. The wheels step through stopped, 14 direction patterns and three speeds; three times we deliberately rotate the estimate 10° to prove the aid pulls it back. Then 30 minutes of drift run. Grey is the same data replayed on the PC with the aid off: the gyro alone drifted almost 6 °/h even after warm-up. Black is what ran: one step, all wheels at 300 rpm, reached 1.02°. Gold is the same data through the current firmware, which predicts each new wheel pattern's reference instead of learning it at the current error: every step passes.</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After the roll trim, DEMO LEVEL levels the table and holds it. Each run ends when gravity has filled a wheel. The right panel is the proof that the leftover tilt is the controller’s expected steady-state error, torque over Kp, and not a sensor problem.</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After the first spinning magnetometer test the Teensy went dark. We traced it to a short on its own 3.3 V rail, then brought a spare up one stage at a time, checking voltage and heat at each step. Then we re-ran the motor checks: every wheel back at about 45 rad/s, and wheel D’s missing data turned out to be a loose encoder wire.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6"/>
          <p:cNvSpPr txBox="1">
            <a:spLocks noGrp="1"/>
          </p:cNvSpPr>
          <p:nvPr>
            <p:ph type="ctrTitle"/>
          </p:nvPr>
        </p:nvSpPr>
        <p:spPr>
          <a:xfrm>
            <a:off x="1177505" y="1287560"/>
            <a:ext cx="6788990" cy="23876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6000"/>
              <a:buFont typeface="Quattrocento San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6"/>
          <p:cNvSpPr txBox="1">
            <a:spLocks noGrp="1"/>
          </p:cNvSpPr>
          <p:nvPr>
            <p:ph type="subTitle" idx="1"/>
          </p:nvPr>
        </p:nvSpPr>
        <p:spPr>
          <a:xfrm>
            <a:off x="1143000" y="3781865"/>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6"/>
          <p:cNvSpPr txBox="1">
            <a:spLocks noGrp="1"/>
          </p:cNvSpPr>
          <p:nvPr>
            <p:ph type="dt" idx="10"/>
          </p:nvPr>
        </p:nvSpPr>
        <p:spPr>
          <a:xfrm>
            <a:off x="38291" y="646510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6"/>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2" name="Google Shape;22;p6"/>
          <p:cNvSpPr txBox="1"/>
          <p:nvPr/>
        </p:nvSpPr>
        <p:spPr>
          <a:xfrm>
            <a:off x="1028701" y="111639"/>
            <a:ext cx="7226780" cy="696375"/>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dk1"/>
              </a:buClr>
              <a:buSzPts val="3600"/>
              <a:buFont typeface="Quattrocento Sans"/>
              <a:buNone/>
            </a:pPr>
            <a:r>
              <a:rPr lang="en-US" sz="3600" b="1" i="0" u="none" strike="noStrike" cap="none" dirty="0">
                <a:solidFill>
                  <a:schemeClr val="dk1"/>
                </a:solidFill>
                <a:latin typeface="Quattrocento Sans"/>
                <a:ea typeface="Quattrocento Sans"/>
                <a:cs typeface="Quattrocento Sans"/>
                <a:sym typeface="Quattrocento Sans"/>
              </a:rPr>
              <a:t>USAFA ASTRO</a:t>
            </a:r>
            <a:endParaRPr sz="1400" b="0" i="0" u="none" strike="noStrike" cap="none" dirty="0">
              <a:solidFill>
                <a:srgbClr val="000000"/>
              </a:solidFill>
              <a:latin typeface="Arial"/>
              <a:ea typeface="Arial"/>
              <a:cs typeface="Arial"/>
              <a:sym typeface="Arial"/>
            </a:endParaRPr>
          </a:p>
        </p:txBody>
      </p:sp>
      <p:sp>
        <p:nvSpPr>
          <p:cNvPr id="23" name="Google Shape;23;p6"/>
          <p:cNvSpPr txBox="1"/>
          <p:nvPr/>
        </p:nvSpPr>
        <p:spPr>
          <a:xfrm>
            <a:off x="1143000" y="6288282"/>
            <a:ext cx="6858000" cy="501261"/>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dk1"/>
              </a:buClr>
              <a:buSzPts val="2000"/>
              <a:buFont typeface="Arial"/>
              <a:buNone/>
            </a:pPr>
            <a:r>
              <a:rPr lang="en-US" sz="2000" b="1" i="1" u="none" strike="noStrike" cap="none">
                <a:solidFill>
                  <a:schemeClr val="dk1"/>
                </a:solidFill>
                <a:latin typeface="Quattrocento Sans"/>
                <a:ea typeface="Quattrocento Sans"/>
                <a:cs typeface="Quattrocento Sans"/>
                <a:sym typeface="Quattrocento Sans"/>
              </a:rPr>
              <a:t>ASTRO 331 – Space Systems Engineering</a:t>
            </a:r>
            <a:endParaRPr sz="1400" b="0" i="0" u="none" strike="noStrike" cap="none">
              <a:solidFill>
                <a:srgbClr val="000000"/>
              </a:solidFill>
              <a:latin typeface="Arial"/>
              <a:ea typeface="Arial"/>
              <a:cs typeface="Arial"/>
              <a:sym typeface="Arial"/>
            </a:endParaRPr>
          </a:p>
        </p:txBody>
      </p:sp>
      <p:sp>
        <p:nvSpPr>
          <p:cNvPr id="4" name="TextBox 3">
            <a:extLst>
              <a:ext uri="{FF2B5EF4-FFF2-40B4-BE49-F238E27FC236}">
                <a16:creationId xmlns:a16="http://schemas.microsoft.com/office/drawing/2014/main" id="{15D6306B-B8FC-978F-E0A1-E6C0F319D4E4}"/>
              </a:ext>
            </a:extLst>
          </p:cNvPr>
          <p:cNvSpPr txBox="1"/>
          <p:nvPr userDrawn="1"/>
        </p:nvSpPr>
        <p:spPr>
          <a:xfrm>
            <a:off x="8771467" y="186267"/>
            <a:ext cx="184731" cy="307777"/>
          </a:xfrm>
          <a:prstGeom prst="rect">
            <a:avLst/>
          </a:prstGeom>
          <a:noFill/>
        </p:spPr>
        <p:txBody>
          <a:bodyPr wrap="none" rtlCol="0">
            <a:spAutoFit/>
          </a:bodyPr>
          <a:lstStyle/>
          <a:p>
            <a:endParaRPr lang="en-US" dirty="0"/>
          </a:p>
        </p:txBody>
      </p:sp>
      <p:sp>
        <p:nvSpPr>
          <p:cNvPr id="7" name="Rectangle 6">
            <a:extLst>
              <a:ext uri="{FF2B5EF4-FFF2-40B4-BE49-F238E27FC236}">
                <a16:creationId xmlns:a16="http://schemas.microsoft.com/office/drawing/2014/main" id="{F399276F-7597-718E-F745-12699DC90C9E}"/>
              </a:ext>
            </a:extLst>
          </p:cNvPr>
          <p:cNvSpPr/>
          <p:nvPr userDrawn="1"/>
        </p:nvSpPr>
        <p:spPr>
          <a:xfrm>
            <a:off x="8255481" y="111639"/>
            <a:ext cx="842155" cy="2185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D5992B44-0EEB-982A-50C5-1C5617FADD25}"/>
              </a:ext>
            </a:extLst>
          </p:cNvPr>
          <p:cNvSpPr txBox="1"/>
          <p:nvPr userDrawn="1"/>
        </p:nvSpPr>
        <p:spPr>
          <a:xfrm>
            <a:off x="8255481" y="186267"/>
            <a:ext cx="814647" cy="276999"/>
          </a:xfrm>
          <a:prstGeom prst="rect">
            <a:avLst/>
          </a:prstGeom>
          <a:noFill/>
        </p:spPr>
        <p:txBody>
          <a:bodyPr wrap="none" rtlCol="0">
            <a:spAutoFit/>
          </a:bodyPr>
          <a:lstStyle/>
          <a:p>
            <a:r>
              <a:rPr lang="en-US" sz="1200" b="1" dirty="0">
                <a:solidFill>
                  <a:schemeClr val="tx1"/>
                </a:solidFill>
                <a:latin typeface="Quattrocento Sans" panose="020B0502050000020003" pitchFamily="34" charset="0"/>
              </a:rPr>
              <a:t>2026 Fall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866966" y="133186"/>
            <a:ext cx="7886700" cy="65219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
          <p:cNvSpPr txBox="1">
            <a:spLocks noGrp="1"/>
          </p:cNvSpPr>
          <p:nvPr>
            <p:ph type="body" idx="1"/>
          </p:nvPr>
        </p:nvSpPr>
        <p:spPr>
          <a:xfrm>
            <a:off x="200025" y="1002506"/>
            <a:ext cx="8793015" cy="522755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7" name="Google Shape;27;p7"/>
          <p:cNvSpPr txBox="1">
            <a:spLocks noGrp="1"/>
          </p:cNvSpPr>
          <p:nvPr>
            <p:ph type="dt" idx="10"/>
          </p:nvPr>
        </p:nvSpPr>
        <p:spPr>
          <a:xfrm>
            <a:off x="38291" y="646510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7"/>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 name="Rectangle 1">
            <a:extLst>
              <a:ext uri="{FF2B5EF4-FFF2-40B4-BE49-F238E27FC236}">
                <a16:creationId xmlns:a16="http://schemas.microsoft.com/office/drawing/2014/main" id="{33481AFB-AF80-1BA6-E311-BAC12C39F498}"/>
              </a:ext>
            </a:extLst>
          </p:cNvPr>
          <p:cNvSpPr/>
          <p:nvPr userDrawn="1"/>
        </p:nvSpPr>
        <p:spPr>
          <a:xfrm>
            <a:off x="8235950" y="133186"/>
            <a:ext cx="861686" cy="2224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431BD31-60B6-978B-CF9A-E7390496510E}"/>
              </a:ext>
            </a:extLst>
          </p:cNvPr>
          <p:cNvSpPr txBox="1"/>
          <p:nvPr userDrawn="1"/>
        </p:nvSpPr>
        <p:spPr>
          <a:xfrm>
            <a:off x="8255481" y="186267"/>
            <a:ext cx="814647" cy="276999"/>
          </a:xfrm>
          <a:prstGeom prst="rect">
            <a:avLst/>
          </a:prstGeom>
          <a:noFill/>
        </p:spPr>
        <p:txBody>
          <a:bodyPr wrap="none" rtlCol="0">
            <a:spAutoFit/>
          </a:bodyPr>
          <a:lstStyle/>
          <a:p>
            <a:r>
              <a:rPr lang="en-US" sz="1200" b="1" dirty="0">
                <a:solidFill>
                  <a:schemeClr val="tx1"/>
                </a:solidFill>
                <a:latin typeface="Quattrocento Sans" panose="020B0502050000020003" pitchFamily="34" charset="0"/>
              </a:rPr>
              <a:t>2026 Fall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800"/>
              <a:buFont typeface="Quattrocento Sans"/>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8"/>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2" name="Google Shape;32;p8"/>
          <p:cNvSpPr txBox="1">
            <a:spLocks noGrp="1"/>
          </p:cNvSpPr>
          <p:nvPr>
            <p:ph type="dt" idx="10"/>
          </p:nvPr>
        </p:nvSpPr>
        <p:spPr>
          <a:xfrm>
            <a:off x="38291" y="646510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8"/>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9"/>
          <p:cNvSpPr txBox="1">
            <a:spLocks noGrp="1"/>
          </p:cNvSpPr>
          <p:nvPr>
            <p:ph type="title"/>
          </p:nvPr>
        </p:nvSpPr>
        <p:spPr>
          <a:xfrm>
            <a:off x="866966" y="133186"/>
            <a:ext cx="7886700" cy="65219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9"/>
          <p:cNvSpPr txBox="1">
            <a:spLocks noGrp="1"/>
          </p:cNvSpPr>
          <p:nvPr>
            <p:ph type="dt" idx="10"/>
          </p:nvPr>
        </p:nvSpPr>
        <p:spPr>
          <a:xfrm>
            <a:off x="38291" y="646510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9"/>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0"/>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0"/>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0"/>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0"/>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0"/>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0"/>
          <p:cNvSpPr txBox="1">
            <a:spLocks noGrp="1"/>
          </p:cNvSpPr>
          <p:nvPr>
            <p:ph type="dt" idx="10"/>
          </p:nvPr>
        </p:nvSpPr>
        <p:spPr>
          <a:xfrm>
            <a:off x="38291" y="646510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0"/>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11"/>
          <p:cNvSpPr txBox="1">
            <a:spLocks noGrp="1"/>
          </p:cNvSpPr>
          <p:nvPr>
            <p:ph type="title"/>
          </p:nvPr>
        </p:nvSpPr>
        <p:spPr>
          <a:xfrm>
            <a:off x="866966" y="133186"/>
            <a:ext cx="7886700" cy="65219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1"/>
          <p:cNvSpPr txBox="1">
            <a:spLocks noGrp="1"/>
          </p:cNvSpPr>
          <p:nvPr>
            <p:ph type="dt" idx="10"/>
          </p:nvPr>
        </p:nvSpPr>
        <p:spPr>
          <a:xfrm>
            <a:off x="38291" y="646510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1"/>
          <p:cNvSpPr txBox="1">
            <a:spLocks noGrp="1"/>
          </p:cNvSpPr>
          <p:nvPr>
            <p:ph type="ftr" idx="11"/>
          </p:nvPr>
        </p:nvSpPr>
        <p:spPr>
          <a:xfrm>
            <a:off x="3028950" y="6501692"/>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2" name="Google Shape;52;p11"/>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dt" idx="10"/>
          </p:nvPr>
        </p:nvSpPr>
        <p:spPr>
          <a:xfrm>
            <a:off x="38291" y="646510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2"/>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6"/>
        <p:cNvGrpSpPr/>
        <p:nvPr/>
      </p:nvGrpSpPr>
      <p:grpSpPr>
        <a:xfrm>
          <a:off x="0" y="0"/>
          <a:ext cx="0" cy="0"/>
          <a:chOff x="0" y="0"/>
          <a:chExt cx="0" cy="0"/>
        </a:xfrm>
      </p:grpSpPr>
      <p:sp>
        <p:nvSpPr>
          <p:cNvPr id="57" name="Google Shape;57;p13"/>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3"/>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9" name="Google Shape;59;p13"/>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0" name="Google Shape;60;p13"/>
          <p:cNvSpPr txBox="1">
            <a:spLocks noGrp="1"/>
          </p:cNvSpPr>
          <p:nvPr>
            <p:ph type="dt" idx="10"/>
          </p:nvPr>
        </p:nvSpPr>
        <p:spPr>
          <a:xfrm>
            <a:off x="38291" y="646510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a:spLocks noGrp="1"/>
          </p:cNvSpPr>
          <p:nvPr>
            <p:ph type="pic" idx="2"/>
          </p:nvPr>
        </p:nvSpPr>
        <p:spPr>
          <a:xfrm>
            <a:off x="3887391" y="987426"/>
            <a:ext cx="4629150" cy="4873625"/>
          </a:xfrm>
          <a:prstGeom prst="rect">
            <a:avLst/>
          </a:prstGeom>
          <a:noFill/>
          <a:ln>
            <a:noFill/>
          </a:ln>
        </p:spPr>
      </p:sp>
      <p:sp>
        <p:nvSpPr>
          <p:cNvPr id="65" name="Google Shape;65;p14"/>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14"/>
          <p:cNvSpPr txBox="1">
            <a:spLocks noGrp="1"/>
          </p:cNvSpPr>
          <p:nvPr>
            <p:ph type="dt" idx="10"/>
          </p:nvPr>
        </p:nvSpPr>
        <p:spPr>
          <a:xfrm>
            <a:off x="38291" y="646510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866966" y="133186"/>
            <a:ext cx="7886700" cy="65219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body" idx="1"/>
          </p:nvPr>
        </p:nvSpPr>
        <p:spPr>
          <a:xfrm rot="5400000">
            <a:off x="1982756" y="-780225"/>
            <a:ext cx="5227553" cy="879301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5"/>
          <p:cNvSpPr txBox="1">
            <a:spLocks noGrp="1"/>
          </p:cNvSpPr>
          <p:nvPr>
            <p:ph type="dt" idx="10"/>
          </p:nvPr>
        </p:nvSpPr>
        <p:spPr>
          <a:xfrm>
            <a:off x="38291" y="646510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5"/>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6"/>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6"/>
          <p:cNvSpPr txBox="1">
            <a:spLocks noGrp="1"/>
          </p:cNvSpPr>
          <p:nvPr>
            <p:ph type="dt" idx="10"/>
          </p:nvPr>
        </p:nvSpPr>
        <p:spPr>
          <a:xfrm>
            <a:off x="38291" y="646510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
          <p:cNvSpPr txBox="1">
            <a:spLocks noGrp="1"/>
          </p:cNvSpPr>
          <p:nvPr>
            <p:ph type="title"/>
          </p:nvPr>
        </p:nvSpPr>
        <p:spPr>
          <a:xfrm>
            <a:off x="866966" y="133186"/>
            <a:ext cx="7886700" cy="65219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800"/>
              <a:buFont typeface="Quattrocento Sans"/>
              <a:buNone/>
              <a:defRPr sz="2800" b="1" i="0" u="none" strike="noStrike" cap="none">
                <a:solidFill>
                  <a:schemeClr val="dk1"/>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
          <p:cNvSpPr txBox="1">
            <a:spLocks noGrp="1"/>
          </p:cNvSpPr>
          <p:nvPr>
            <p:ph type="body" idx="1"/>
          </p:nvPr>
        </p:nvSpPr>
        <p:spPr>
          <a:xfrm>
            <a:off x="200025" y="1002506"/>
            <a:ext cx="8793015" cy="522755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5"/>
          <p:cNvSpPr txBox="1">
            <a:spLocks noGrp="1"/>
          </p:cNvSpPr>
          <p:nvPr>
            <p:ph type="dt" idx="10"/>
          </p:nvPr>
        </p:nvSpPr>
        <p:spPr>
          <a:xfrm>
            <a:off x="38291" y="6465105"/>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5"/>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5"/>
          <p:cNvSpPr txBox="1"/>
          <p:nvPr/>
        </p:nvSpPr>
        <p:spPr>
          <a:xfrm>
            <a:off x="8115301" y="72097"/>
            <a:ext cx="970472"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Quattrocento Sans"/>
                <a:ea typeface="Quattrocento Sans"/>
                <a:cs typeface="Quattrocento Sans"/>
                <a:sym typeface="Quattrocento Sans"/>
              </a:rPr>
              <a:t>2025 Fall</a:t>
            </a:r>
            <a:endParaRPr sz="1400" b="0" i="0" u="none" strike="noStrike" cap="none">
              <a:solidFill>
                <a:srgbClr val="000000"/>
              </a:solidFill>
              <a:latin typeface="Arial"/>
              <a:ea typeface="Arial"/>
              <a:cs typeface="Arial"/>
              <a:sym typeface="Arial"/>
            </a:endParaRPr>
          </a:p>
        </p:txBody>
      </p:sp>
      <p:sp>
        <p:nvSpPr>
          <p:cNvPr id="15" name="Google Shape;15;p5"/>
          <p:cNvSpPr/>
          <p:nvPr/>
        </p:nvSpPr>
        <p:spPr>
          <a:xfrm>
            <a:off x="46364" y="855395"/>
            <a:ext cx="9039409" cy="59616"/>
          </a:xfrm>
          <a:prstGeom prst="rect">
            <a:avLst/>
          </a:prstGeom>
          <a:solidFill>
            <a:schemeClr val="dk1"/>
          </a:solidFill>
          <a:ln w="19050" cap="flat"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6" name="Google Shape;16;p5"/>
          <p:cNvPicPr preferRelativeResize="0"/>
          <p:nvPr/>
        </p:nvPicPr>
        <p:blipFill rotWithShape="1">
          <a:blip r:embed="rId13">
            <a:alphaModFix/>
          </a:blip>
          <a:srcRect/>
          <a:stretch/>
        </p:blipFill>
        <p:spPr>
          <a:xfrm>
            <a:off x="46365" y="18574"/>
            <a:ext cx="734686" cy="827487"/>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jpe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jpeg"/><Relationship Id="rId3" Type="http://schemas.openxmlformats.org/officeDocument/2006/relationships/image" Target="../media/image17.jpeg"/></Relationships>
</file>

<file path=ppt/slides/_rels/slide16.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
          <p:cNvSpPr txBox="1">
            <a:spLocks noGrp="1"/>
          </p:cNvSpPr>
          <p:nvPr>
            <p:ph type="ctrTitle"/>
          </p:nvPr>
        </p:nvSpPr>
        <p:spPr>
          <a:xfrm>
            <a:off x="1177505" y="1287560"/>
            <a:ext cx="6788990" cy="2387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800"/>
              <a:buFont typeface="Quattrocento Sans"/>
              <a:buNone/>
            </a:pPr>
            <a:r>
              <a:rPr lang="en-US" sz="4800" b="1" dirty="0"/>
              <a:t>Lab 8: </a:t>
            </a:r>
            <a:r>
              <a:rPr lang="en-US" sz="4800" dirty="0"/>
              <a:t>Final Presentation</a:t>
            </a:r>
            <a:endParaRPr dirty="0"/>
          </a:p>
        </p:txBody>
      </p:sp>
      <p:sp>
        <p:nvSpPr>
          <p:cNvPr id="84" name="Google Shape;84;p1"/>
          <p:cNvSpPr txBox="1">
            <a:spLocks noGrp="1"/>
          </p:cNvSpPr>
          <p:nvPr>
            <p:ph type="subTitle" idx="1"/>
          </p:nvPr>
        </p:nvSpPr>
        <p:spPr>
          <a:xfrm>
            <a:off x="1143000" y="3429000"/>
            <a:ext cx="6858000" cy="2316891"/>
          </a:xfrm>
          <a:prstGeom prst="rect">
            <a:avLst/>
          </a:prstGeom>
          <a:noFill/>
          <a:ln>
            <a:noFill/>
          </a:ln>
        </p:spPr>
        <p:txBody>
          <a:bodyPr spcFirstLastPara="1" wrap="square" lIns="91425" tIns="45700" rIns="91425" bIns="45700" anchor="t" anchorCtr="0">
            <a:noAutofit/>
          </a:bodyPr>
          <a:lstStyle/>
          <a:p>
            <a:pPr marL="0" lvl="0" indent="0" algn="ctr" rtl="0">
              <a:lnSpc>
                <a:spcPct val="70000"/>
              </a:lnSpc>
              <a:spcBef>
                <a:spcPts val="0"/>
              </a:spcBef>
              <a:spcAft>
                <a:spcPts val="0"/>
              </a:spcAft>
              <a:buClr>
                <a:schemeClr val="dk1"/>
              </a:buClr>
              <a:buSzPts val="3330"/>
              <a:buNone/>
            </a:pPr>
            <a:r>
              <a:rPr lang="en-US" sz="3630" b="1"/>
              <a:t>2/3 Body Problem</a:t>
            </a:r>
            <a:endParaRPr sz="2520"/>
          </a:p>
          <a:p>
            <a:pPr marL="0" lvl="0" indent="0" algn="ctr" rtl="0">
              <a:lnSpc>
                <a:spcPct val="70000"/>
              </a:lnSpc>
              <a:spcBef>
                <a:spcPts val="1000"/>
              </a:spcBef>
              <a:spcAft>
                <a:spcPts val="0"/>
              </a:spcAft>
              <a:buClr>
                <a:schemeClr val="dk1"/>
              </a:buClr>
              <a:buSzPts val="2220"/>
              <a:buNone/>
            </a:pPr>
            <a:endParaRPr sz="2520" b="1"/>
          </a:p>
          <a:p>
            <a:pPr marL="0" lvl="0" indent="0" algn="ctr" rtl="0">
              <a:lnSpc>
                <a:spcPct val="70000"/>
              </a:lnSpc>
              <a:spcBef>
                <a:spcPts val="1000"/>
              </a:spcBef>
              <a:spcAft>
                <a:spcPts val="0"/>
              </a:spcAft>
              <a:buClr>
                <a:schemeClr val="dk1"/>
              </a:buClr>
              <a:buSzPts val="2220"/>
              <a:buNone/>
            </a:pPr>
            <a:r>
              <a:rPr lang="en-US" sz="2520" b="1"/>
              <a:t>C2C Gowri Ramaprasad</a:t>
            </a:r>
            <a:endParaRPr sz="2520"/>
          </a:p>
          <a:p>
            <a:pPr marL="0" lvl="0" indent="0" algn="ctr" rtl="0">
              <a:lnSpc>
                <a:spcPct val="70000"/>
              </a:lnSpc>
              <a:spcBef>
                <a:spcPts val="1000"/>
              </a:spcBef>
              <a:spcAft>
                <a:spcPts val="0"/>
              </a:spcAft>
              <a:buClr>
                <a:schemeClr val="dk1"/>
              </a:buClr>
              <a:buSzPts val="2220"/>
              <a:buNone/>
            </a:pPr>
            <a:r>
              <a:rPr lang="en-US" sz="2520" b="1"/>
              <a:t>C2C Derek Weissinger</a:t>
            </a:r>
            <a:endParaRPr sz="2520" b="1"/>
          </a:p>
          <a:p>
            <a:pPr marL="0" lvl="0" indent="0" algn="ctr" rtl="0">
              <a:lnSpc>
                <a:spcPct val="70000"/>
              </a:lnSpc>
              <a:spcBef>
                <a:spcPts val="1000"/>
              </a:spcBef>
              <a:spcAft>
                <a:spcPts val="0"/>
              </a:spcAft>
              <a:buClr>
                <a:schemeClr val="dk1"/>
              </a:buClr>
              <a:buSzPts val="2220"/>
              <a:buNone/>
            </a:pPr>
            <a:r>
              <a:rPr lang="en-US" sz="2520" b="1"/>
              <a:t>C2C Owen Crawley</a:t>
            </a:r>
            <a:endParaRPr sz="2520" b="1"/>
          </a:p>
          <a:p>
            <a:pPr marL="0" lvl="0" indent="0" algn="ctr" rtl="0">
              <a:lnSpc>
                <a:spcPct val="70000"/>
              </a:lnSpc>
              <a:spcBef>
                <a:spcPts val="1000"/>
              </a:spcBef>
              <a:spcAft>
                <a:spcPts val="0"/>
              </a:spcAft>
              <a:buClr>
                <a:schemeClr val="dk1"/>
              </a:buClr>
              <a:buSzPts val="2220"/>
              <a:buNone/>
            </a:pPr>
            <a:endParaRPr sz="252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3"/>
          <p:cNvSpPr txBox="1">
            <a:spLocks noGrp="1"/>
          </p:cNvSpPr>
          <p:nvPr>
            <p:ph type="title"/>
          </p:nvPr>
        </p:nvSpPr>
        <p:spPr>
          <a:xfrm>
            <a:off x="866966" y="133186"/>
            <a:ext cx="7886700" cy="65219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Quattrocento Sans"/>
              <a:buNone/>
            </a:pPr>
            <a:r>
              <a:rPr lang="en-US" dirty="0"/>
              <a:t>Overview/Objectives</a:t>
            </a:r>
            <a:endParaRPr dirty="0"/>
          </a:p>
        </p:txBody>
      </p:sp>
      <p:sp>
        <p:nvSpPr>
          <p:cNvPr id="90" name="Google Shape;90;p3"/>
          <p:cNvSpPr txBox="1">
            <a:spLocks noGrp="1"/>
          </p:cNvSpPr>
          <p:nvPr>
            <p:ph type="body" idx="1"/>
          </p:nvPr>
        </p:nvSpPr>
        <p:spPr>
          <a:xfrm>
            <a:off x="200025" y="1002506"/>
            <a:ext cx="8793015" cy="5722308"/>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0"/>
              </a:spcBef>
              <a:spcAft>
                <a:spcPts val="0"/>
              </a:spcAft>
              <a:buSzPts val="1800"/>
              <a:buChar char="•"/>
            </a:pPr>
            <a:r>
              <a:rPr lang="en-US" dirty="0"/>
              <a:t>Using the small air bearing table, develop a 3 degrees of freedom (3DoF) reaction wheel attitude control system.</a:t>
            </a:r>
            <a:endParaRPr dirty="0"/>
          </a:p>
          <a:p>
            <a:pPr marL="457200" lvl="0" indent="-342900" algn="l" rtl="0">
              <a:lnSpc>
                <a:spcPct val="90000"/>
              </a:lnSpc>
              <a:spcBef>
                <a:spcPts val="0"/>
              </a:spcBef>
              <a:spcAft>
                <a:spcPts val="0"/>
              </a:spcAft>
              <a:buSzPts val="1800"/>
              <a:buChar char="•"/>
            </a:pPr>
            <a:r>
              <a:rPr lang="en-US" dirty="0"/>
              <a:t>Develop a robust sensor fusion algorithm using gyroscopes, magnetometers and accelerometers to accurately determine attitude at any given state.</a:t>
            </a:r>
            <a:endParaRPr dirty="0"/>
          </a:p>
          <a:p>
            <a:pPr marL="228600" lvl="0" indent="-50800" algn="l" rtl="0">
              <a:lnSpc>
                <a:spcPct val="90000"/>
              </a:lnSpc>
              <a:spcBef>
                <a:spcPts val="1000"/>
              </a:spcBef>
              <a:spcAft>
                <a:spcPts val="0"/>
              </a:spcAft>
              <a:buClr>
                <a:schemeClr val="dk1"/>
              </a:buClr>
              <a:buSzPts val="2800"/>
              <a:buNone/>
            </a:pPr>
            <a:endParaRPr dirty="0"/>
          </a:p>
          <a:p>
            <a:pPr marL="685800" lvl="1" indent="-76200" algn="l" rtl="0">
              <a:lnSpc>
                <a:spcPct val="90000"/>
              </a:lnSpc>
              <a:spcBef>
                <a:spcPts val="500"/>
              </a:spcBef>
              <a:spcAft>
                <a:spcPts val="0"/>
              </a:spcAft>
              <a:buClr>
                <a:schemeClr val="dk1"/>
              </a:buClr>
              <a:buSzPts val="2400"/>
              <a:buNone/>
            </a:pPr>
            <a:endParaRPr dirty="0"/>
          </a:p>
          <a:p>
            <a:pPr marL="685800" lvl="1" indent="-76200" algn="l" rtl="0">
              <a:lnSpc>
                <a:spcPct val="90000"/>
              </a:lnSpc>
              <a:spcBef>
                <a:spcPts val="500"/>
              </a:spcBef>
              <a:spcAft>
                <a:spcPts val="0"/>
              </a:spcAft>
              <a:buClr>
                <a:schemeClr val="dk1"/>
              </a:buClr>
              <a:buSzPts val="2400"/>
              <a:buNone/>
            </a:pPr>
            <a:endParaRPr dirty="0"/>
          </a:p>
          <a:p>
            <a:pPr marL="685800" lvl="1" indent="-76200" algn="l" rtl="0">
              <a:lnSpc>
                <a:spcPct val="90000"/>
              </a:lnSpc>
              <a:spcBef>
                <a:spcPts val="500"/>
              </a:spcBef>
              <a:spcAft>
                <a:spcPts val="0"/>
              </a:spcAft>
              <a:buClr>
                <a:schemeClr val="dk1"/>
              </a:buClr>
              <a:buSzPts val="2400"/>
              <a:buNone/>
            </a:pPr>
            <a:endParaRPr dirty="0"/>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pic>
        <p:nvPicPr>
          <p:cNvPr id="92" name="Google Shape;92;p3"/>
          <p:cNvPicPr preferRelativeResize="0"/>
          <p:nvPr/>
        </p:nvPicPr>
        <p:blipFill rotWithShape="1">
          <a:blip r:embed="rId3">
            <a:alphaModFix/>
          </a:blip>
          <a:srcRect/>
          <a:stretch/>
        </p:blipFill>
        <p:spPr>
          <a:xfrm>
            <a:off x="866975" y="3683750"/>
            <a:ext cx="2280799" cy="3041075"/>
          </a:xfrm>
          <a:prstGeom prst="rect">
            <a:avLst/>
          </a:prstGeom>
          <a:noFill/>
          <a:ln>
            <a:noFill/>
          </a:ln>
        </p:spPr>
      </p:pic>
      <p:pic>
        <p:nvPicPr>
          <p:cNvPr id="93" name="Google Shape;93;p3"/>
          <p:cNvPicPr preferRelativeResize="0"/>
          <p:nvPr/>
        </p:nvPicPr>
        <p:blipFill rotWithShape="1">
          <a:blip r:embed="rId4">
            <a:alphaModFix/>
          </a:blip>
          <a:srcRect/>
          <a:stretch/>
        </p:blipFill>
        <p:spPr>
          <a:xfrm>
            <a:off x="6057900" y="3683750"/>
            <a:ext cx="2280799" cy="30410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Requirements: Verification &amp; Status</a:t>
            </a:r>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graphicFrame>
        <p:nvGraphicFramePr>
          <p:cNvPr id="92" name="Table 91"/>
          <p:cNvGraphicFramePr>
            <a:graphicFrameLocks noGrp="1"/>
          </p:cNvGraphicFramePr>
          <p:nvPr/>
        </p:nvGraphicFramePr>
        <p:xfrm>
          <a:off x="274320" y="960120"/>
          <a:ext cx="8595360" cy="4434840"/>
        </p:xfrm>
        <a:graphic>
          <a:graphicData uri="http://schemas.openxmlformats.org/drawingml/2006/table">
            <a:tbl>
              <a:tblPr firstRow="1" bandRow="1">
                <a:tableStyleId>{5C22544A-7EE6-4342-B048-85BDC9FD1C3A}</a:tableStyleId>
              </a:tblPr>
              <a:tblGrid>
                <a:gridCol w="2743200"/>
                <a:gridCol w="2743200"/>
                <a:gridCol w="3108960"/>
              </a:tblGrid>
              <a:tr h="411480">
                <a:tc>
                  <a:txBody>
                    <a:bodyPr wrap="square"/>
                    <a:lstStyle/>
                    <a:p>
                      <a:r>
                        <a:rPr sz="1500" b="1" i="0">
                          <a:solidFill>
                            <a:srgbClr val="FFFFFF"/>
                          </a:solidFill>
                          <a:latin typeface="Quattrocento Sans"/>
                        </a:rPr>
                        <a:t>Requirement</a:t>
                      </a:r>
                    </a:p>
                  </a:txBody>
                  <a:tcPr marL="64008" marR="64008" marT="27432" marB="27432" anchor="ctr">
                    <a:solidFill>
                      <a:srgbClr val="404040"/>
                    </a:solidFill>
                  </a:tcPr>
                </a:tc>
                <a:tc>
                  <a:txBody>
                    <a:bodyPr wrap="square"/>
                    <a:lstStyle/>
                    <a:p>
                      <a:r>
                        <a:rPr sz="1500" b="1" i="0">
                          <a:solidFill>
                            <a:srgbClr val="FFFFFF"/>
                          </a:solidFill>
                          <a:latin typeface="Quattrocento Sans"/>
                        </a:rPr>
                        <a:t>Pass criterion</a:t>
                      </a:r>
                    </a:p>
                  </a:txBody>
                  <a:tcPr marL="64008" marR="64008" marT="27432" marB="27432" anchor="ctr">
                    <a:solidFill>
                      <a:srgbClr val="404040"/>
                    </a:solidFill>
                  </a:tcPr>
                </a:tc>
                <a:tc>
                  <a:txBody>
                    <a:bodyPr wrap="square"/>
                    <a:lstStyle/>
                    <a:p>
                      <a:r>
                        <a:rPr sz="1500" b="1" i="0">
                          <a:solidFill>
                            <a:srgbClr val="FFFFFF"/>
                          </a:solidFill>
                          <a:latin typeface="Quattrocento Sans"/>
                        </a:rPr>
                        <a:t>Status</a:t>
                      </a:r>
                    </a:p>
                  </a:txBody>
                  <a:tcPr marL="64008" marR="64008" marT="27432" marB="27432" anchor="ctr">
                    <a:solidFill>
                      <a:srgbClr val="404040"/>
                    </a:solidFill>
                  </a:tcPr>
                </a:tc>
              </a:tr>
              <a:tr h="1005840">
                <a:tc>
                  <a:txBody>
                    <a:bodyPr wrap="square"/>
                    <a:lstStyle/>
                    <a:p>
                      <a:r>
                        <a:rPr sz="1500" b="1" i="0">
                          <a:solidFill>
                            <a:srgbClr val="1F2933"/>
                          </a:solidFill>
                          <a:latin typeface="Quattrocento Sans"/>
                        </a:rPr>
                        <a:t>(1) Hold a heading, no visible jitter or drift</a:t>
                      </a:r>
                    </a:p>
                  </a:txBody>
                  <a:tcPr marL="64008" marR="64008" marT="27432" marB="27432" anchor="ctr">
                    <a:solidFill>
                      <a:srgbClr val="FFFFFF"/>
                    </a:solidFill>
                  </a:tcPr>
                </a:tc>
                <a:tc>
                  <a:txBody>
                    <a:bodyPr wrap="square"/>
                    <a:lstStyle/>
                    <a:p>
                      <a:r>
                        <a:rPr sz="1400" b="0" i="0">
                          <a:solidFill>
                            <a:srgbClr val="1F2933"/>
                          </a:solidFill>
                          <a:latin typeface="Quattrocento Sans"/>
                        </a:rPr>
                        <a:t>Free table holds the commanded heading 1 min, |error| &lt; 1°</a:t>
                      </a:r>
                    </a:p>
                  </a:txBody>
                  <a:tcPr marL="64008" marR="64008" marT="27432" marB="27432" anchor="ctr">
                    <a:solidFill>
                      <a:srgbClr val="FFFFFF"/>
                    </a:solidFill>
                  </a:tcPr>
                </a:tc>
                <a:tc>
                  <a:txBody>
                    <a:bodyPr wrap="square"/>
                    <a:lstStyle/>
                    <a:p>
                      <a:r>
                        <a:rPr sz="1700" b="1" i="0">
                          <a:solidFill>
                            <a:srgbClr val="B7790F"/>
                          </a:solidFill>
                          <a:latin typeface="Quattrocento Sans"/>
                        </a:rPr>
                        <a:t>◐</a:t>
                      </a:r>
                      <a:r>
                        <a:rPr sz="1400" b="0" i="0">
                          <a:solidFill>
                            <a:srgbClr val="1F2933"/>
                          </a:solidFill>
                          <a:latin typeface="Quattrocento Sans"/>
                        </a:rPr>
                        <a:t>  Partial: DEMO LEVEL held heading ±0.5°; hold time limited by balance</a:t>
                      </a:r>
                    </a:p>
                  </a:txBody>
                  <a:tcPr marL="64008" marR="64008" marT="27432" marB="27432" anchor="ctr">
                    <a:solidFill>
                      <a:srgbClr val="FFFFFF"/>
                    </a:solidFill>
                  </a:tcPr>
                </a:tc>
              </a:tr>
              <a:tr h="1005840">
                <a:tc>
                  <a:txBody>
                    <a:bodyPr wrap="square"/>
                    <a:lstStyle/>
                    <a:p>
                      <a:r>
                        <a:rPr sz="1500" b="1" i="0">
                          <a:solidFill>
                            <a:srgbClr val="1F2933"/>
                          </a:solidFill>
                          <a:latin typeface="Quattrocento Sans"/>
                        </a:rPr>
                        <a:t>(2) Know attitude to ±1° in all 3 axes</a:t>
                      </a:r>
                    </a:p>
                  </a:txBody>
                  <a:tcPr marL="64008" marR="64008" marT="27432" marB="27432" anchor="ctr">
                    <a:solidFill>
                      <a:srgbClr val="F4F5F7"/>
                    </a:solidFill>
                  </a:tcPr>
                </a:tc>
                <a:tc>
                  <a:txBody>
                    <a:bodyPr wrap="square"/>
                    <a:lstStyle/>
                    <a:p>
                      <a:r>
                        <a:rPr sz="1400" b="0" i="0">
                          <a:solidFill>
                            <a:srgbClr val="1F2933"/>
                          </a:solidFill>
                          <a:latin typeface="Quattrocento Sans"/>
                        </a:rPr>
                        <a:t>Estimate vs truth over the run, error &lt; 1°</a:t>
                      </a:r>
                    </a:p>
                  </a:txBody>
                  <a:tcPr marL="64008" marR="64008" marT="27432" marB="27432" anchor="ctr">
                    <a:solidFill>
                      <a:srgbClr val="F4F5F7"/>
                    </a:solidFill>
                  </a:tcPr>
                </a:tc>
                <a:tc>
                  <a:txBody>
                    <a:bodyPr wrap="square"/>
                    <a:lstStyle/>
                    <a:p>
                      <a:r>
                        <a:rPr sz="1700" b="1" i="0">
                          <a:solidFill>
                            <a:srgbClr val="B7790F"/>
                          </a:solidFill>
                          <a:latin typeface="Quattrocento Sans"/>
                        </a:rPr>
                        <a:t>◐</a:t>
                      </a:r>
                      <a:r>
                        <a:rPr sz="1400" b="0" i="0">
                          <a:solidFill>
                            <a:srgbClr val="1F2933"/>
                          </a:solidFill>
                          <a:latin typeface="Quattrocento Sans"/>
                        </a:rPr>
                        <a:t>  Roll/pitch σ 0.02°. Yaw with the magnetometer aid: within ±1° on 36/37 steps (worst 1.02°), 57 min, fixed table</a:t>
                      </a:r>
                    </a:p>
                  </a:txBody>
                  <a:tcPr marL="64008" marR="64008" marT="27432" marB="27432" anchor="ctr">
                    <a:solidFill>
                      <a:srgbClr val="F4F5F7"/>
                    </a:solidFill>
                  </a:tcPr>
                </a:tc>
              </a:tr>
              <a:tr h="1005840">
                <a:tc>
                  <a:txBody>
                    <a:bodyPr wrap="square"/>
                    <a:lstStyle/>
                    <a:p>
                      <a:r>
                        <a:rPr sz="1500" b="1" i="0">
                          <a:solidFill>
                            <a:srgbClr val="1F2933"/>
                          </a:solidFill>
                          <a:latin typeface="Quattrocento Sans"/>
                        </a:rPr>
                        <a:t>(3) Detect a wheel failure and compensate</a:t>
                      </a:r>
                    </a:p>
                  </a:txBody>
                  <a:tcPr marL="64008" marR="64008" marT="27432" marB="27432" anchor="ctr">
                    <a:solidFill>
                      <a:srgbClr val="FFFFFF"/>
                    </a:solidFill>
                  </a:tcPr>
                </a:tc>
                <a:tc>
                  <a:txBody>
                    <a:bodyPr wrap="square"/>
                    <a:lstStyle/>
                    <a:p>
                      <a:r>
                        <a:rPr sz="1400" b="0" i="0">
                          <a:solidFill>
                            <a:srgbClr val="1F2933"/>
                          </a:solidFill>
                          <a:latin typeface="Quattrocento Sans"/>
                        </a:rPr>
                        <a:t>Kill a motor mid-maneuver: flagged &lt; 1 s, then (1) and (2) still met</a:t>
                      </a:r>
                    </a:p>
                  </a:txBody>
                  <a:tcPr marL="64008" marR="64008" marT="27432" marB="27432" anchor="ctr">
                    <a:solidFill>
                      <a:srgbClr val="FFFFFF"/>
                    </a:solidFill>
                  </a:tcPr>
                </a:tc>
                <a:tc>
                  <a:txBody>
                    <a:bodyPr wrap="square"/>
                    <a:lstStyle/>
                    <a:p>
                      <a:r>
                        <a:rPr sz="1700" b="1" i="0">
                          <a:solidFill>
                            <a:srgbClr val="B7790F"/>
                          </a:solidFill>
                          <a:latin typeface="Quattrocento Sans"/>
                        </a:rPr>
                        <a:t>◐</a:t>
                      </a:r>
                      <a:r>
                        <a:rPr sz="1400" b="0" i="0">
                          <a:solidFill>
                            <a:srgbClr val="1F2933"/>
                          </a:solidFill>
                          <a:latin typeface="Quattrocento Sans"/>
                        </a:rPr>
                        <a:t>  Built + simulated 9/9 PASS (detected in 0.6–0.8 s); table test next</a:t>
                      </a:r>
                    </a:p>
                  </a:txBody>
                  <a:tcPr marL="64008" marR="64008" marT="27432" marB="27432" anchor="ctr">
                    <a:solidFill>
                      <a:srgbClr val="FFFFFF"/>
                    </a:solidFill>
                  </a:tcPr>
                </a:tc>
              </a:tr>
              <a:tr h="1005840">
                <a:tc>
                  <a:txBody>
                    <a:bodyPr wrap="square"/>
                    <a:lstStyle/>
                    <a:p>
                      <a:r>
                        <a:rPr sz="1500" b="1" i="0">
                          <a:solidFill>
                            <a:srgbClr val="1F2933"/>
                          </a:solidFill>
                          <a:latin typeface="Quattrocento Sans"/>
                        </a:rPr>
                        <a:t>Stretch: 4-attitude optimal slew</a:t>
                      </a:r>
                    </a:p>
                  </a:txBody>
                  <a:tcPr marL="64008" marR="64008" marT="27432" marB="27432" anchor="ctr">
                    <a:solidFill>
                      <a:srgbClr val="F4F5F7"/>
                    </a:solidFill>
                  </a:tcPr>
                </a:tc>
                <a:tc>
                  <a:txBody>
                    <a:bodyPr wrap="square"/>
                    <a:lstStyle/>
                    <a:p>
                      <a:r>
                        <a:rPr sz="1400" b="0" i="0">
                          <a:solidFill>
                            <a:srgbClr val="1F2933"/>
                          </a:solidFill>
                          <a:latin typeface="Quattrocento Sans"/>
                        </a:rPr>
                        <a:t>Each attitude reached on the shortest path and held 5 s within ±1°</a:t>
                      </a:r>
                    </a:p>
                  </a:txBody>
                  <a:tcPr marL="64008" marR="64008" marT="27432" marB="27432" anchor="ctr">
                    <a:solidFill>
                      <a:srgbClr val="F4F5F7"/>
                    </a:solidFill>
                  </a:tcPr>
                </a:tc>
                <a:tc>
                  <a:txBody>
                    <a:bodyPr wrap="square"/>
                    <a:lstStyle/>
                    <a:p>
                      <a:r>
                        <a:rPr sz="1700" b="1" i="0">
                          <a:solidFill>
                            <a:srgbClr val="B7790F"/>
                          </a:solidFill>
                          <a:latin typeface="Quattrocento Sans"/>
                        </a:rPr>
                        <a:t>◐</a:t>
                      </a:r>
                      <a:r>
                        <a:rPr sz="1400" b="0" i="0">
                          <a:solidFill>
                            <a:srgbClr val="1F2933"/>
                          </a:solidFill>
                          <a:latin typeface="Quattrocento Sans"/>
                        </a:rPr>
                        <a:t>  Simulated 4/4 PASS on a balanced table; table needs CG raised ≈ 4.4 mm</a:t>
                      </a:r>
                    </a:p>
                  </a:txBody>
                  <a:tcPr marL="64008" marR="64008" marT="27432" marB="27432" anchor="ctr">
                    <a:solidFill>
                      <a:srgbClr val="F4F5F7"/>
                    </a:solidFill>
                  </a:tcPr>
                </a:tc>
              </a:tr>
            </a:tbl>
          </a:graphicData>
        </a:graphic>
      </p:graphicFrame>
      <p:sp>
        <p:nvSpPr>
          <p:cNvPr id="93" name="TextBox 92"/>
          <p:cNvSpPr txBox="1"/>
          <p:nvPr/>
        </p:nvSpPr>
        <p:spPr>
          <a:xfrm>
            <a:off x="274320" y="5440680"/>
            <a:ext cx="8595360" cy="411480"/>
          </a:xfrm>
          <a:prstGeom prst="rect">
            <a:avLst/>
          </a:prstGeom>
          <a:noFill/>
        </p:spPr>
        <p:txBody>
          <a:bodyPr wrap="square" anchor="ctr" lIns="73152" rIns="73152" tIns="73152" bIns="73152">
            <a:spAutoFit/>
          </a:bodyPr>
          <a:lstStyle/>
          <a:p>
            <a:pPr marL="0" indent="0">
              <a:lnSpc>
                <a:spcPct val="95000"/>
              </a:lnSpc>
              <a:spcBef>
                <a:spcPts val="400"/>
              </a:spcBef>
              <a:buNone/>
            </a:pPr>
            <a:r>
              <a:rPr sz="1500" b="1" i="0">
                <a:solidFill>
                  <a:srgbClr val="2E7D4F"/>
                </a:solidFill>
                <a:latin typeface="Quattrocento Sans"/>
              </a:rPr>
              <a:t>✔</a:t>
            </a:r>
            <a:r>
              <a:rPr sz="1400" b="0" i="0">
                <a:solidFill>
                  <a:srgbClr val="1F2933"/>
                </a:solidFill>
                <a:latin typeface="Quattrocento Sans"/>
              </a:rPr>
              <a:t>  verified on hardware      </a:t>
            </a:r>
            <a:r>
              <a:rPr sz="1500" b="1" i="0">
                <a:solidFill>
                  <a:srgbClr val="B7790F"/>
                </a:solidFill>
                <a:latin typeface="Quattrocento Sans"/>
              </a:rPr>
              <a:t>◐</a:t>
            </a:r>
            <a:r>
              <a:rPr sz="1400" b="0" i="0">
                <a:solidFill>
                  <a:srgbClr val="1F2933"/>
                </a:solidFill>
                <a:latin typeface="Quattrocento Sans"/>
              </a:rPr>
              <a:t>  built / simulated, or met in part      </a:t>
            </a:r>
            <a:r>
              <a:rPr sz="1500" b="1" i="0">
                <a:solidFill>
                  <a:srgbClr val="616E7C"/>
                </a:solidFill>
                <a:latin typeface="Quattrocento Sans"/>
              </a:rPr>
              <a:t>○</a:t>
            </a:r>
            <a:r>
              <a:rPr sz="1400" b="0" i="0">
                <a:solidFill>
                  <a:srgbClr val="1F2933"/>
                </a:solidFill>
                <a:latin typeface="Quattrocento Sans"/>
              </a:rPr>
              <a:t>  not started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h1e1805356538ab88_0_0"/>
          <p:cNvSpPr txBox="1">
            <a:spLocks noGrp="1"/>
          </p:cNvSpPr>
          <p:nvPr>
            <p:ph type="title"/>
          </p:nvPr>
        </p:nvSpPr>
        <p:spPr>
          <a:xfrm>
            <a:off x="866966" y="133186"/>
            <a:ext cx="7886700" cy="652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Quattrocento Sans"/>
              <a:buNone/>
            </a:pPr>
            <a:r>
              <a:rPr lang="en-US"/>
              <a:t>Theory: Estimation &amp; Control Loop</a:t>
            </a:r>
            <a:endParaRPr/>
          </a:p>
        </p:txBody>
      </p:sp>
      <p:sp>
        <p:nvSpPr>
          <p:cNvPr id="107" name="Google Shape;107;h1e1805356538ab88_0_0"/>
          <p:cNvSpPr txBox="1">
            <a:spLocks noGrp="1"/>
          </p:cNvSpPr>
          <p:nvPr>
            <p:ph type="sldNum" idx="12"/>
          </p:nvPr>
        </p:nvSpPr>
        <p:spPr>
          <a:xfrm>
            <a:off x="7040236" y="6465106"/>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pic>
        <p:nvPicPr>
          <p:cNvPr id="108" name="Picture 107" descr="diag_control_loop_io.png"/>
          <p:cNvPicPr>
            <a:picLocks noChangeAspect="1"/>
          </p:cNvPicPr>
          <p:nvPr/>
        </p:nvPicPr>
        <p:blipFill>
          <a:blip r:embed="rId4"/>
          <a:stretch>
            <a:fillRect/>
          </a:stretch>
        </p:blipFill>
        <p:spPr>
          <a:xfrm>
            <a:off x="274320" y="896112"/>
            <a:ext cx="8595360" cy="3948594"/>
          </a:xfrm>
          <a:prstGeom prst="rect">
            <a:avLst/>
          </a:prstGeom>
        </p:spPr>
      </p:pic>
      <p:sp>
        <p:nvSpPr>
          <p:cNvPr id="109" name="TextBox 108"/>
          <p:cNvSpPr txBox="1"/>
          <p:nvPr/>
        </p:nvSpPr>
        <p:spPr>
          <a:xfrm>
            <a:off x="274320" y="4892040"/>
            <a:ext cx="8595360" cy="1508760"/>
          </a:xfrm>
          <a:prstGeom prst="rect">
            <a:avLst/>
          </a:prstGeom>
          <a:noFill/>
        </p:spPr>
        <p:txBody>
          <a:bodyPr wrap="square" anchor="t" lIns="73152" rIns="73152" tIns="73152" bIns="73152">
            <a:spAutoFit/>
          </a:bodyPr>
          <a:lstStyle/>
          <a:p>
            <a:pPr marL="300000" indent="-228600">
              <a:lnSpc>
                <a:spcPct val="95000"/>
              </a:lnSpc>
              <a:spcBef>
                <a:spcPts val="400"/>
              </a:spcBef>
              <a:buChar char="•"/>
            </a:pPr>
            <a:r>
              <a:rPr sz="1400" b="1" i="0">
                <a:solidFill>
                  <a:srgbClr val="2E7D4F"/>
                </a:solidFill>
                <a:latin typeface="Quattrocento Sans"/>
              </a:rPr>
              <a:t>Input: </a:t>
            </a:r>
            <a:r>
              <a:rPr sz="1400" b="0" i="0">
                <a:solidFill>
                  <a:srgbClr val="1F2933"/>
                </a:solidFill>
                <a:latin typeface="Quattrocento Sans"/>
              </a:rPr>
              <a:t>commanded attitude and rate from the active mode (ARM, DEMO LEVEL, STEP / SLEW TEST). </a:t>
            </a:r>
            <a:r>
              <a:rPr sz="1400" b="1" i="0">
                <a:solidFill>
                  <a:srgbClr val="9C2F25"/>
                </a:solidFill>
                <a:latin typeface="Quattrocento Sans"/>
              </a:rPr>
              <a:t>Output: </a:t>
            </a:r>
            <a:r>
              <a:rPr sz="1400" b="0" i="0">
                <a:solidFill>
                  <a:srgbClr val="1F2933"/>
                </a:solidFill>
                <a:latin typeface="Quattrocento Sans"/>
              </a:rPr>
              <a:t>the table’s attitude.</a:t>
            </a:r>
          </a:p>
          <a:p>
            <a:pPr marL="300000" indent="-228600">
              <a:lnSpc>
                <a:spcPct val="95000"/>
              </a:lnSpc>
              <a:spcBef>
                <a:spcPts val="400"/>
              </a:spcBef>
              <a:buChar char="•"/>
            </a:pPr>
            <a:r>
              <a:rPr sz="1400" b="1" i="0">
                <a:solidFill>
                  <a:srgbClr val="1F2933"/>
                </a:solidFill>
                <a:latin typeface="Quattrocento Sans"/>
              </a:rPr>
              <a:t>Estimator: </a:t>
            </a:r>
            <a:r>
              <a:rPr sz="1400" b="0" i="0">
                <a:solidFill>
                  <a:srgbClr val="1F2933"/>
                </a:solidFill>
                <a:latin typeface="Quattrocento Sans"/>
              </a:rPr>
              <a:t>6-state MEKF. Gyro predicts at 100 Hz; accelerometer corrects roll/pitch; magnetometer corrects heading when the wheels are in a known state.</a:t>
            </a:r>
          </a:p>
          <a:p>
            <a:pPr marL="300000" indent="-228600">
              <a:lnSpc>
                <a:spcPct val="95000"/>
              </a:lnSpc>
              <a:spcBef>
                <a:spcPts val="400"/>
              </a:spcBef>
              <a:buChar char="•"/>
            </a:pPr>
            <a:r>
              <a:rPr sz="1400" b="1" i="0">
                <a:solidFill>
                  <a:srgbClr val="1F2933"/>
                </a:solidFill>
                <a:latin typeface="Quattrocento Sans"/>
              </a:rPr>
              <a:t>Disturbances: </a:t>
            </a:r>
            <a:r>
              <a:rPr sz="1400" b="0" i="0">
                <a:solidFill>
                  <a:srgbClr val="1F2933"/>
                </a:solidFill>
                <a:latin typeface="Quattrocento Sans"/>
              </a:rPr>
              <a:t>gravity from the CG offset and air drag; wheels can’t dump momentum, so these set the hold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Theory: Control Law &amp; Wheel Allocation</a:t>
            </a:r>
          </a:p>
        </p:txBody>
      </p:sp>
      <p:sp>
        <p:nvSpPr>
          <p:cNvPr id="3" name="Text Placeholder 2"/>
          <p:cNvSpPr>
            <a:spLocks noGrp="1"/>
          </p:cNvSpPr>
          <p:nvPr>
            <p:ph type="body" idx="1"/>
          </p:nvPr>
        </p:nvSpPr>
        <p:spPr>
          <a:xfrm>
            <a:off x="201168" y="914400"/>
            <a:ext cx="5074920" cy="5440680"/>
          </a:xfrm>
        </p:spPr>
        <p:txBody>
          <a:bodyPr wrap="square">
            <a:normAutofit/>
          </a:bodyPr>
          <a:lstStyle/>
          <a:p>
            <a:pPr marL="300000" indent="-228600">
              <a:lnSpc>
                <a:spcPct val="95000"/>
              </a:lnSpc>
              <a:spcBef>
                <a:spcPts val="1000"/>
              </a:spcBef>
              <a:buChar char="•"/>
            </a:pPr>
            <a:r>
              <a:rPr sz="1700" b="1" dirty="0"/>
              <a:t>Quaternion PD with feed-forward:</a:t>
            </a:r>
          </a:p>
          <a:p>
            <a:pPr marL="300000" indent="0">
              <a:lnSpc>
                <a:spcPct val="95000"/>
              </a:lnSpc>
              <a:spcBef>
                <a:spcPts val="400"/>
              </a:spcBef>
              <a:buNone/>
            </a:pPr>
            <a:r>
              <a:rPr sz="1550" b="0" i="1" dirty="0"/>
              <a:t>τ = −</a:t>
            </a:r>
            <a:r>
              <a:rPr sz="1550" b="0" i="1" dirty="0" err="1"/>
              <a:t>Kp</a:t>
            </a:r>
            <a:r>
              <a:rPr sz="1550" b="0" i="1" dirty="0"/>
              <a:t> θₑ − </a:t>
            </a:r>
            <a:r>
              <a:rPr sz="1550" b="0" i="1" dirty="0" err="1"/>
              <a:t>Kd</a:t>
            </a:r>
            <a:r>
              <a:rPr sz="1550" b="0" i="1" dirty="0"/>
              <a:t> (ω − </a:t>
            </a:r>
            <a:r>
              <a:rPr sz="1550" b="0" i="1" dirty="0" err="1"/>
              <a:t>ω_ref</a:t>
            </a:r>
            <a:r>
              <a:rPr sz="1550" b="0" i="1" dirty="0"/>
              <a:t>) + I α_ref + ω × (</a:t>
            </a:r>
            <a:r>
              <a:rPr sz="1550" b="0" i="1" dirty="0" err="1"/>
              <a:t>Iω</a:t>
            </a:r>
            <a:r>
              <a:rPr sz="1550" b="0" i="1" dirty="0"/>
              <a:t> + </a:t>
            </a:r>
            <a:r>
              <a:rPr sz="1550" b="0" i="1" dirty="0" err="1"/>
              <a:t>h_w</a:t>
            </a:r>
            <a:r>
              <a:rPr sz="1550" b="0" i="1" dirty="0"/>
              <a:t>)</a:t>
            </a:r>
          </a:p>
          <a:p>
            <a:pPr marL="351400" indent="0">
              <a:lnSpc>
                <a:spcPct val="95000"/>
              </a:lnSpc>
              <a:spcBef>
                <a:spcPts val="1000"/>
              </a:spcBef>
              <a:buNone/>
            </a:pPr>
            <a:r>
              <a:rPr sz="1500" b="0" dirty="0" err="1"/>
              <a:t>Kp</a:t>
            </a:r>
            <a:r>
              <a:rPr sz="1500" b="0" dirty="0"/>
              <a:t> = I ωₙ², </a:t>
            </a:r>
            <a:r>
              <a:rPr sz="1500" b="0" dirty="0" err="1"/>
              <a:t>Kd</a:t>
            </a:r>
            <a:r>
              <a:rPr sz="1500" b="0" dirty="0"/>
              <a:t> = 2ζ I ωₙ (</a:t>
            </a:r>
            <a:r>
              <a:rPr lang="en-US" sz="1500" dirty="0"/>
              <a:t>ref. Engr 341 2</a:t>
            </a:r>
            <a:r>
              <a:rPr lang="en-US" sz="1500" baseline="30000" dirty="0"/>
              <a:t>nd</a:t>
            </a:r>
            <a:r>
              <a:rPr lang="en-US" sz="1500" dirty="0"/>
              <a:t>-order system, </a:t>
            </a:r>
            <a:r>
              <a:rPr sz="1500" b="0" dirty="0"/>
              <a:t>ωₙ = 2 rad/s, ζ = 0.9</a:t>
            </a:r>
            <a:r>
              <a:rPr lang="en-US" sz="1500" b="0" dirty="0"/>
              <a:t>)</a:t>
            </a:r>
            <a:endParaRPr sz="1500" b="0" dirty="0"/>
          </a:p>
          <a:p>
            <a:pPr marL="300000" indent="-228600">
              <a:lnSpc>
                <a:spcPct val="95000"/>
              </a:lnSpc>
              <a:spcBef>
                <a:spcPts val="1000"/>
              </a:spcBef>
              <a:buChar char="•"/>
            </a:pPr>
            <a:r>
              <a:rPr sz="1700" b="0" dirty="0"/>
              <a:t>4 wheels in a 45° pyramid: any 3 still span all axes → the basis for wheel-failure tolerance (Req. 3)</a:t>
            </a:r>
          </a:p>
          <a:p>
            <a:pPr marL="300000" indent="-228600">
              <a:lnSpc>
                <a:spcPct val="95000"/>
              </a:lnSpc>
              <a:spcBef>
                <a:spcPts val="1000"/>
              </a:spcBef>
              <a:buChar char="•"/>
            </a:pPr>
            <a:r>
              <a:rPr sz="1700" b="0" dirty="0"/>
              <a:t>Minimum-norm allocation u = −</a:t>
            </a:r>
            <a:r>
              <a:rPr sz="1700" b="0" dirty="0" err="1"/>
              <a:t>D⁺τ</a:t>
            </a:r>
            <a:r>
              <a:rPr sz="1700" b="0" dirty="0"/>
              <a:t> over the enabled wheels; the 4th-wheel null mode [+1, −1, +1, −1] holds a bias speed</a:t>
            </a:r>
            <a:endParaRPr lang="en-US" sz="1700" b="0" dirty="0"/>
          </a:p>
          <a:p>
            <a:pPr marL="300000" indent="-228600">
              <a:lnSpc>
                <a:spcPct val="95000"/>
              </a:lnSpc>
              <a:spcBef>
                <a:spcPts val="1000"/>
              </a:spcBef>
              <a:buChar char="•"/>
            </a:pPr>
            <a:r>
              <a:rPr sz="1700" b="0" dirty="0"/>
              <a:t>Inner loop: 100 Hz wheel-speed PI with a back-EMF current limit (2.5 A, no current sensor)</a:t>
            </a:r>
          </a:p>
          <a:p>
            <a:pPr marL="300000" indent="-228600">
              <a:lnSpc>
                <a:spcPct val="95000"/>
              </a:lnSpc>
              <a:spcBef>
                <a:spcPts val="1000"/>
              </a:spcBef>
              <a:buChar char="•"/>
            </a:pPr>
            <a:r>
              <a:rPr sz="1700" b="0" dirty="0"/>
              <a:t>Physics limit: wheels cannot dump momentum. </a:t>
            </a:r>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pic>
        <p:nvPicPr>
          <p:cNvPr id="92" name="Picture 91" descr="diag_wheel_pyramid.png"/>
          <p:cNvPicPr>
            <a:picLocks noChangeAspect="1"/>
          </p:cNvPicPr>
          <p:nvPr/>
        </p:nvPicPr>
        <p:blipFill>
          <a:blip r:embed="rId3"/>
          <a:stretch>
            <a:fillRect/>
          </a:stretch>
        </p:blipFill>
        <p:spPr>
          <a:xfrm>
            <a:off x="5349240" y="1463040"/>
            <a:ext cx="3611880" cy="2045523"/>
          </a:xfrm>
          <a:prstGeom prst="rect">
            <a:avLst/>
          </a:prstGeom>
        </p:spPr>
      </p:pic>
      <p:sp>
        <p:nvSpPr>
          <p:cNvPr id="93" name="TextBox 92"/>
          <p:cNvSpPr txBox="1"/>
          <p:nvPr/>
        </p:nvSpPr>
        <p:spPr>
          <a:xfrm>
            <a:off x="5349240" y="3657600"/>
            <a:ext cx="3611880" cy="1463040"/>
          </a:xfrm>
          <a:prstGeom prst="rect">
            <a:avLst/>
          </a:prstGeom>
          <a:noFill/>
        </p:spPr>
        <p:txBody>
          <a:bodyPr wrap="square" lIns="73152" rIns="73152">
            <a:spAutoFit/>
          </a:bodyPr>
          <a:lstStyle/>
          <a:p>
            <a:pPr marL="0" indent="0">
              <a:lnSpc>
                <a:spcPct val="95000"/>
              </a:lnSpc>
              <a:spcBef>
                <a:spcPts val="400"/>
              </a:spcBef>
              <a:buNone/>
            </a:pPr>
            <a:r>
              <a:rPr sz="1250" b="0">
                <a:latin typeface="Quattrocento Sans"/>
              </a:rPr>
              <a:t>Wheel J = 3.06×10⁻⁴ kg·m² (CAD); table I ≈ 0.062 kg·m² (model)</a:t>
            </a:r>
          </a:p>
          <a:p>
            <a:pPr marL="0" indent="0">
              <a:lnSpc>
                <a:spcPct val="95000"/>
              </a:lnSpc>
              <a:spcBef>
                <a:spcPts val="400"/>
              </a:spcBef>
              <a:buNone/>
            </a:pPr>
            <a:r>
              <a:rPr sz="1250" b="0">
                <a:latin typeface="Quattrocento Sans"/>
              </a:rPr>
              <a:t>Speed limit 60 rad/s → ≈ 24 mN·m·s per tilt axis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h1e1805356538ab88_0_6"/>
          <p:cNvSpPr txBox="1">
            <a:spLocks noGrp="1"/>
          </p:cNvSpPr>
          <p:nvPr>
            <p:ph type="title"/>
          </p:nvPr>
        </p:nvSpPr>
        <p:spPr>
          <a:xfrm>
            <a:off x="866966" y="133186"/>
            <a:ext cx="7886700" cy="652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Quattrocento Sans"/>
              <a:buNone/>
            </a:pPr>
            <a:r>
              <a:rPr lang="en-US" dirty="0"/>
              <a:t>Build Progress: Hardware</a:t>
            </a:r>
            <a:endParaRPr dirty="0"/>
          </a:p>
        </p:txBody>
      </p:sp>
      <p:sp>
        <p:nvSpPr>
          <p:cNvPr id="114" name="Google Shape;114;h1e1805356538ab88_0_6"/>
          <p:cNvSpPr txBox="1">
            <a:spLocks noGrp="1"/>
          </p:cNvSpPr>
          <p:nvPr>
            <p:ph type="sldNum" idx="12"/>
          </p:nvPr>
        </p:nvSpPr>
        <p:spPr>
          <a:xfrm>
            <a:off x="7040236" y="6465106"/>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pic>
        <p:nvPicPr>
          <p:cNvPr id="115" name="Picture 114" descr="diag_hardware.png"/>
          <p:cNvPicPr>
            <a:picLocks noChangeAspect="1"/>
          </p:cNvPicPr>
          <p:nvPr/>
        </p:nvPicPr>
        <p:blipFill>
          <a:blip r:embed="rId3"/>
          <a:stretch>
            <a:fillRect/>
          </a:stretch>
        </p:blipFill>
        <p:spPr>
          <a:xfrm>
            <a:off x="274320" y="896112"/>
            <a:ext cx="8595360" cy="3657600"/>
          </a:xfrm>
          <a:prstGeom prst="rect">
            <a:avLst/>
          </a:prstGeom>
        </p:spPr>
      </p:pic>
      <p:sp>
        <p:nvSpPr>
          <p:cNvPr id="116" name="TextBox 115"/>
          <p:cNvSpPr txBox="1"/>
          <p:nvPr/>
        </p:nvSpPr>
        <p:spPr>
          <a:xfrm>
            <a:off x="274320" y="4617720"/>
            <a:ext cx="8595360" cy="1342675"/>
          </a:xfrm>
          <a:prstGeom prst="rect">
            <a:avLst/>
          </a:prstGeom>
          <a:noFill/>
        </p:spPr>
        <p:txBody>
          <a:bodyPr wrap="square" lIns="73152" rIns="73152">
            <a:spAutoFit/>
          </a:bodyPr>
          <a:lstStyle/>
          <a:p>
            <a:pPr marL="300000" indent="-228600">
              <a:lnSpc>
                <a:spcPct val="95000"/>
              </a:lnSpc>
              <a:spcBef>
                <a:spcPts val="600"/>
              </a:spcBef>
              <a:buChar char="•"/>
            </a:pPr>
            <a:r>
              <a:rPr sz="1500" b="0" dirty="0">
                <a:latin typeface="Quattrocento Sans"/>
              </a:rPr>
              <a:t>Power system: separate </a:t>
            </a:r>
            <a:r>
              <a:rPr lang="en-US" sz="1500" b="0" dirty="0">
                <a:latin typeface="Quattrocento Sans"/>
              </a:rPr>
              <a:t>5V </a:t>
            </a:r>
            <a:r>
              <a:rPr sz="1500" b="0" dirty="0">
                <a:latin typeface="Quattrocento Sans"/>
              </a:rPr>
              <a:t>logic pack, one 12 V pack per wheel, low-side motor switch, star ground, bench wiring sheet</a:t>
            </a:r>
          </a:p>
          <a:p>
            <a:pPr marL="300000" indent="-228600">
              <a:lnSpc>
                <a:spcPct val="95000"/>
              </a:lnSpc>
              <a:spcBef>
                <a:spcPts val="600"/>
              </a:spcBef>
              <a:buChar char="•"/>
            </a:pPr>
            <a:r>
              <a:rPr sz="1500" b="0" dirty="0">
                <a:latin typeface="Quattrocento Sans"/>
              </a:rPr>
              <a:t>Verified on the table: pin map and encoder wiring corrected, wheel/encoder signs set; gearboxes found to be 6.3:1, not 10:1 (hand-turn encoder counts)</a:t>
            </a:r>
          </a:p>
          <a:p>
            <a:pPr marL="300000" indent="-228600">
              <a:lnSpc>
                <a:spcPct val="95000"/>
              </a:lnSpc>
              <a:spcBef>
                <a:spcPts val="600"/>
              </a:spcBef>
              <a:buChar char="•"/>
            </a:pPr>
            <a:r>
              <a:rPr sz="1500" b="0" dirty="0">
                <a:latin typeface="Quattrocento Sans"/>
              </a:rPr>
              <a:t>Added IMU data-ready (INT) and reset (RST) wires → reliable data</a:t>
            </a:r>
            <a:r>
              <a:rPr lang="en-US" sz="1500" b="0" dirty="0">
                <a:latin typeface="Quattrocento Sans"/>
              </a:rPr>
              <a:t> at 100 Hz</a:t>
            </a:r>
            <a:endParaRPr sz="1500" b="0" dirty="0">
              <a:latin typeface="Quattrocen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C7459-B7DA-A256-5DBC-3AE9FFF61D56}"/>
              </a:ext>
            </a:extLst>
          </p:cNvPr>
          <p:cNvSpPr>
            <a:spLocks noGrp="1"/>
          </p:cNvSpPr>
          <p:nvPr>
            <p:ph type="title"/>
          </p:nvPr>
        </p:nvSpPr>
        <p:spPr/>
        <p:txBody>
          <a:bodyPr/>
          <a:lstStyle/>
          <a:p>
            <a:r>
              <a:rPr lang="en-US" dirty="0"/>
              <a:t>Build Progress: Hardware</a:t>
            </a:r>
          </a:p>
        </p:txBody>
      </p:sp>
      <p:pic>
        <p:nvPicPr>
          <p:cNvPr id="5" name="Picture 4">
            <a:extLst>
              <a:ext uri="{FF2B5EF4-FFF2-40B4-BE49-F238E27FC236}">
                <a16:creationId xmlns:a16="http://schemas.microsoft.com/office/drawing/2014/main" id="{6B65AA0E-6B38-9533-7212-DE4E578347F5}"/>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6342" y="2540016"/>
            <a:ext cx="3348508" cy="2170456"/>
          </a:xfrm>
          <a:prstGeom prst="rect">
            <a:avLst/>
          </a:prstGeom>
        </p:spPr>
      </p:pic>
      <p:sp>
        <p:nvSpPr>
          <p:cNvPr id="4" name="Slide Number Placeholder 3">
            <a:extLst>
              <a:ext uri="{FF2B5EF4-FFF2-40B4-BE49-F238E27FC236}">
                <a16:creationId xmlns:a16="http://schemas.microsoft.com/office/drawing/2014/main" id="{05D085C1-AA9C-29C3-F1E0-2F4B25557EF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pic>
        <p:nvPicPr>
          <p:cNvPr id="12" name="Picture 11">
            <a:extLst>
              <a:ext uri="{FF2B5EF4-FFF2-40B4-BE49-F238E27FC236}">
                <a16:creationId xmlns:a16="http://schemas.microsoft.com/office/drawing/2014/main" id="{611B78DB-089E-69E3-DC83-6BFC4E5D62E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37324" y="2009005"/>
            <a:ext cx="2377425" cy="3169899"/>
          </a:xfrm>
          <a:prstGeom prst="rect">
            <a:avLst/>
          </a:prstGeom>
        </p:spPr>
      </p:pic>
      <p:pic>
        <p:nvPicPr>
          <p:cNvPr id="14" name="Picture 13">
            <a:extLst>
              <a:ext uri="{FF2B5EF4-FFF2-40B4-BE49-F238E27FC236}">
                <a16:creationId xmlns:a16="http://schemas.microsoft.com/office/drawing/2014/main" id="{CC862525-2BF7-5F35-3DB3-63BF813D5871}"/>
              </a:ext>
            </a:extLst>
          </p:cNvPr>
          <p:cNvPicPr>
            <a:picLocks noChangeAspect="1"/>
          </p:cNvPicPr>
          <p:nvPr/>
        </p:nvPicPr>
        <p:blipFill>
          <a:blip r:embed="rId4"/>
          <a:stretch>
            <a:fillRect/>
          </a:stretch>
        </p:blipFill>
        <p:spPr>
          <a:xfrm>
            <a:off x="6251341" y="2040295"/>
            <a:ext cx="2680153" cy="3169899"/>
          </a:xfrm>
          <a:prstGeom prst="rect">
            <a:avLst/>
          </a:prstGeom>
        </p:spPr>
      </p:pic>
      <p:sp>
        <p:nvSpPr>
          <p:cNvPr id="16" name="Caption: Battery Holder Detail"/>
          <p:cNvSpPr txBox="1"/>
          <p:nvPr/>
        </p:nvSpPr>
        <p:spPr>
          <a:xfrm>
            <a:off x="3943867" y="5329597"/>
            <a:ext cx="1964338" cy="246221"/>
          </a:xfrm>
          <a:prstGeom prst="rect">
            <a:avLst/>
          </a:prstGeom>
          <a:noFill/>
        </p:spPr>
        <p:txBody>
          <a:bodyPr wrap="square" lIns="0" tIns="0" rIns="0" bIns="0" anchor="t">
            <a:spAutoFit/>
          </a:bodyPr>
          <a:lstStyle/>
          <a:p>
            <a:pPr algn="ctr"/>
            <a:r>
              <a:rPr sz="1600" dirty="0">
                <a:solidFill>
                  <a:srgbClr val="000000"/>
                </a:solidFill>
                <a:latin typeface="Quattrocento Sans"/>
              </a:rPr>
              <a:t>Battery Holder Detail</a:t>
            </a:r>
          </a:p>
        </p:txBody>
      </p:sp>
      <p:sp>
        <p:nvSpPr>
          <p:cNvPr id="17" name="Caption: Battery Holder CAD"/>
          <p:cNvSpPr txBox="1"/>
          <p:nvPr/>
        </p:nvSpPr>
        <p:spPr>
          <a:xfrm>
            <a:off x="6484184" y="5329596"/>
            <a:ext cx="2214466" cy="246221"/>
          </a:xfrm>
          <a:prstGeom prst="rect">
            <a:avLst/>
          </a:prstGeom>
          <a:noFill/>
        </p:spPr>
        <p:txBody>
          <a:bodyPr wrap="square" lIns="0" tIns="0" rIns="0" bIns="0" anchor="t">
            <a:spAutoFit/>
          </a:bodyPr>
          <a:lstStyle/>
          <a:p>
            <a:pPr algn="ctr"/>
            <a:r>
              <a:rPr sz="1600" dirty="0">
                <a:solidFill>
                  <a:srgbClr val="000000"/>
                </a:solidFill>
                <a:latin typeface="Quattrocento Sans"/>
              </a:rPr>
              <a:t>Battery Holder CAD</a:t>
            </a:r>
          </a:p>
        </p:txBody>
      </p:sp>
      <p:sp>
        <p:nvSpPr>
          <p:cNvPr id="7" name="Caption: Battery Holder Detail">
            <a:extLst>
              <a:ext uri="{FF2B5EF4-FFF2-40B4-BE49-F238E27FC236}">
                <a16:creationId xmlns:a16="http://schemas.microsoft.com/office/drawing/2014/main" id="{81333CB7-D781-A4FA-4DFA-D17716E54430}"/>
              </a:ext>
            </a:extLst>
          </p:cNvPr>
          <p:cNvSpPr txBox="1"/>
          <p:nvPr/>
        </p:nvSpPr>
        <p:spPr>
          <a:xfrm>
            <a:off x="798427" y="4840576"/>
            <a:ext cx="1964338" cy="246221"/>
          </a:xfrm>
          <a:prstGeom prst="rect">
            <a:avLst/>
          </a:prstGeom>
          <a:noFill/>
        </p:spPr>
        <p:txBody>
          <a:bodyPr wrap="square" lIns="0" tIns="0" rIns="0" bIns="0" anchor="t">
            <a:spAutoFit/>
          </a:bodyPr>
          <a:lstStyle/>
          <a:p>
            <a:pPr algn="ctr"/>
            <a:r>
              <a:rPr lang="en-US" sz="1600" dirty="0">
                <a:solidFill>
                  <a:srgbClr val="000000"/>
                </a:solidFill>
                <a:latin typeface="Quattrocento Sans"/>
              </a:rPr>
              <a:t>Washer</a:t>
            </a:r>
            <a:r>
              <a:rPr sz="1600" dirty="0">
                <a:solidFill>
                  <a:srgbClr val="000000"/>
                </a:solidFill>
                <a:latin typeface="Quattrocento Sans"/>
              </a:rPr>
              <a:t> Holder </a:t>
            </a:r>
            <a:r>
              <a:rPr lang="en-US" sz="1600" dirty="0">
                <a:latin typeface="Quattrocento Sans"/>
              </a:rPr>
              <a:t>CAD</a:t>
            </a:r>
            <a:endParaRPr sz="1600" dirty="0">
              <a:solidFill>
                <a:srgbClr val="000000"/>
              </a:solidFill>
              <a:latin typeface="Quattrocento Sans"/>
            </a:endParaRPr>
          </a:p>
        </p:txBody>
      </p:sp>
    </p:spTree>
    <p:extLst>
      <p:ext uri="{BB962C8B-B14F-4D97-AF65-F5344CB8AC3E}">
        <p14:creationId xmlns:p14="http://schemas.microsoft.com/office/powerpoint/2010/main" val="3792216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Progress: Software</a:t>
            </a:r>
            <a:r>
              <a:rPr lang="en-US" dirty="0"/>
              <a:t> Build</a:t>
            </a:r>
            <a:r>
              <a:rPr dirty="0"/>
              <a:t> &amp; Tes</a:t>
            </a:r>
            <a:r>
              <a:rPr lang="en-US" dirty="0"/>
              <a:t>ts</a:t>
            </a:r>
            <a:endParaRPr dirty="0"/>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graphicFrame>
        <p:nvGraphicFramePr>
          <p:cNvPr id="92" name="Table 91"/>
          <p:cNvGraphicFramePr>
            <a:graphicFrameLocks noGrp="1"/>
          </p:cNvGraphicFramePr>
          <p:nvPr/>
        </p:nvGraphicFramePr>
        <p:xfrm>
          <a:off x="274320" y="914400"/>
          <a:ext cx="8595360" cy="4389120"/>
        </p:xfrm>
        <a:graphic>
          <a:graphicData uri="http://schemas.openxmlformats.org/drawingml/2006/table">
            <a:tbl>
              <a:tblPr firstRow="1" bandRow="1">
                <a:tableStyleId>{5C22544A-7EE6-4342-B048-85BDC9FD1C3A}</a:tableStyleId>
              </a:tblPr>
              <a:tblGrid>
                <a:gridCol w="685800"/>
                <a:gridCol w="3429000"/>
                <a:gridCol w="4480560"/>
              </a:tblGrid>
              <a:tr h="365760">
                <a:tc>
                  <a:txBody>
                    <a:bodyPr wrap="square"/>
                    <a:lstStyle/>
                    <a:p>
                      <a:r>
                        <a:rPr sz="1350" b="1" i="0">
                          <a:solidFill>
                            <a:srgbClr val="FFFFFF"/>
                          </a:solidFill>
                          <a:latin typeface="Quattrocento Sans"/>
                        </a:rPr>
                        <a:t>Date</a:t>
                      </a:r>
                    </a:p>
                  </a:txBody>
                  <a:tcPr marL="64008" marR="64008" marT="27432" marB="27432" anchor="ctr">
                    <a:solidFill>
                      <a:srgbClr val="404040"/>
                    </a:solidFill>
                  </a:tcPr>
                </a:tc>
                <a:tc>
                  <a:txBody>
                    <a:bodyPr wrap="square"/>
                    <a:lstStyle/>
                    <a:p>
                      <a:r>
                        <a:rPr sz="1350" b="1" i="0">
                          <a:solidFill>
                            <a:srgbClr val="FFFFFF"/>
                          </a:solidFill>
                          <a:latin typeface="Quattrocento Sans"/>
                        </a:rPr>
                        <a:t>Test</a:t>
                      </a:r>
                    </a:p>
                  </a:txBody>
                  <a:tcPr marL="64008" marR="64008" marT="27432" marB="27432" anchor="ctr">
                    <a:solidFill>
                      <a:srgbClr val="404040"/>
                    </a:solidFill>
                  </a:tcPr>
                </a:tc>
                <a:tc>
                  <a:txBody>
                    <a:bodyPr wrap="square"/>
                    <a:lstStyle/>
                    <a:p>
                      <a:r>
                        <a:rPr sz="1350" b="1" i="0">
                          <a:solidFill>
                            <a:srgbClr val="FFFFFF"/>
                          </a:solidFill>
                          <a:latin typeface="Quattrocento Sans"/>
                        </a:rPr>
                        <a:t>Key result</a:t>
                      </a:r>
                    </a:p>
                  </a:txBody>
                  <a:tcPr marL="64008" marR="64008" marT="27432" marB="27432" anchor="ctr">
                    <a:solidFill>
                      <a:srgbClr val="404040"/>
                    </a:solidFill>
                  </a:tcPr>
                </a:tc>
              </a:tr>
              <a:tr h="365760">
                <a:tc>
                  <a:txBody>
                    <a:bodyPr wrap="square"/>
                    <a:lstStyle/>
                    <a:p>
                      <a:r>
                        <a:rPr sz="1250" b="0" i="0">
                          <a:solidFill>
                            <a:srgbClr val="1F2933"/>
                          </a:solidFill>
                          <a:latin typeface="Quattrocento Sans"/>
                        </a:rPr>
                        <a:t>10-08</a:t>
                      </a:r>
                    </a:p>
                  </a:txBody>
                  <a:tcPr marL="64008" marR="64008" marT="27432" marB="27432" anchor="ctr">
                    <a:solidFill>
                      <a:srgbClr val="FFFFFF"/>
                    </a:solidFill>
                  </a:tcPr>
                </a:tc>
                <a:tc>
                  <a:txBody>
                    <a:bodyPr wrap="square"/>
                    <a:lstStyle/>
                    <a:p>
                      <a:r>
                        <a:rPr sz="1250" b="0" i="0">
                          <a:solidFill>
                            <a:srgbClr val="1F2933"/>
                          </a:solidFill>
                          <a:latin typeface="Quattrocento Sans"/>
                        </a:rPr>
                        <a:t>Wheel spin direction</a:t>
                      </a:r>
                    </a:p>
                  </a:txBody>
                  <a:tcPr marL="64008" marR="64008" marT="27432" marB="27432" anchor="ctr">
                    <a:solidFill>
                      <a:srgbClr val="FFFFFF"/>
                    </a:solidFill>
                  </a:tcPr>
                </a:tc>
                <a:tc>
                  <a:txBody>
                    <a:bodyPr wrap="square"/>
                    <a:lstStyle/>
                    <a:p>
                      <a:r>
                        <a:rPr sz="1250" b="0" i="0">
                          <a:solidFill>
                            <a:srgbClr val="1F2933"/>
                          </a:solidFill>
                          <a:latin typeface="Quattrocento Sans"/>
                        </a:rPr>
                        <a:t>Wiring corrected, signs set</a:t>
                      </a:r>
                    </a:p>
                  </a:txBody>
                  <a:tcPr marL="64008" marR="64008" marT="27432" marB="27432" anchor="ctr">
                    <a:solidFill>
                      <a:srgbClr val="FFFFFF"/>
                    </a:solidFill>
                  </a:tcPr>
                </a:tc>
              </a:tr>
              <a:tr h="365760">
                <a:tc>
                  <a:txBody>
                    <a:bodyPr wrap="square"/>
                    <a:lstStyle/>
                    <a:p>
                      <a:r>
                        <a:rPr sz="1250" b="0" i="0">
                          <a:solidFill>
                            <a:srgbClr val="1F2933"/>
                          </a:solidFill>
                          <a:latin typeface="Quattrocento Sans"/>
                        </a:rPr>
                        <a:t>10-15</a:t>
                      </a:r>
                    </a:p>
                  </a:txBody>
                  <a:tcPr marL="64008" marR="64008" marT="27432" marB="27432" anchor="ctr">
                    <a:solidFill>
                      <a:srgbClr val="F4F5F7"/>
                    </a:solidFill>
                  </a:tcPr>
                </a:tc>
                <a:tc>
                  <a:txBody>
                    <a:bodyPr wrap="square"/>
                    <a:lstStyle/>
                    <a:p>
                      <a:r>
                        <a:rPr sz="1250" b="0" i="0">
                          <a:solidFill>
                            <a:srgbClr val="1F2933"/>
                          </a:solidFill>
                          <a:latin typeface="Quattrocento Sans"/>
                        </a:rPr>
                        <a:t>Bench speed sweeps, hand-turn counts</a:t>
                      </a:r>
                    </a:p>
                  </a:txBody>
                  <a:tcPr marL="64008" marR="64008" marT="27432" marB="27432" anchor="ctr">
                    <a:solidFill>
                      <a:srgbClr val="F4F5F7"/>
                    </a:solidFill>
                  </a:tcPr>
                </a:tc>
                <a:tc>
                  <a:txBody>
                    <a:bodyPr wrap="square"/>
                    <a:lstStyle/>
                    <a:p>
                      <a:r>
                        <a:rPr sz="1250" b="0" i="0">
                          <a:solidFill>
                            <a:srgbClr val="1F2933"/>
                          </a:solidFill>
                          <a:latin typeface="Quattrocento Sans"/>
                        </a:rPr>
                        <a:t>6.3:1 gearing; wheel A rubs</a:t>
                      </a:r>
                    </a:p>
                  </a:txBody>
                  <a:tcPr marL="64008" marR="64008" marT="27432" marB="27432" anchor="ctr">
                    <a:solidFill>
                      <a:srgbClr val="F4F5F7"/>
                    </a:solidFill>
                  </a:tcPr>
                </a:tc>
              </a:tr>
              <a:tr h="365760">
                <a:tc>
                  <a:txBody>
                    <a:bodyPr wrap="square"/>
                    <a:lstStyle/>
                    <a:p>
                      <a:r>
                        <a:rPr sz="1250" b="0" i="0">
                          <a:solidFill>
                            <a:srgbClr val="1F2933"/>
                          </a:solidFill>
                          <a:latin typeface="Quattrocento Sans"/>
                        </a:rPr>
                        <a:t>10-15</a:t>
                      </a:r>
                    </a:p>
                  </a:txBody>
                  <a:tcPr marL="64008" marR="64008" marT="27432" marB="27432" anchor="ctr">
                    <a:solidFill>
                      <a:srgbClr val="FFFFFF"/>
                    </a:solidFill>
                  </a:tcPr>
                </a:tc>
                <a:tc>
                  <a:txBody>
                    <a:bodyPr wrap="square"/>
                    <a:lstStyle/>
                    <a:p>
                      <a:r>
                        <a:rPr sz="1250" b="0" i="0">
                          <a:solidFill>
                            <a:srgbClr val="1F2933"/>
                          </a:solidFill>
                          <a:latin typeface="Quattrocento Sans"/>
                        </a:rPr>
                        <a:t>Static IMU test (37 min)</a:t>
                      </a:r>
                    </a:p>
                  </a:txBody>
                  <a:tcPr marL="64008" marR="64008" marT="27432" marB="27432" anchor="ctr">
                    <a:solidFill>
                      <a:srgbClr val="FFFFFF"/>
                    </a:solidFill>
                  </a:tcPr>
                </a:tc>
                <a:tc>
                  <a:txBody>
                    <a:bodyPr wrap="square"/>
                    <a:lstStyle/>
                    <a:p>
                      <a:r>
                        <a:rPr sz="1250" b="0" i="0">
                          <a:solidFill>
                            <a:srgbClr val="1F2933"/>
                          </a:solidFill>
                          <a:latin typeface="Quattrocento Sans"/>
                        </a:rPr>
                        <a:t>Roll/pitch 0.02°; yaw drift 27 °/h</a:t>
                      </a:r>
                    </a:p>
                  </a:txBody>
                  <a:tcPr marL="64008" marR="64008" marT="27432" marB="27432" anchor="ctr">
                    <a:solidFill>
                      <a:srgbClr val="FFFFFF"/>
                    </a:solidFill>
                  </a:tcPr>
                </a:tc>
              </a:tr>
              <a:tr h="365760">
                <a:tc>
                  <a:txBody>
                    <a:bodyPr wrap="square"/>
                    <a:lstStyle/>
                    <a:p>
                      <a:r>
                        <a:rPr sz="1250" b="0" i="0">
                          <a:solidFill>
                            <a:srgbClr val="1F2933"/>
                          </a:solidFill>
                          <a:latin typeface="Quattrocento Sans"/>
                        </a:rPr>
                        <a:t>10-16</a:t>
                      </a:r>
                    </a:p>
                  </a:txBody>
                  <a:tcPr marL="64008" marR="64008" marT="27432" marB="27432" anchor="ctr">
                    <a:solidFill>
                      <a:srgbClr val="F4F5F7"/>
                    </a:solidFill>
                  </a:tcPr>
                </a:tc>
                <a:tc>
                  <a:txBody>
                    <a:bodyPr wrap="square"/>
                    <a:lstStyle/>
                    <a:p>
                      <a:r>
                        <a:rPr sz="1250" b="0" i="0">
                          <a:solidFill>
                            <a:srgbClr val="1F2933"/>
                          </a:solidFill>
                          <a:latin typeface="Quattrocento Sans"/>
                        </a:rPr>
                        <a:t>MAG MAP; first DEMO SPIN</a:t>
                      </a:r>
                    </a:p>
                  </a:txBody>
                  <a:tcPr marL="64008" marR="64008" marT="27432" marB="27432" anchor="ctr">
                    <a:solidFill>
                      <a:srgbClr val="F4F5F7"/>
                    </a:solidFill>
                  </a:tcPr>
                </a:tc>
                <a:tc>
                  <a:txBody>
                    <a:bodyPr wrap="square"/>
                    <a:lstStyle/>
                    <a:p>
                      <a:r>
                        <a:rPr sz="1250" b="0" i="0">
                          <a:solidFill>
                            <a:srgbClr val="1F2933"/>
                          </a:solidFill>
                          <a:latin typeface="Quattrocento Sans"/>
                        </a:rPr>
                        <a:t>Wheels disturb the magnetometer; table is a pendulum</a:t>
                      </a:r>
                    </a:p>
                  </a:txBody>
                  <a:tcPr marL="64008" marR="64008" marT="27432" marB="27432" anchor="ctr">
                    <a:solidFill>
                      <a:srgbClr val="F4F5F7"/>
                    </a:solidFill>
                  </a:tcPr>
                </a:tc>
              </a:tr>
              <a:tr h="365760">
                <a:tc>
                  <a:txBody>
                    <a:bodyPr wrap="square"/>
                    <a:lstStyle/>
                    <a:p>
                      <a:r>
                        <a:rPr sz="1250" b="0" i="0">
                          <a:solidFill>
                            <a:srgbClr val="1F2933"/>
                          </a:solidFill>
                          <a:latin typeface="Quattrocento Sans"/>
                        </a:rPr>
                        <a:t>10-20</a:t>
                      </a:r>
                    </a:p>
                  </a:txBody>
                  <a:tcPr marL="64008" marR="64008" marT="27432" marB="27432" anchor="ctr">
                    <a:solidFill>
                      <a:srgbClr val="FFFFFF"/>
                    </a:solidFill>
                  </a:tcPr>
                </a:tc>
                <a:tc>
                  <a:txBody>
                    <a:bodyPr wrap="square"/>
                    <a:lstStyle/>
                    <a:p>
                      <a:r>
                        <a:rPr sz="1250" b="0" i="0">
                          <a:solidFill>
                            <a:srgbClr val="1F2933"/>
                          </a:solidFill>
                          <a:latin typeface="Quattrocento Sans"/>
                        </a:rPr>
                        <a:t>IMU INT/RST + SD fixes</a:t>
                      </a:r>
                    </a:p>
                  </a:txBody>
                  <a:tcPr marL="64008" marR="64008" marT="27432" marB="27432" anchor="ctr">
                    <a:solidFill>
                      <a:srgbClr val="FFFFFF"/>
                    </a:solidFill>
                  </a:tcPr>
                </a:tc>
                <a:tc>
                  <a:txBody>
                    <a:bodyPr wrap="square"/>
                    <a:lstStyle/>
                    <a:p>
                      <a:r>
                        <a:rPr sz="1250" b="0" i="0">
                          <a:solidFill>
                            <a:srgbClr val="1F2933"/>
                          </a:solidFill>
                          <a:latin typeface="Quattrocento Sans"/>
                        </a:rPr>
                        <a:t>Sample loss 25% → 0.085%</a:t>
                      </a:r>
                    </a:p>
                  </a:txBody>
                  <a:tcPr marL="64008" marR="64008" marT="27432" marB="27432" anchor="ctr">
                    <a:solidFill>
                      <a:srgbClr val="FFFFFF"/>
                    </a:solidFill>
                  </a:tcPr>
                </a:tc>
              </a:tr>
              <a:tr h="365760">
                <a:tc>
                  <a:txBody>
                    <a:bodyPr wrap="square"/>
                    <a:lstStyle/>
                    <a:p>
                      <a:r>
                        <a:rPr sz="1250" b="0" i="0">
                          <a:solidFill>
                            <a:srgbClr val="1F2933"/>
                          </a:solidFill>
                          <a:latin typeface="Quattrocento Sans"/>
                        </a:rPr>
                        <a:t>10-21</a:t>
                      </a:r>
                    </a:p>
                  </a:txBody>
                  <a:tcPr marL="64008" marR="64008" marT="27432" marB="27432" anchor="ctr">
                    <a:solidFill>
                      <a:srgbClr val="F4F5F7"/>
                    </a:solidFill>
                  </a:tcPr>
                </a:tc>
                <a:tc>
                  <a:txBody>
                    <a:bodyPr wrap="square"/>
                    <a:lstStyle/>
                    <a:p>
                      <a:r>
                        <a:rPr sz="1250" b="0" i="0">
                          <a:solidFill>
                            <a:srgbClr val="1F2933"/>
                          </a:solidFill>
                          <a:latin typeface="Quattrocento Sans"/>
                        </a:rPr>
                        <a:t>Balance weights; DEMO LEVEL</a:t>
                      </a:r>
                    </a:p>
                  </a:txBody>
                  <a:tcPr marL="64008" marR="64008" marT="27432" marB="27432" anchor="ctr">
                    <a:solidFill>
                      <a:srgbClr val="F4F5F7"/>
                    </a:solidFill>
                  </a:tcPr>
                </a:tc>
                <a:tc>
                  <a:txBody>
                    <a:bodyPr wrap="square"/>
                    <a:lstStyle/>
                    <a:p>
                      <a:r>
                        <a:rPr sz="1250" b="0" i="0">
                          <a:solidFill>
                            <a:srgbClr val="1F2933"/>
                          </a:solidFill>
                          <a:latin typeface="Quattrocento Sans"/>
                        </a:rPr>
                        <a:t>Swing 1.8 → 3.3 s; level held up to 15.8 s</a:t>
                      </a:r>
                    </a:p>
                  </a:txBody>
                  <a:tcPr marL="64008" marR="64008" marT="27432" marB="27432" anchor="ctr">
                    <a:solidFill>
                      <a:srgbClr val="F4F5F7"/>
                    </a:solidFill>
                  </a:tcPr>
                </a:tc>
              </a:tr>
              <a:tr h="365760">
                <a:tc>
                  <a:txBody>
                    <a:bodyPr wrap="square"/>
                    <a:lstStyle/>
                    <a:p>
                      <a:r>
                        <a:rPr sz="1250" b="0" i="0">
                          <a:solidFill>
                            <a:srgbClr val="1F2933"/>
                          </a:solidFill>
                          <a:latin typeface="Quattrocento Sans"/>
                        </a:rPr>
                        <a:t>10-27</a:t>
                      </a:r>
                    </a:p>
                  </a:txBody>
                  <a:tcPr marL="64008" marR="64008" marT="27432" marB="27432" anchor="ctr">
                    <a:solidFill>
                      <a:srgbClr val="FFFFFF"/>
                    </a:solidFill>
                  </a:tcPr>
                </a:tc>
                <a:tc>
                  <a:txBody>
                    <a:bodyPr wrap="square"/>
                    <a:lstStyle/>
                    <a:p>
                      <a:r>
                        <a:rPr sz="1250" b="0" i="0">
                          <a:solidFill>
                            <a:srgbClr val="1F2933"/>
                          </a:solidFill>
                          <a:latin typeface="Quattrocento Sans"/>
                        </a:rPr>
                        <a:t>Magnetometer calibration + aid</a:t>
                      </a:r>
                    </a:p>
                  </a:txBody>
                  <a:tcPr marL="64008" marR="64008" marT="27432" marB="27432" anchor="ctr">
                    <a:solidFill>
                      <a:srgbClr val="FFFFFF"/>
                    </a:solidFill>
                  </a:tcPr>
                </a:tc>
                <a:tc>
                  <a:txBody>
                    <a:bodyPr wrap="square"/>
                    <a:lstStyle/>
                    <a:p>
                      <a:r>
                        <a:rPr sz="1250" b="0" i="0">
                          <a:solidFill>
                            <a:srgbClr val="1F2933"/>
                          </a:solidFill>
                          <a:latin typeface="Quattrocento Sans"/>
                        </a:rPr>
                        <a:t>Wheel field model; aid works with wheels stopped</a:t>
                      </a:r>
                    </a:p>
                  </a:txBody>
                  <a:tcPr marL="64008" marR="64008" marT="27432" marB="27432" anchor="ctr">
                    <a:solidFill>
                      <a:srgbClr val="FFFFFF"/>
                    </a:solidFill>
                  </a:tcPr>
                </a:tc>
              </a:tr>
              <a:tr h="365760">
                <a:tc>
                  <a:txBody>
                    <a:bodyPr wrap="square"/>
                    <a:lstStyle/>
                    <a:p>
                      <a:r>
                        <a:rPr sz="1250" b="0" i="0">
                          <a:solidFill>
                            <a:srgbClr val="1F2933"/>
                          </a:solidFill>
                          <a:latin typeface="Quattrocento Sans"/>
                        </a:rPr>
                        <a:t>10-29</a:t>
                      </a:r>
                    </a:p>
                  </a:txBody>
                  <a:tcPr marL="64008" marR="64008" marT="27432" marB="27432" anchor="ctr">
                    <a:solidFill>
                      <a:srgbClr val="F4F5F7"/>
                    </a:solidFill>
                  </a:tcPr>
                </a:tc>
                <a:tc>
                  <a:txBody>
                    <a:bodyPr wrap="square"/>
                    <a:lstStyle/>
                    <a:p>
                      <a:r>
                        <a:rPr sz="1250" b="0" i="0">
                          <a:solidFill>
                            <a:srgbClr val="1F2933"/>
                          </a:solidFill>
                          <a:latin typeface="Quattrocento Sans"/>
                        </a:rPr>
                        <a:t>Aid spinning test; SLEW / FAULT sims</a:t>
                      </a:r>
                    </a:p>
                  </a:txBody>
                  <a:tcPr marL="64008" marR="64008" marT="27432" marB="27432" anchor="ctr">
                    <a:solidFill>
                      <a:srgbClr val="F4F5F7"/>
                    </a:solidFill>
                  </a:tcPr>
                </a:tc>
                <a:tc>
                  <a:txBody>
                    <a:bodyPr wrap="square"/>
                    <a:lstStyle/>
                    <a:p>
                      <a:r>
                        <a:rPr sz="1250" b="0" i="0">
                          <a:solidFill>
                            <a:srgbClr val="1F2933"/>
                          </a:solidFill>
                          <a:latin typeface="Quattrocento Sans"/>
                        </a:rPr>
                        <a:t>±0.94° spinning (2 wheels); sims 4/4 and 9/9 PASS</a:t>
                      </a:r>
                    </a:p>
                  </a:txBody>
                  <a:tcPr marL="64008" marR="64008" marT="27432" marB="27432" anchor="ctr">
                    <a:solidFill>
                      <a:srgbClr val="F4F5F7"/>
                    </a:solidFill>
                  </a:tcPr>
                </a:tc>
              </a:tr>
              <a:tr h="365760">
                <a:tc>
                  <a:txBody>
                    <a:bodyPr wrap="square"/>
                    <a:lstStyle/>
                    <a:p>
                      <a:r>
                        <a:rPr sz="1250" b="0" i="0">
                          <a:solidFill>
                            <a:srgbClr val="1F2933"/>
                          </a:solidFill>
                          <a:latin typeface="Quattrocento Sans"/>
                        </a:rPr>
                        <a:t>10-29</a:t>
                      </a:r>
                    </a:p>
                  </a:txBody>
                  <a:tcPr marL="64008" marR="64008" marT="27432" marB="27432" anchor="ctr">
                    <a:solidFill>
                      <a:srgbClr val="FFFFFF"/>
                    </a:solidFill>
                  </a:tcPr>
                </a:tc>
                <a:tc>
                  <a:txBody>
                    <a:bodyPr wrap="square"/>
                    <a:lstStyle/>
                    <a:p>
                      <a:r>
                        <a:rPr sz="1250" b="0" i="0">
                          <a:solidFill>
                            <a:srgbClr val="1F2933"/>
                          </a:solidFill>
                          <a:latin typeface="Quattrocento Sans"/>
                        </a:rPr>
                        <a:t>Flight computer failure</a:t>
                      </a:r>
                    </a:p>
                  </a:txBody>
                  <a:tcPr marL="64008" marR="64008" marT="27432" marB="27432" anchor="ctr">
                    <a:solidFill>
                      <a:srgbClr val="FFFFFF"/>
                    </a:solidFill>
                  </a:tcPr>
                </a:tc>
                <a:tc>
                  <a:txBody>
                    <a:bodyPr wrap="square"/>
                    <a:lstStyle/>
                    <a:p>
                      <a:r>
                        <a:rPr sz="1250" b="0" i="0">
                          <a:solidFill>
                            <a:srgbClr val="1F2933"/>
                          </a:solidFill>
                          <a:latin typeface="Quattrocento Sans"/>
                        </a:rPr>
                        <a:t>3.3 V rail shorted inside the Teensy → spare</a:t>
                      </a:r>
                    </a:p>
                  </a:txBody>
                  <a:tcPr marL="64008" marR="64008" marT="27432" marB="27432" anchor="ctr">
                    <a:solidFill>
                      <a:srgbClr val="FFFFFF"/>
                    </a:solidFill>
                  </a:tcPr>
                </a:tc>
              </a:tr>
              <a:tr h="365760">
                <a:tc>
                  <a:txBody>
                    <a:bodyPr wrap="square"/>
                    <a:lstStyle/>
                    <a:p>
                      <a:r>
                        <a:rPr sz="1250" b="0" i="0">
                          <a:solidFill>
                            <a:srgbClr val="1F2933"/>
                          </a:solidFill>
                          <a:latin typeface="Quattrocento Sans"/>
                        </a:rPr>
                        <a:t>10-30</a:t>
                      </a:r>
                    </a:p>
                  </a:txBody>
                  <a:tcPr marL="64008" marR="64008" marT="27432" marB="27432" anchor="ctr">
                    <a:solidFill>
                      <a:srgbClr val="F4F5F7"/>
                    </a:solidFill>
                  </a:tcPr>
                </a:tc>
                <a:tc>
                  <a:txBody>
                    <a:bodyPr wrap="square"/>
                    <a:lstStyle/>
                    <a:p>
                      <a:r>
                        <a:rPr sz="1250" b="0" i="0">
                          <a:solidFill>
                            <a:srgbClr val="1F2933"/>
                          </a:solidFill>
                          <a:latin typeface="Quattrocento Sans"/>
                        </a:rPr>
                        <a:t>Spare bring-up; wheel re-test</a:t>
                      </a:r>
                    </a:p>
                  </a:txBody>
                  <a:tcPr marL="64008" marR="64008" marT="27432" marB="27432" anchor="ctr">
                    <a:solidFill>
                      <a:srgbClr val="F4F5F7"/>
                    </a:solidFill>
                  </a:tcPr>
                </a:tc>
                <a:tc>
                  <a:txBody>
                    <a:bodyPr wrap="square"/>
                    <a:lstStyle/>
                    <a:p>
                      <a:r>
                        <a:rPr sz="1250" b="0" i="0">
                          <a:solidFill>
                            <a:srgbClr val="1F2933"/>
                          </a:solidFill>
                          <a:latin typeface="Quattrocento Sans"/>
                        </a:rPr>
                        <a:t>All 4 wheels 44–47 rad/s at 0.3 duty</a:t>
                      </a:r>
                    </a:p>
                  </a:txBody>
                  <a:tcPr marL="64008" marR="64008" marT="27432" marB="27432" anchor="ctr">
                    <a:solidFill>
                      <a:srgbClr val="F4F5F7"/>
                    </a:solidFill>
                  </a:tcPr>
                </a:tc>
              </a:tr>
              <a:tr h="365760">
                <a:tc>
                  <a:txBody>
                    <a:bodyPr wrap="square"/>
                    <a:lstStyle/>
                    <a:p>
                      <a:r>
                        <a:rPr sz="1250" b="0" i="0">
                          <a:solidFill>
                            <a:srgbClr val="1F2933"/>
                          </a:solidFill>
                          <a:latin typeface="Quattrocento Sans"/>
                        </a:rPr>
                        <a:t>10-30</a:t>
                      </a:r>
                    </a:p>
                  </a:txBody>
                  <a:tcPr marL="64008" marR="64008" marT="27432" marB="27432" anchor="ctr">
                    <a:solidFill>
                      <a:srgbClr val="FFFFFF"/>
                    </a:solidFill>
                  </a:tcPr>
                </a:tc>
                <a:tc>
                  <a:txBody>
                    <a:bodyPr wrap="square"/>
                    <a:lstStyle/>
                    <a:p>
                      <a:r>
                        <a:rPr sz="1250" b="0" i="0">
                          <a:solidFill>
                            <a:srgbClr val="1F2933"/>
                          </a:solidFill>
                          <a:latin typeface="Quattrocento Sans"/>
                        </a:rPr>
                        <a:t>MAG MAP (4 wheels); MAG TEST</a:t>
                      </a:r>
                    </a:p>
                  </a:txBody>
                  <a:tcPr marL="64008" marR="64008" marT="27432" marB="27432" anchor="ctr">
                    <a:solidFill>
                      <a:srgbClr val="FFFFFF"/>
                    </a:solidFill>
                  </a:tcPr>
                </a:tc>
                <a:tc>
                  <a:txBody>
                    <a:bodyPr wrap="square"/>
                    <a:lstStyle/>
                    <a:p>
                      <a:r>
                        <a:rPr sz="1250" b="0" i="0">
                          <a:solidFill>
                            <a:srgbClr val="1F2933"/>
                          </a:solidFill>
                          <a:latin typeface="Quattrocento Sans"/>
                        </a:rPr>
                        <a:t>New wheel model; yaw within ±1° on 36/37 steps (worst 1.02°)</a:t>
                      </a:r>
                    </a:p>
                  </a:txBody>
                  <a:tcPr marL="64008" marR="64008" marT="27432" marB="27432" anchor="ctr">
                    <a:solidFill>
                      <a:srgbClr val="FFFFFF"/>
                    </a:solidFill>
                  </a:tcPr>
                </a:tc>
              </a:tr>
            </a:tbl>
          </a:graphicData>
        </a:graphic>
      </p:graphicFrame>
      <p:sp>
        <p:nvSpPr>
          <p:cNvPr id="93" name="TextBox 92"/>
          <p:cNvSpPr txBox="1"/>
          <p:nvPr/>
        </p:nvSpPr>
        <p:spPr>
          <a:xfrm>
            <a:off x="274320" y="5394960"/>
            <a:ext cx="8595360" cy="868680"/>
          </a:xfrm>
          <a:prstGeom prst="rect">
            <a:avLst/>
          </a:prstGeom>
          <a:solidFill>
            <a:srgbClr val="F3F4F6"/>
          </a:solidFill>
        </p:spPr>
        <p:txBody>
          <a:bodyPr wrap="square" anchor="t" tIns="91440" bIns="91440">
            <a:spAutoFit/>
          </a:bodyPr>
          <a:lstStyle/>
          <a:p>
            <a:pPr marL="0" indent="0">
              <a:lnSpc>
                <a:spcPct val="95000"/>
              </a:lnSpc>
              <a:spcBef>
                <a:spcPts val="400"/>
              </a:spcBef>
              <a:buNone/>
            </a:pPr>
            <a:r>
              <a:rPr sz="1350" b="1" i="0">
                <a:solidFill>
                  <a:srgbClr val="1F2933"/>
                </a:solidFill>
                <a:latin typeface="Quattrocento Sans"/>
              </a:rPr>
              <a:t>Teensy software (C++, PlatformIO): </a:t>
            </a:r>
            <a:r>
              <a:rPr sz="1350" b="0" i="0">
                <a:solidFill>
                  <a:srgbClr val="1F2933"/>
                </a:solidFill>
                <a:latin typeface="Quattrocento Sans"/>
              </a:rPr>
              <a:t>MEKF + magnetometer aid, attitude controller, allocation, wheel loops, fault detector, safety supervisor, 100 Hz SD log + XBee link, scripted tests run and graded on board (DEMO LEVEL, MAG TEST, STEP / SLEW / FAULT TEST), live tuning (SET / GET).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h1e1805356538ab88_0_12"/>
          <p:cNvSpPr txBox="1">
            <a:spLocks noGrp="1"/>
          </p:cNvSpPr>
          <p:nvPr>
            <p:ph type="title"/>
          </p:nvPr>
        </p:nvSpPr>
        <p:spPr>
          <a:xfrm>
            <a:off x="866966" y="133186"/>
            <a:ext cx="7886700" cy="652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Quattrocento Sans"/>
              <a:buNone/>
            </a:pPr>
            <a:r>
              <a:rPr lang="en-US"/>
              <a:t>Data: Wheel Speed Control</a:t>
            </a:r>
            <a:endParaRPr/>
          </a:p>
        </p:txBody>
      </p:sp>
      <p:sp>
        <p:nvSpPr>
          <p:cNvPr id="121" name="Google Shape;121;h1e1805356538ab88_0_12"/>
          <p:cNvSpPr txBox="1">
            <a:spLocks noGrp="1"/>
          </p:cNvSpPr>
          <p:nvPr>
            <p:ph type="sldNum" idx="12"/>
          </p:nvPr>
        </p:nvSpPr>
        <p:spPr>
          <a:xfrm>
            <a:off x="7040236" y="6465106"/>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pic>
        <p:nvPicPr>
          <p:cNvPr id="122" name="Picture 121" descr="fig1_wheel_speed_sweep.png"/>
          <p:cNvPicPr>
            <a:picLocks noChangeAspect="1"/>
          </p:cNvPicPr>
          <p:nvPr/>
        </p:nvPicPr>
        <p:blipFill>
          <a:blip r:embed="rId3"/>
          <a:stretch>
            <a:fillRect/>
          </a:stretch>
        </p:blipFill>
        <p:spPr>
          <a:xfrm>
            <a:off x="410590" y="1417320"/>
            <a:ext cx="8322818" cy="3108960"/>
          </a:xfrm>
          <a:prstGeom prst="rect">
            <a:avLst/>
          </a:prstGeom>
        </p:spPr>
      </p:pic>
      <p:sp>
        <p:nvSpPr>
          <p:cNvPr id="123" name="Takeaway"/>
          <p:cNvSpPr txBox="1"/>
          <p:nvPr/>
        </p:nvSpPr>
        <p:spPr>
          <a:xfrm>
            <a:off x="274320" y="914400"/>
            <a:ext cx="8595360" cy="402336"/>
          </a:xfrm>
          <a:prstGeom prst="rect">
            <a:avLst/>
          </a:prstGeom>
          <a:solidFill>
            <a:srgbClr val="E8F3EC"/>
          </a:solidFill>
        </p:spPr>
        <p:txBody>
          <a:bodyPr wrap="square" anchor="ctr" tIns="91440" bIns="91440">
            <a:spAutoFit/>
          </a:bodyPr>
          <a:lstStyle/>
          <a:p>
            <a:pPr marL="0" indent="0">
              <a:lnSpc>
                <a:spcPct val="95000"/>
              </a:lnSpc>
              <a:spcBef>
                <a:spcPts val="400"/>
              </a:spcBef>
              <a:buNone/>
            </a:pPr>
            <a:r>
              <a:rPr sz="1500" b="1" i="0">
                <a:solidFill>
                  <a:srgbClr val="2E7D4F"/>
                </a:solidFill>
                <a:latin typeface="Quattrocento Sans"/>
              </a:rPr>
              <a:t>Takeaway: </a:t>
            </a:r>
            <a:r>
              <a:rPr sz="1500" b="1" i="0">
                <a:solidFill>
                  <a:srgbClr val="1F2933"/>
                </a:solidFill>
                <a:latin typeface="Quattrocento Sans"/>
              </a:rPr>
              <a:t>B and D track within ±1 rpm; A and C errors come from hardware, not the control loop</a:t>
            </a:r>
          </a:p>
        </p:txBody>
      </p:sp>
      <p:sp>
        <p:nvSpPr>
          <p:cNvPr id="124" name="MCEN"/>
          <p:cNvSpPr txBox="1"/>
          <p:nvPr/>
        </p:nvSpPr>
        <p:spPr>
          <a:xfrm>
            <a:off x="274320" y="4599432"/>
            <a:ext cx="8595360" cy="1755648"/>
          </a:xfrm>
          <a:prstGeom prst="rect">
            <a:avLst/>
          </a:prstGeom>
          <a:noFill/>
        </p:spPr>
        <p:txBody>
          <a:bodyPr wrap="square" anchor="t" lIns="73152" rIns="73152" tIns="73152" bIns="73152">
            <a:spAutoFit/>
          </a:bodyPr>
          <a:lstStyle/>
          <a:p>
            <a:pPr marL="0" indent="0">
              <a:lnSpc>
                <a:spcPct val="95000"/>
              </a:lnSpc>
              <a:spcBef>
                <a:spcPts val="400"/>
              </a:spcBef>
              <a:buNone/>
            </a:pPr>
            <a:r>
              <a:rPr sz="1400" b="1" i="0">
                <a:solidFill>
                  <a:srgbClr val="1F2933"/>
                </a:solidFill>
                <a:latin typeface="Quattrocento Sans"/>
              </a:rPr>
              <a:t>MEASURE: </a:t>
            </a:r>
            <a:r>
              <a:rPr sz="1400" b="0" i="0">
                <a:solidFill>
                  <a:srgbClr val="1F2933"/>
                </a:solidFill>
                <a:latin typeface="Quattrocento Sans"/>
              </a:rPr>
              <a:t>Commanded vs measured speed, all 4 wheels, 0 → 480 → 0 rpm (12 V packs).</a:t>
            </a:r>
          </a:p>
          <a:p>
            <a:pPr marL="0" indent="0">
              <a:lnSpc>
                <a:spcPct val="95000"/>
              </a:lnSpc>
              <a:spcBef>
                <a:spcPts val="400"/>
              </a:spcBef>
              <a:buNone/>
            </a:pPr>
            <a:r>
              <a:rPr sz="1400" b="1" i="0">
                <a:solidFill>
                  <a:srgbClr val="1F2933"/>
                </a:solidFill>
                <a:latin typeface="Quattrocento Sans"/>
              </a:rPr>
              <a:t>COMPARE: </a:t>
            </a:r>
            <a:r>
              <a:rPr sz="1400" b="0" i="0">
                <a:solidFill>
                  <a:srgbClr val="1F2933"/>
                </a:solidFill>
                <a:latin typeface="Quattrocento Sans"/>
              </a:rPr>
              <a:t>Tight tracking expected from the 100 Hz PI + feed-forward; same gains on every wheel.</a:t>
            </a:r>
          </a:p>
          <a:p>
            <a:pPr marL="0" indent="0">
              <a:lnSpc>
                <a:spcPct val="95000"/>
              </a:lnSpc>
              <a:spcBef>
                <a:spcPts val="400"/>
              </a:spcBef>
              <a:buNone/>
            </a:pPr>
            <a:r>
              <a:rPr sz="1400" b="1" i="0">
                <a:solidFill>
                  <a:srgbClr val="1F2933"/>
                </a:solidFill>
                <a:latin typeface="Quattrocento Sans"/>
              </a:rPr>
              <a:t>EXPLAIN: </a:t>
            </a:r>
            <a:r>
              <a:rPr sz="1400" b="0" i="0">
                <a:solidFill>
                  <a:srgbClr val="1F2933"/>
                </a:solidFill>
                <a:latin typeface="Quattrocento Sans"/>
              </a:rPr>
              <a:t>A rubs and C oscillates (±10–16 rpm); nothing turns below ≈ 46 rpm (static friction).</a:t>
            </a:r>
          </a:p>
          <a:p>
            <a:pPr marL="0" indent="0">
              <a:lnSpc>
                <a:spcPct val="95000"/>
              </a:lnSpc>
              <a:spcBef>
                <a:spcPts val="400"/>
              </a:spcBef>
              <a:buNone/>
            </a:pPr>
            <a:r>
              <a:rPr sz="1400" b="1" i="0">
                <a:solidFill>
                  <a:srgbClr val="1F2933"/>
                </a:solidFill>
                <a:latin typeface="Quattrocento Sans"/>
              </a:rPr>
              <a:t>NEXT: </a:t>
            </a:r>
            <a:r>
              <a:rPr sz="1400" b="0" i="0">
                <a:solidFill>
                  <a:srgbClr val="1F2933"/>
                </a:solidFill>
                <a:latin typeface="Quattrocento Sans"/>
              </a:rPr>
              <a:t>Fix A’s rub; add static-friction compensation; repeat.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 Attitude Determination at Rest</a:t>
            </a:r>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pic>
        <p:nvPicPr>
          <p:cNvPr id="92" name="Picture 91" descr="fig2_static_attitude.png"/>
          <p:cNvPicPr>
            <a:picLocks noChangeAspect="1"/>
          </p:cNvPicPr>
          <p:nvPr/>
        </p:nvPicPr>
        <p:blipFill>
          <a:blip r:embed="rId2"/>
          <a:stretch>
            <a:fillRect/>
          </a:stretch>
        </p:blipFill>
        <p:spPr>
          <a:xfrm>
            <a:off x="438817" y="1417320"/>
            <a:ext cx="8266365" cy="3108960"/>
          </a:xfrm>
          <a:prstGeom prst="rect">
            <a:avLst/>
          </a:prstGeom>
        </p:spPr>
      </p:pic>
      <p:sp>
        <p:nvSpPr>
          <p:cNvPr id="93" name="Takeaway"/>
          <p:cNvSpPr txBox="1"/>
          <p:nvPr/>
        </p:nvSpPr>
        <p:spPr>
          <a:xfrm>
            <a:off x="274320" y="914400"/>
            <a:ext cx="8595360" cy="402336"/>
          </a:xfrm>
          <a:prstGeom prst="rect">
            <a:avLst/>
          </a:prstGeom>
          <a:solidFill>
            <a:srgbClr val="E8F3EC"/>
          </a:solidFill>
        </p:spPr>
        <p:txBody>
          <a:bodyPr wrap="square" anchor="ctr" tIns="91440" bIns="91440">
            <a:spAutoFit/>
          </a:bodyPr>
          <a:lstStyle/>
          <a:p>
            <a:pPr marL="0" indent="0">
              <a:lnSpc>
                <a:spcPct val="95000"/>
              </a:lnSpc>
              <a:spcBef>
                <a:spcPts val="400"/>
              </a:spcBef>
              <a:buNone/>
            </a:pPr>
            <a:r>
              <a:rPr sz="1500" b="1" i="0">
                <a:solidFill>
                  <a:srgbClr val="2E7D4F"/>
                </a:solidFill>
                <a:latin typeface="Quattrocento Sans"/>
              </a:rPr>
              <a:t>Takeaway: </a:t>
            </a:r>
            <a:r>
              <a:rPr sz="1500" b="1" i="0">
                <a:solidFill>
                  <a:srgbClr val="1F2933"/>
                </a:solidFill>
                <a:latin typeface="Quattrocento Sans"/>
              </a:rPr>
              <a:t>Roll/pitch are 50× inside ±1°; the yaw drift was a calibration error, now fixed</a:t>
            </a:r>
          </a:p>
        </p:txBody>
      </p:sp>
      <p:sp>
        <p:nvSpPr>
          <p:cNvPr id="94" name="MCEN"/>
          <p:cNvSpPr txBox="1"/>
          <p:nvPr/>
        </p:nvSpPr>
        <p:spPr>
          <a:xfrm>
            <a:off x="274320" y="4599432"/>
            <a:ext cx="8595360" cy="1755648"/>
          </a:xfrm>
          <a:prstGeom prst="rect">
            <a:avLst/>
          </a:prstGeom>
          <a:noFill/>
        </p:spPr>
        <p:txBody>
          <a:bodyPr wrap="square" anchor="t" lIns="73152" rIns="73152" tIns="73152" bIns="73152">
            <a:spAutoFit/>
          </a:bodyPr>
          <a:lstStyle/>
          <a:p>
            <a:pPr marL="0" indent="0">
              <a:lnSpc>
                <a:spcPct val="95000"/>
              </a:lnSpc>
              <a:spcBef>
                <a:spcPts val="400"/>
              </a:spcBef>
              <a:buNone/>
            </a:pPr>
            <a:r>
              <a:rPr sz="1400" b="1" i="0">
                <a:solidFill>
                  <a:srgbClr val="1F2933"/>
                </a:solidFill>
                <a:latin typeface="Quattrocento Sans"/>
              </a:rPr>
              <a:t>MEASURE: </a:t>
            </a:r>
            <a:r>
              <a:rPr sz="1400" b="0" i="0">
                <a:solidFill>
                  <a:srgbClr val="1F2933"/>
                </a:solidFill>
                <a:latin typeface="Quattrocento Sans"/>
              </a:rPr>
              <a:t>37 min, IMU fixed, motors off: EKF roll/pitch/yaw and the magnetometer heading.</a:t>
            </a:r>
          </a:p>
          <a:p>
            <a:pPr marL="0" indent="0">
              <a:lnSpc>
                <a:spcPct val="95000"/>
              </a:lnSpc>
              <a:spcBef>
                <a:spcPts val="400"/>
              </a:spcBef>
              <a:buNone/>
            </a:pPr>
            <a:r>
              <a:rPr sz="1400" b="1" i="0">
                <a:solidFill>
                  <a:srgbClr val="1F2933"/>
                </a:solidFill>
                <a:latin typeface="Quattrocento Sans"/>
              </a:rPr>
              <a:t>COMPARE: </a:t>
            </a:r>
            <a:r>
              <a:rPr sz="1400" b="0" i="0">
                <a:solidFill>
                  <a:srgbClr val="1F2933"/>
                </a:solidFill>
                <a:latin typeface="Quattrocento Sans"/>
              </a:rPr>
              <a:t>Requirement ±1°. A 3 s gyro-bias average predicts ≈ 26 °/h of yaw drift.</a:t>
            </a:r>
          </a:p>
          <a:p>
            <a:pPr marL="0" indent="0">
              <a:lnSpc>
                <a:spcPct val="95000"/>
              </a:lnSpc>
              <a:spcBef>
                <a:spcPts val="400"/>
              </a:spcBef>
              <a:buNone/>
            </a:pPr>
            <a:r>
              <a:rPr sz="1400" b="1" i="0">
                <a:solidFill>
                  <a:srgbClr val="1F2933"/>
                </a:solidFill>
                <a:latin typeface="Quattrocento Sans"/>
              </a:rPr>
              <a:t>EXPLAIN: </a:t>
            </a:r>
            <a:r>
              <a:rPr sz="1400" b="0" i="0">
                <a:solidFill>
                  <a:srgbClr val="1F2933"/>
                </a:solidFill>
                <a:latin typeface="Quattrocento Sans"/>
              </a:rPr>
              <a:t>Roll/pitch σ = 0.02°. Yaw drifted 27 °/h, as predicted. A 180 s calibration after a 10 min warm-up gives ≈ 3 °/h.</a:t>
            </a:r>
          </a:p>
          <a:p>
            <a:pPr marL="0" indent="0">
              <a:lnSpc>
                <a:spcPct val="95000"/>
              </a:lnSpc>
              <a:spcBef>
                <a:spcPts val="400"/>
              </a:spcBef>
              <a:buNone/>
            </a:pPr>
            <a:r>
              <a:rPr sz="1400" b="1" i="0">
                <a:solidFill>
                  <a:srgbClr val="1F2933"/>
                </a:solidFill>
                <a:latin typeface="Quattrocento Sans"/>
              </a:rPr>
              <a:t>NEXT: </a:t>
            </a:r>
            <a:r>
              <a:rPr sz="1400" b="0" i="0">
                <a:solidFill>
                  <a:srgbClr val="1F2933"/>
                </a:solidFill>
                <a:latin typeface="Quattrocento Sans"/>
              </a:rPr>
              <a:t>Done: the magnetometer aid now holds yaw (MAG TEST).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IMU Data Integrity (Unexpected Result)</a:t>
            </a:r>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pic>
        <p:nvPicPr>
          <p:cNvPr id="92" name="Picture 91" descr="fig3_imu_integrity.png"/>
          <p:cNvPicPr>
            <a:picLocks noChangeAspect="1"/>
          </p:cNvPicPr>
          <p:nvPr/>
        </p:nvPicPr>
        <p:blipFill>
          <a:blip r:embed="rId2"/>
          <a:stretch>
            <a:fillRect/>
          </a:stretch>
        </p:blipFill>
        <p:spPr>
          <a:xfrm>
            <a:off x="438817" y="1417320"/>
            <a:ext cx="8266365" cy="3108960"/>
          </a:xfrm>
          <a:prstGeom prst="rect">
            <a:avLst/>
          </a:prstGeom>
        </p:spPr>
      </p:pic>
      <p:sp>
        <p:nvSpPr>
          <p:cNvPr id="93" name="Takeaway"/>
          <p:cNvSpPr txBox="1"/>
          <p:nvPr/>
        </p:nvSpPr>
        <p:spPr>
          <a:xfrm>
            <a:off x="274320" y="914400"/>
            <a:ext cx="8595360" cy="402336"/>
          </a:xfrm>
          <a:prstGeom prst="rect">
            <a:avLst/>
          </a:prstGeom>
          <a:solidFill>
            <a:srgbClr val="E8F3EC"/>
          </a:solidFill>
        </p:spPr>
        <p:txBody>
          <a:bodyPr wrap="square" anchor="ctr" tIns="91440" bIns="91440">
            <a:spAutoFit/>
          </a:bodyPr>
          <a:lstStyle/>
          <a:p>
            <a:pPr marL="0" indent="0">
              <a:lnSpc>
                <a:spcPct val="95000"/>
              </a:lnSpc>
              <a:spcBef>
                <a:spcPts val="400"/>
              </a:spcBef>
              <a:buNone/>
            </a:pPr>
            <a:r>
              <a:rPr sz="1500" b="1" i="0">
                <a:solidFill>
                  <a:srgbClr val="2E7D4F"/>
                </a:solidFill>
                <a:latin typeface="Quattrocento Sans"/>
              </a:rPr>
              <a:t>Takeaway: </a:t>
            </a:r>
            <a:r>
              <a:rPr sz="1500" b="1" i="0">
                <a:solidFill>
                  <a:srgbClr val="1F2933"/>
                </a:solidFill>
                <a:latin typeface="Quattrocento Sans"/>
              </a:rPr>
              <a:t>Lost samples cut from 25% to 0.085%: no more false IMU-timeout shutdowns</a:t>
            </a:r>
          </a:p>
        </p:txBody>
      </p:sp>
      <p:sp>
        <p:nvSpPr>
          <p:cNvPr id="94" name="MCEN"/>
          <p:cNvSpPr txBox="1"/>
          <p:nvPr/>
        </p:nvSpPr>
        <p:spPr>
          <a:xfrm>
            <a:off x="274320" y="4599432"/>
            <a:ext cx="8595360" cy="1755648"/>
          </a:xfrm>
          <a:prstGeom prst="rect">
            <a:avLst/>
          </a:prstGeom>
          <a:noFill/>
        </p:spPr>
        <p:txBody>
          <a:bodyPr wrap="square" anchor="t" lIns="73152" rIns="73152" tIns="73152" bIns="73152">
            <a:spAutoFit/>
          </a:bodyPr>
          <a:lstStyle/>
          <a:p>
            <a:pPr marL="0" indent="0">
              <a:lnSpc>
                <a:spcPct val="95000"/>
              </a:lnSpc>
              <a:spcBef>
                <a:spcPts val="400"/>
              </a:spcBef>
              <a:buNone/>
            </a:pPr>
            <a:r>
              <a:rPr sz="1400" b="1" i="0">
                <a:solidFill>
                  <a:srgbClr val="1F2933"/>
                </a:solidFill>
                <a:latin typeface="Quattrocento Sans"/>
              </a:rPr>
              <a:t>MEASURE: </a:t>
            </a:r>
            <a:r>
              <a:rPr sz="1400" b="0" i="0">
                <a:solidFill>
                  <a:srgbClr val="1F2933"/>
                </a:solidFill>
                <a:latin typeface="Quattrocento Sans"/>
              </a:rPr>
              <a:t>Time between gyro samples logged to SD, IMU at rest, before and after the fixes.</a:t>
            </a:r>
          </a:p>
          <a:p>
            <a:pPr marL="0" indent="0">
              <a:lnSpc>
                <a:spcPct val="95000"/>
              </a:lnSpc>
              <a:spcBef>
                <a:spcPts val="400"/>
              </a:spcBef>
              <a:buNone/>
            </a:pPr>
            <a:r>
              <a:rPr sz="1400" b="1" i="0">
                <a:solidFill>
                  <a:srgbClr val="1F2933"/>
                </a:solidFill>
                <a:latin typeface="Quattrocento Sans"/>
              </a:rPr>
              <a:t>COMPARE: </a:t>
            </a:r>
            <a:r>
              <a:rPr sz="1400" b="0" i="0">
                <a:solidFill>
                  <a:srgbClr val="1F2933"/>
                </a:solidFill>
                <a:latin typeface="Quattrocento Sans"/>
              </a:rPr>
              <a:t>Expected 10 ms. Before: 25% lost, 38 gaps &gt; 100 ms (each would have disarmed the wheels).</a:t>
            </a:r>
          </a:p>
          <a:p>
            <a:pPr marL="0" indent="0">
              <a:lnSpc>
                <a:spcPct val="95000"/>
              </a:lnSpc>
              <a:spcBef>
                <a:spcPts val="400"/>
              </a:spcBef>
              <a:buNone/>
            </a:pPr>
            <a:r>
              <a:rPr sz="1400" b="1" i="0">
                <a:solidFill>
                  <a:srgbClr val="1F2933"/>
                </a:solidFill>
                <a:latin typeface="Quattrocento Sans"/>
              </a:rPr>
              <a:t>EXPLAIN: </a:t>
            </a:r>
            <a:r>
              <a:rPr sz="1400" b="0" i="0">
                <a:solidFill>
                  <a:srgbClr val="1F2933"/>
                </a:solidFill>
                <a:latin typeface="Quattrocento Sans"/>
              </a:rPr>
              <a:t>Library kept only the last report per read; SD writes blocked the loop. Fixed: INT/RST wires, IMU read during SD waits, SD DMA.</a:t>
            </a:r>
          </a:p>
          <a:p>
            <a:pPr marL="0" indent="0">
              <a:lnSpc>
                <a:spcPct val="95000"/>
              </a:lnSpc>
              <a:spcBef>
                <a:spcPts val="400"/>
              </a:spcBef>
              <a:buNone/>
            </a:pPr>
            <a:r>
              <a:rPr sz="1400" b="1" i="0">
                <a:solidFill>
                  <a:srgbClr val="1F2933"/>
                </a:solidFill>
                <a:latin typeface="Quattrocento Sans"/>
              </a:rPr>
              <a:t>NEXT: </a:t>
            </a:r>
            <a:r>
              <a:rPr sz="1400" b="0" i="0">
                <a:solidFill>
                  <a:srgbClr val="1F2933"/>
                </a:solidFill>
                <a:latin typeface="Quattrocento Sans"/>
              </a:rPr>
              <a:t>Remaining 60–90 ms stalls are inside the BNO085, under the 100 ms timeout.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Magnetometer vs. Wheel Motors</a:t>
            </a:r>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pic>
        <p:nvPicPr>
          <p:cNvPr id="92" name="Picture 91" descr="fig4_mag_disturbance.png"/>
          <p:cNvPicPr>
            <a:picLocks noChangeAspect="1"/>
          </p:cNvPicPr>
          <p:nvPr/>
        </p:nvPicPr>
        <p:blipFill>
          <a:blip r:embed="rId2"/>
          <a:stretch>
            <a:fillRect/>
          </a:stretch>
        </p:blipFill>
        <p:spPr>
          <a:xfrm>
            <a:off x="671530" y="1417320"/>
            <a:ext cx="7800938" cy="3108960"/>
          </a:xfrm>
          <a:prstGeom prst="rect">
            <a:avLst/>
          </a:prstGeom>
        </p:spPr>
      </p:pic>
      <p:sp>
        <p:nvSpPr>
          <p:cNvPr id="93" name="Takeaway"/>
          <p:cNvSpPr txBox="1"/>
          <p:nvPr/>
        </p:nvSpPr>
        <p:spPr>
          <a:xfrm>
            <a:off x="274320" y="914400"/>
            <a:ext cx="8595360" cy="402336"/>
          </a:xfrm>
          <a:prstGeom prst="rect">
            <a:avLst/>
          </a:prstGeom>
          <a:solidFill>
            <a:srgbClr val="E8F3EC"/>
          </a:solidFill>
        </p:spPr>
        <p:txBody>
          <a:bodyPr wrap="square" anchor="ctr" tIns="91440" bIns="91440">
            <a:spAutoFit/>
          </a:bodyPr>
          <a:lstStyle/>
          <a:p>
            <a:pPr marL="0" indent="0">
              <a:lnSpc>
                <a:spcPct val="95000"/>
              </a:lnSpc>
              <a:spcBef>
                <a:spcPts val="400"/>
              </a:spcBef>
              <a:buNone/>
            </a:pPr>
            <a:r>
              <a:rPr sz="1500" b="1" i="0">
                <a:solidFill>
                  <a:srgbClr val="2E7D4F"/>
                </a:solidFill>
                <a:latin typeface="Quattrocento Sans"/>
              </a:rPr>
              <a:t>Takeaway: </a:t>
            </a:r>
            <a:r>
              <a:rPr sz="1500" b="1" i="0">
                <a:solidFill>
                  <a:srgbClr val="1F2933"/>
                </a:solidFill>
                <a:latin typeface="Quattrocento Sans"/>
              </a:rPr>
              <a:t>Spinning wheels add fast, filterable noise; stopped wheels leave random offsets</a:t>
            </a:r>
          </a:p>
        </p:txBody>
      </p:sp>
      <p:sp>
        <p:nvSpPr>
          <p:cNvPr id="94" name="MCEN"/>
          <p:cNvSpPr txBox="1"/>
          <p:nvPr/>
        </p:nvSpPr>
        <p:spPr>
          <a:xfrm>
            <a:off x="274320" y="4599432"/>
            <a:ext cx="8595360" cy="1755648"/>
          </a:xfrm>
          <a:prstGeom prst="rect">
            <a:avLst/>
          </a:prstGeom>
          <a:noFill/>
        </p:spPr>
        <p:txBody>
          <a:bodyPr wrap="square" anchor="t" lIns="73152" rIns="73152" tIns="73152" bIns="73152">
            <a:spAutoFit/>
          </a:bodyPr>
          <a:lstStyle/>
          <a:p>
            <a:pPr marL="0" indent="0">
              <a:lnSpc>
                <a:spcPct val="95000"/>
              </a:lnSpc>
              <a:spcBef>
                <a:spcPts val="400"/>
              </a:spcBef>
              <a:buNone/>
            </a:pPr>
            <a:r>
              <a:rPr sz="1400" b="1" i="0">
                <a:solidFill>
                  <a:srgbClr val="1F2933"/>
                </a:solidFill>
                <a:latin typeface="Quattrocento Sans"/>
              </a:rPr>
              <a:t>MEASURE: </a:t>
            </a:r>
            <a:r>
              <a:rPr sz="1400" b="0" i="0">
                <a:solidFill>
                  <a:srgbClr val="1F2933"/>
                </a:solidFill>
                <a:latin typeface="Quattrocento Sans"/>
              </a:rPr>
              <a:t>Raw magnetometer heading, fixed table, wheels stepped through ±50/100/200 rpm (MAG MAP).</a:t>
            </a:r>
          </a:p>
          <a:p>
            <a:pPr marL="0" indent="0">
              <a:lnSpc>
                <a:spcPct val="95000"/>
              </a:lnSpc>
              <a:spcBef>
                <a:spcPts val="400"/>
              </a:spcBef>
              <a:buNone/>
            </a:pPr>
            <a:r>
              <a:rPr sz="1400" b="1" i="0">
                <a:solidFill>
                  <a:srgbClr val="1F2933"/>
                </a:solidFill>
                <a:latin typeface="Quattrocento Sans"/>
              </a:rPr>
              <a:t>COMPARE: </a:t>
            </a:r>
            <a:r>
              <a:rPr sz="1400" b="0" i="0">
                <a:solidFill>
                  <a:srgbClr val="1F2933"/>
                </a:solidFill>
                <a:latin typeface="Quattrocento Sans"/>
              </a:rPr>
              <a:t>A heading aid must be steady to well under 1°; motors off: 0.7° noise, no drift.</a:t>
            </a:r>
          </a:p>
          <a:p>
            <a:pPr marL="0" indent="0">
              <a:lnSpc>
                <a:spcPct val="95000"/>
              </a:lnSpc>
              <a:spcBef>
                <a:spcPts val="400"/>
              </a:spcBef>
              <a:buNone/>
            </a:pPr>
            <a:r>
              <a:rPr sz="1400" b="1" i="0">
                <a:solidFill>
                  <a:srgbClr val="1F2933"/>
                </a:solidFill>
                <a:latin typeface="Quattrocento Sans"/>
              </a:rPr>
              <a:t>EXPLAIN: </a:t>
            </a:r>
            <a:r>
              <a:rPr sz="1400" b="0" i="0">
                <a:solidFill>
                  <a:srgbClr val="1F2933"/>
                </a:solidFill>
                <a:latin typeface="Quattrocento Sans"/>
              </a:rPr>
              <a:t>Spinning: 4.6–7.5° of fast noise (low-passed out). Stopped: offsets up to ±10°, set by where each shaft stops.</a:t>
            </a:r>
          </a:p>
          <a:p>
            <a:pPr marL="0" indent="0">
              <a:lnSpc>
                <a:spcPct val="95000"/>
              </a:lnSpc>
              <a:spcBef>
                <a:spcPts val="400"/>
              </a:spcBef>
              <a:buNone/>
            </a:pPr>
            <a:r>
              <a:rPr sz="1400" b="1" i="0">
                <a:solidFill>
                  <a:srgbClr val="1F2933"/>
                </a:solidFill>
                <a:latin typeface="Quattrocento Sans"/>
              </a:rPr>
              <a:t>NEXT: </a:t>
            </a:r>
            <a:r>
              <a:rPr sz="1400" b="0" i="0">
                <a:solidFill>
                  <a:srgbClr val="1F2933"/>
                </a:solidFill>
                <a:latin typeface="Quattrocento Sans"/>
              </a:rPr>
              <a:t>Done: an aid that trusts only known wheel states (next slide).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 First DEMO SPIN (</a:t>
            </a:r>
            <a:r>
              <a:rPr lang="en-US" dirty="0"/>
              <a:t>Unsuccessful</a:t>
            </a:r>
            <a:r>
              <a:rPr dirty="0"/>
              <a:t>)</a:t>
            </a:r>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pic>
        <p:nvPicPr>
          <p:cNvPr id="92" name="Picture 91" descr="fig5_demo_pendulum.png"/>
          <p:cNvPicPr>
            <a:picLocks noChangeAspect="1"/>
          </p:cNvPicPr>
          <p:nvPr/>
        </p:nvPicPr>
        <p:blipFill>
          <a:blip r:embed="rId2"/>
          <a:stretch>
            <a:fillRect/>
          </a:stretch>
        </p:blipFill>
        <p:spPr>
          <a:xfrm>
            <a:off x="481156" y="1417320"/>
            <a:ext cx="8181686" cy="3108960"/>
          </a:xfrm>
          <a:prstGeom prst="rect">
            <a:avLst/>
          </a:prstGeom>
        </p:spPr>
      </p:pic>
      <p:sp>
        <p:nvSpPr>
          <p:cNvPr id="93" name="Takeaway"/>
          <p:cNvSpPr txBox="1"/>
          <p:nvPr/>
        </p:nvSpPr>
        <p:spPr>
          <a:xfrm>
            <a:off x="274320" y="914400"/>
            <a:ext cx="8595360" cy="402336"/>
          </a:xfrm>
          <a:prstGeom prst="rect">
            <a:avLst/>
          </a:prstGeom>
          <a:solidFill>
            <a:srgbClr val="E8F3EC"/>
          </a:solidFill>
        </p:spPr>
        <p:txBody>
          <a:bodyPr wrap="square" anchor="ctr" tIns="91440" bIns="91440">
            <a:spAutoFit/>
          </a:bodyPr>
          <a:lstStyle/>
          <a:p>
            <a:pPr marL="0" indent="0">
              <a:lnSpc>
                <a:spcPct val="95000"/>
              </a:lnSpc>
              <a:spcBef>
                <a:spcPts val="400"/>
              </a:spcBef>
              <a:buNone/>
            </a:pPr>
            <a:r>
              <a:rPr sz="1500" b="1" i="0">
                <a:solidFill>
                  <a:srgbClr val="2E7D4F"/>
                </a:solidFill>
                <a:latin typeface="Quattrocento Sans"/>
              </a:rPr>
              <a:t>Takeaway: </a:t>
            </a:r>
            <a:r>
              <a:rPr sz="1500" b="1" i="0">
                <a:solidFill>
                  <a:srgbClr val="1F2933"/>
                </a:solidFill>
                <a:latin typeface="Quattrocento Sans"/>
              </a:rPr>
              <a:t>The table is a pendulum: gravity overwhelms the wheels within 1–2 s</a:t>
            </a:r>
          </a:p>
        </p:txBody>
      </p:sp>
      <p:sp>
        <p:nvSpPr>
          <p:cNvPr id="94" name="MCEN"/>
          <p:cNvSpPr txBox="1"/>
          <p:nvPr/>
        </p:nvSpPr>
        <p:spPr>
          <a:xfrm>
            <a:off x="274320" y="4599432"/>
            <a:ext cx="8595360" cy="1755648"/>
          </a:xfrm>
          <a:prstGeom prst="rect">
            <a:avLst/>
          </a:prstGeom>
          <a:noFill/>
        </p:spPr>
        <p:txBody>
          <a:bodyPr wrap="square" anchor="t" lIns="73152" rIns="73152" tIns="73152" bIns="73152">
            <a:spAutoFit/>
          </a:bodyPr>
          <a:lstStyle/>
          <a:p>
            <a:pPr marL="0" indent="0">
              <a:lnSpc>
                <a:spcPct val="95000"/>
              </a:lnSpc>
              <a:spcBef>
                <a:spcPts val="400"/>
              </a:spcBef>
              <a:buNone/>
            </a:pPr>
            <a:r>
              <a:rPr sz="1400" b="1" i="0">
                <a:solidFill>
                  <a:srgbClr val="1F2933"/>
                </a:solidFill>
                <a:latin typeface="Quattrocento Sans"/>
              </a:rPr>
              <a:t>MEASURE: </a:t>
            </a:r>
            <a:r>
              <a:rPr sz="1400" b="0" i="0">
                <a:solidFill>
                  <a:srgbClr val="1F2933"/>
                </a:solidFill>
                <a:latin typeface="Quattrocento Sans"/>
              </a:rPr>
              <a:t>Roll/pitch and wheel speeds, table floating; three DEMO SPIN attempts.</a:t>
            </a:r>
          </a:p>
          <a:p>
            <a:pPr marL="0" indent="0">
              <a:lnSpc>
                <a:spcPct val="95000"/>
              </a:lnSpc>
              <a:spcBef>
                <a:spcPts val="400"/>
              </a:spcBef>
              <a:buNone/>
            </a:pPr>
            <a:r>
              <a:rPr sz="1400" b="1" i="0">
                <a:solidFill>
                  <a:srgbClr val="1F2933"/>
                </a:solidFill>
                <a:latin typeface="Quattrocento Sans"/>
              </a:rPr>
              <a:t>COMPARE: </a:t>
            </a:r>
            <a:r>
              <a:rPr sz="1400" b="0" i="0">
                <a:solidFill>
                  <a:srgbClr val="1F2933"/>
                </a:solidFill>
                <a:latin typeface="Quattrocento Sans"/>
              </a:rPr>
              <a:t>Simulation (CG at the bearing centre) levelled from 30° in ≈ 11 s; the table hit the wheel limit in 1–2 s.</a:t>
            </a:r>
          </a:p>
          <a:p>
            <a:pPr marL="0" indent="0">
              <a:lnSpc>
                <a:spcPct val="95000"/>
              </a:lnSpc>
              <a:spcBef>
                <a:spcPts val="400"/>
              </a:spcBef>
              <a:buNone/>
            </a:pPr>
            <a:r>
              <a:rPr sz="1400" b="1" i="0">
                <a:solidFill>
                  <a:srgbClr val="1F2933"/>
                </a:solidFill>
                <a:latin typeface="Quattrocento Sans"/>
              </a:rPr>
              <a:t>EXPLAIN: </a:t>
            </a:r>
            <a:r>
              <a:rPr sz="1400" b="0" i="0">
                <a:solidFill>
                  <a:srgbClr val="1F2933"/>
                </a:solidFill>
                <a:latin typeface="Quattrocento Sans"/>
              </a:rPr>
              <a:t>1.8 s swing, resting ≈ 3° off level: gravity ≈ 16 mN·m per degree vs ≈ 24 mN·m·s of wheel storage.</a:t>
            </a:r>
          </a:p>
          <a:p>
            <a:pPr marL="0" indent="0">
              <a:lnSpc>
                <a:spcPct val="95000"/>
              </a:lnSpc>
              <a:spcBef>
                <a:spcPts val="400"/>
              </a:spcBef>
              <a:buNone/>
            </a:pPr>
            <a:r>
              <a:rPr sz="1400" b="1" i="0">
                <a:solidFill>
                  <a:srgbClr val="1F2933"/>
                </a:solidFill>
                <a:latin typeface="Quattrocento Sans"/>
              </a:rPr>
              <a:t>NEXT: </a:t>
            </a:r>
            <a:r>
              <a:rPr sz="1400" b="0" i="0">
                <a:solidFill>
                  <a:srgbClr val="1F2933"/>
                </a:solidFill>
                <a:latin typeface="Quattrocento Sans"/>
              </a:rPr>
              <a:t>Done: bottom weights and lateral trim (next slide).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 DEMO SPIN </a:t>
            </a:r>
            <a:r>
              <a:rPr lang="en-US" dirty="0"/>
              <a:t>Leveling</a:t>
            </a:r>
            <a:endParaRPr dirty="0"/>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pic>
        <p:nvPicPr>
          <p:cNvPr id="92" name="Picture 91" descr="fig6_demo2_balanced.png"/>
          <p:cNvPicPr>
            <a:picLocks noChangeAspect="1"/>
          </p:cNvPicPr>
          <p:nvPr/>
        </p:nvPicPr>
        <p:blipFill>
          <a:blip r:embed="rId2"/>
          <a:stretch>
            <a:fillRect/>
          </a:stretch>
        </p:blipFill>
        <p:spPr>
          <a:xfrm>
            <a:off x="1623685" y="1417320"/>
            <a:ext cx="5896628" cy="2743200"/>
          </a:xfrm>
          <a:prstGeom prst="rect">
            <a:avLst/>
          </a:prstGeom>
        </p:spPr>
      </p:pic>
      <p:sp>
        <p:nvSpPr>
          <p:cNvPr id="93" name="Takeaway"/>
          <p:cNvSpPr txBox="1"/>
          <p:nvPr/>
        </p:nvSpPr>
        <p:spPr>
          <a:xfrm>
            <a:off x="274320" y="914400"/>
            <a:ext cx="8595360" cy="402336"/>
          </a:xfrm>
          <a:prstGeom prst="rect">
            <a:avLst/>
          </a:prstGeom>
          <a:solidFill>
            <a:srgbClr val="E8F3EC"/>
          </a:solidFill>
        </p:spPr>
        <p:txBody>
          <a:bodyPr wrap="square" anchor="ctr" tIns="91440" bIns="91440">
            <a:spAutoFit/>
          </a:bodyPr>
          <a:lstStyle/>
          <a:p>
            <a:pPr marL="0" indent="0">
              <a:lnSpc>
                <a:spcPct val="95000"/>
              </a:lnSpc>
              <a:spcBef>
                <a:spcPts val="400"/>
              </a:spcBef>
              <a:buNone/>
            </a:pPr>
            <a:r>
              <a:rPr sz="1500" b="1" i="0">
                <a:solidFill>
                  <a:srgbClr val="2E7D4F"/>
                </a:solidFill>
                <a:latin typeface="Quattrocento Sans"/>
              </a:rPr>
              <a:t>Takeaway: </a:t>
            </a:r>
            <a:r>
              <a:rPr sz="1500" b="1" i="0">
                <a:solidFill>
                  <a:srgbClr val="1F2933"/>
                </a:solidFill>
                <a:latin typeface="Quattrocento Sans"/>
              </a:rPr>
              <a:t>Weights made gravity’s pull 3× weaker and fixed pitch; roll still rested 3.3° off</a:t>
            </a:r>
          </a:p>
        </p:txBody>
      </p:sp>
      <p:sp>
        <p:nvSpPr>
          <p:cNvPr id="94" name="MCEN"/>
          <p:cNvSpPr txBox="1"/>
          <p:nvPr/>
        </p:nvSpPr>
        <p:spPr>
          <a:xfrm>
            <a:off x="274320" y="4233672"/>
            <a:ext cx="8595360" cy="2121408"/>
          </a:xfrm>
          <a:prstGeom prst="rect">
            <a:avLst/>
          </a:prstGeom>
          <a:noFill/>
        </p:spPr>
        <p:txBody>
          <a:bodyPr wrap="square" anchor="t" lIns="73152" rIns="73152" tIns="73152" bIns="73152">
            <a:spAutoFit/>
          </a:bodyPr>
          <a:lstStyle/>
          <a:p>
            <a:pPr marL="0" indent="0">
              <a:lnSpc>
                <a:spcPct val="95000"/>
              </a:lnSpc>
              <a:spcBef>
                <a:spcPts val="400"/>
              </a:spcBef>
              <a:buNone/>
            </a:pPr>
            <a:r>
              <a:rPr sz="1400" b="1" i="0">
                <a:solidFill>
                  <a:srgbClr val="1F2933"/>
                </a:solidFill>
                <a:latin typeface="Quattrocento Sans"/>
              </a:rPr>
              <a:t>MEASURE: </a:t>
            </a:r>
            <a:r>
              <a:rPr sz="1400" b="0" i="0">
                <a:solidFill>
                  <a:srgbClr val="1F2933"/>
                </a:solidFill>
                <a:latin typeface="Quattrocento Sans"/>
              </a:rPr>
              <a:t>Six DEMO SPIN attempts after adding weights: roll, wheel speeds, free swing.</a:t>
            </a:r>
          </a:p>
          <a:p>
            <a:pPr marL="0" indent="0">
              <a:lnSpc>
                <a:spcPct val="95000"/>
              </a:lnSpc>
              <a:spcBef>
                <a:spcPts val="400"/>
              </a:spcBef>
              <a:buNone/>
            </a:pPr>
            <a:r>
              <a:rPr sz="1400" b="1" i="0">
                <a:solidFill>
                  <a:srgbClr val="1F2933"/>
                </a:solidFill>
                <a:latin typeface="Quattrocento Sans"/>
              </a:rPr>
              <a:t>COMPARE: </a:t>
            </a:r>
            <a:r>
              <a:rPr sz="1400" b="0" i="0">
                <a:solidFill>
                  <a:srgbClr val="1F2933"/>
                </a:solidFill>
                <a:latin typeface="Quattrocento Sans"/>
              </a:rPr>
              <a:t>Expected: level (&lt; 1° for 3 s), then spin. Every attempt hit the wheel limit after 2.2–3.7 s.</a:t>
            </a:r>
          </a:p>
          <a:p>
            <a:pPr marL="0" indent="0">
              <a:lnSpc>
                <a:spcPct val="95000"/>
              </a:lnSpc>
              <a:spcBef>
                <a:spcPts val="400"/>
              </a:spcBef>
              <a:buNone/>
            </a:pPr>
            <a:r>
              <a:rPr sz="1400" b="1" i="0">
                <a:solidFill>
                  <a:srgbClr val="1F2933"/>
                </a:solidFill>
                <a:latin typeface="Quattrocento Sans"/>
              </a:rPr>
              <a:t>EXPLAIN: </a:t>
            </a:r>
            <a:r>
              <a:rPr sz="1400" b="0" i="0">
                <a:solidFill>
                  <a:srgbClr val="1F2933"/>
                </a:solidFill>
                <a:latin typeface="Quattrocento Sans"/>
              </a:rPr>
              <a:t>Swing period 1.8 → 3.3 s; the −y side is heavy, so holding level fills wheel A in ≈ 3 s.</a:t>
            </a:r>
          </a:p>
          <a:p>
            <a:pPr marL="0" indent="0">
              <a:lnSpc>
                <a:spcPct val="95000"/>
              </a:lnSpc>
              <a:spcBef>
                <a:spcPts val="400"/>
              </a:spcBef>
              <a:buNone/>
            </a:pPr>
            <a:r>
              <a:rPr sz="1400" b="1" i="0">
                <a:solidFill>
                  <a:srgbClr val="1F2933"/>
                </a:solidFill>
                <a:latin typeface="Quattrocento Sans"/>
              </a:rPr>
              <a:t>NEXT: </a:t>
            </a:r>
            <a:r>
              <a:rPr sz="1400" b="0" i="0">
                <a:solidFill>
                  <a:srgbClr val="1F2933"/>
                </a:solidFill>
                <a:latin typeface="Quattrocento Sans"/>
              </a:rPr>
              <a:t>Done: roll trim and DEMO LEVEL (results after the video).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87F73-F0E4-6922-67BC-49AB6097DE8D}"/>
              </a:ext>
            </a:extLst>
          </p:cNvPr>
          <p:cNvSpPr>
            <a:spLocks noGrp="1"/>
          </p:cNvSpPr>
          <p:nvPr>
            <p:ph type="title"/>
          </p:nvPr>
        </p:nvSpPr>
        <p:spPr/>
        <p:txBody>
          <a:bodyPr/>
          <a:lstStyle/>
          <a:p>
            <a:r>
              <a:rPr lang="en-US" dirty="0"/>
              <a:t>DEMO SPIN</a:t>
            </a:r>
          </a:p>
        </p:txBody>
      </p:sp>
      <p:sp>
        <p:nvSpPr>
          <p:cNvPr id="3" name="Text Placeholder 2">
            <a:extLst>
              <a:ext uri="{FF2B5EF4-FFF2-40B4-BE49-F238E27FC236}">
                <a16:creationId xmlns:a16="http://schemas.microsoft.com/office/drawing/2014/main" id="{E53FAC40-CEAE-7914-E869-8F5406CF72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5074AB-EC0B-2CB1-8038-6DE37877DC2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6" name="Picture 5">
            <a:extLst>
              <a:ext uri="{FF2B5EF4-FFF2-40B4-BE49-F238E27FC236}">
                <a16:creationId xmlns:a16="http://schemas.microsoft.com/office/drawing/2014/main" id="{2D6C281A-E20D-57C6-032A-B7375084EF6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29233" y="1097280"/>
            <a:ext cx="3614166" cy="4818888"/>
          </a:xfrm>
          <a:prstGeom prst="rect">
            <a:avLst/>
          </a:prstGeom>
        </p:spPr>
      </p:pic>
      <p:pic>
        <p:nvPicPr>
          <p:cNvPr id="9" name="Picture 8">
            <a:extLst>
              <a:ext uri="{FF2B5EF4-FFF2-40B4-BE49-F238E27FC236}">
                <a16:creationId xmlns:a16="http://schemas.microsoft.com/office/drawing/2014/main" id="{3958D52C-E875-C8E2-FB59-DA9AFAFEF2A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00599" y="1097280"/>
            <a:ext cx="3614166" cy="4818888"/>
          </a:xfrm>
          <a:prstGeom prst="rect">
            <a:avLst/>
          </a:prstGeom>
        </p:spPr>
      </p:pic>
      <p:sp>
        <p:nvSpPr>
          <p:cNvPr id="10" name="Caption: Setting Up for Spin"/>
          <p:cNvSpPr txBox="1"/>
          <p:nvPr/>
        </p:nvSpPr>
        <p:spPr>
          <a:xfrm>
            <a:off x="729233" y="5971032"/>
            <a:ext cx="3614166" cy="384048"/>
          </a:xfrm>
          <a:prstGeom prst="rect">
            <a:avLst/>
          </a:prstGeom>
          <a:noFill/>
        </p:spPr>
        <p:txBody>
          <a:bodyPr wrap="square" lIns="0" tIns="0" rIns="0" bIns="0" anchor="t">
            <a:spAutoFit/>
          </a:bodyPr>
          <a:lstStyle/>
          <a:p>
            <a:pPr algn="ctr"/>
            <a:r>
              <a:rPr sz="1600">
                <a:solidFill>
                  <a:srgbClr val="000000"/>
                </a:solidFill>
                <a:latin typeface="Quattrocento Sans"/>
              </a:rPr>
              <a:t>Setting Up for Spin</a:t>
            </a:r>
          </a:p>
        </p:txBody>
      </p:sp>
      <p:sp>
        <p:nvSpPr>
          <p:cNvPr id="11" name="Caption: Additional Weight Detail"/>
          <p:cNvSpPr txBox="1"/>
          <p:nvPr/>
        </p:nvSpPr>
        <p:spPr>
          <a:xfrm>
            <a:off x="4800599" y="5971032"/>
            <a:ext cx="3614166" cy="384048"/>
          </a:xfrm>
          <a:prstGeom prst="rect">
            <a:avLst/>
          </a:prstGeom>
          <a:noFill/>
        </p:spPr>
        <p:txBody>
          <a:bodyPr wrap="square" lIns="0" tIns="0" rIns="0" bIns="0" anchor="t">
            <a:spAutoFit/>
          </a:bodyPr>
          <a:lstStyle/>
          <a:p>
            <a:pPr algn="ctr"/>
            <a:r>
              <a:rPr sz="1600">
                <a:solidFill>
                  <a:srgbClr val="000000"/>
                </a:solidFill>
                <a:latin typeface="Quattrocento Sans"/>
              </a:rPr>
              <a:t>Additional Weight Detail</a:t>
            </a:r>
          </a:p>
        </p:txBody>
      </p:sp>
    </p:spTree>
    <p:extLst>
      <p:ext uri="{BB962C8B-B14F-4D97-AF65-F5344CB8AC3E}">
        <p14:creationId xmlns:p14="http://schemas.microsoft.com/office/powerpoint/2010/main" val="3589227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7644F-4DEA-4B4A-8AB4-4070082412F4}"/>
              </a:ext>
            </a:extLst>
          </p:cNvPr>
          <p:cNvSpPr>
            <a:spLocks noGrp="1"/>
          </p:cNvSpPr>
          <p:nvPr>
            <p:ph type="title"/>
          </p:nvPr>
        </p:nvSpPr>
        <p:spPr/>
        <p:txBody>
          <a:bodyPr/>
          <a:lstStyle/>
          <a:p>
            <a:r>
              <a:rPr lang="en-US" dirty="0"/>
              <a:t>DEMO SPIN: Leveling Video</a:t>
            </a:r>
          </a:p>
        </p:txBody>
      </p:sp>
      <p:sp>
        <p:nvSpPr>
          <p:cNvPr id="3" name="Text Placeholder 2">
            <a:extLst>
              <a:ext uri="{FF2B5EF4-FFF2-40B4-BE49-F238E27FC236}">
                <a16:creationId xmlns:a16="http://schemas.microsoft.com/office/drawing/2014/main" id="{F3C51A14-DCC9-4D2E-8E8C-050F45D4723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0F099E3-E8D6-61AE-7166-798CAC1E286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pic>
        <p:nvPicPr>
          <p:cNvPr id="5" name="LevelTest21Oct">
            <a:hlinkClick r:id="" action="ppaction://media"/>
            <a:extLst>
              <a:ext uri="{FF2B5EF4-FFF2-40B4-BE49-F238E27FC236}">
                <a16:creationId xmlns:a16="http://schemas.microsoft.com/office/drawing/2014/main" id="{20ABE29E-2AB7-C42D-00A0-F1585378EEBA}"/>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976372" y="1002506"/>
            <a:ext cx="2982277" cy="5301826"/>
          </a:xfrm>
          <a:prstGeom prst="rect">
            <a:avLst/>
          </a:prstGeom>
        </p:spPr>
      </p:pic>
    </p:spTree>
    <p:extLst>
      <p:ext uri="{BB962C8B-B14F-4D97-AF65-F5344CB8AC3E}">
        <p14:creationId xmlns:p14="http://schemas.microsoft.com/office/powerpoint/2010/main" val="2321664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57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h1e1805356538ab88_0_18"/>
          <p:cNvSpPr txBox="1">
            <a:spLocks noGrp="1"/>
          </p:cNvSpPr>
          <p:nvPr>
            <p:ph type="title"/>
          </p:nvPr>
        </p:nvSpPr>
        <p:spPr>
          <a:xfrm>
            <a:off x="866966" y="133186"/>
            <a:ext cx="7886700" cy="652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Quattrocento Sans"/>
              <a:buNone/>
            </a:pPr>
            <a:r>
              <a:rPr lang="en-US"/>
              <a:t>Future Plans: Where We Stand</a:t>
            </a:r>
            <a:endParaRPr/>
          </a:p>
        </p:txBody>
      </p:sp>
      <p:sp>
        <p:nvSpPr>
          <p:cNvPr id="128" name="Google Shape;128;h1e1805356538ab88_0_18"/>
          <p:cNvSpPr txBox="1">
            <a:spLocks noGrp="1"/>
          </p:cNvSpPr>
          <p:nvPr>
            <p:ph type="sldNum" idx="12"/>
          </p:nvPr>
        </p:nvSpPr>
        <p:spPr>
          <a:xfrm>
            <a:off x="7040236" y="6465106"/>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129" name="TextBox 128"/>
          <p:cNvSpPr txBox="1"/>
          <p:nvPr/>
        </p:nvSpPr>
        <p:spPr>
          <a:xfrm>
            <a:off x="274320" y="1005840"/>
            <a:ext cx="2743200" cy="340863"/>
          </a:xfrm>
          <a:prstGeom prst="rect">
            <a:avLst/>
          </a:prstGeom>
          <a:solidFill>
            <a:srgbClr val="404040"/>
          </a:solidFill>
        </p:spPr>
        <p:txBody>
          <a:bodyPr wrap="square" lIns="73152" rIns="73152">
            <a:spAutoFit/>
          </a:bodyPr>
          <a:lstStyle/>
          <a:p>
            <a:pPr marL="0" indent="0">
              <a:lnSpc>
                <a:spcPct val="95000"/>
              </a:lnSpc>
              <a:spcBef>
                <a:spcPts val="300"/>
              </a:spcBef>
              <a:buNone/>
            </a:pPr>
            <a:r>
              <a:rPr lang="en-US" sz="1700" b="1" dirty="0">
                <a:solidFill>
                  <a:srgbClr val="FFFFFF"/>
                </a:solidFill>
                <a:latin typeface="Quattrocento Sans"/>
              </a:rPr>
              <a:t>Complete</a:t>
            </a:r>
            <a:endParaRPr sz="1700" b="1" dirty="0">
              <a:solidFill>
                <a:srgbClr val="FFFFFF"/>
              </a:solidFill>
              <a:latin typeface="Quattrocento Sans"/>
            </a:endParaRPr>
          </a:p>
        </p:txBody>
      </p:sp>
      <p:sp>
        <p:nvSpPr>
          <p:cNvPr id="130" name="TextBox 129"/>
          <p:cNvSpPr txBox="1"/>
          <p:nvPr/>
        </p:nvSpPr>
        <p:spPr>
          <a:xfrm>
            <a:off x="274320" y="1508760"/>
            <a:ext cx="2743200" cy="3895425"/>
          </a:xfrm>
          <a:prstGeom prst="rect">
            <a:avLst/>
          </a:prstGeom>
          <a:solidFill>
            <a:srgbClr val="F2F2F2"/>
          </a:solidFill>
        </p:spPr>
        <p:txBody>
          <a:bodyPr wrap="square" lIns="73152" rIns="73152">
            <a:spAutoFit/>
          </a:bodyPr>
          <a:lstStyle/>
          <a:p>
            <a:pPr marL="300000" indent="-228600">
              <a:lnSpc>
                <a:spcPct val="95000"/>
              </a:lnSpc>
              <a:spcBef>
                <a:spcPts val="1600"/>
              </a:spcBef>
              <a:buChar char="•"/>
            </a:pPr>
            <a:r>
              <a:rPr sz="1350" b="0" dirty="0">
                <a:latin typeface="Quattrocento Sans"/>
              </a:rPr>
              <a:t>Attitude estimator: roll/pitch 0.02°</a:t>
            </a:r>
          </a:p>
          <a:p>
            <a:pPr marL="300000" indent="-228600">
              <a:lnSpc>
                <a:spcPct val="95000"/>
              </a:lnSpc>
              <a:spcBef>
                <a:spcPts val="1600"/>
              </a:spcBef>
              <a:buChar char="•"/>
            </a:pPr>
            <a:r>
              <a:rPr sz="1350" b="0" dirty="0">
                <a:latin typeface="Quattrocento Sans"/>
              </a:rPr>
              <a:t>Magnetometer yaw aid, 55 min graded test</a:t>
            </a:r>
          </a:p>
          <a:p>
            <a:pPr marL="300000" indent="-228600">
              <a:lnSpc>
                <a:spcPct val="95000"/>
              </a:lnSpc>
              <a:spcBef>
                <a:spcPts val="1600"/>
              </a:spcBef>
              <a:buChar char="•"/>
            </a:pPr>
            <a:r>
              <a:rPr sz="1350" b="0" dirty="0">
                <a:latin typeface="Quattrocento Sans"/>
              </a:rPr>
              <a:t>Reliable 100 Hz IMU data</a:t>
            </a:r>
          </a:p>
          <a:p>
            <a:pPr marL="300000" indent="-228600">
              <a:lnSpc>
                <a:spcPct val="95000"/>
              </a:lnSpc>
              <a:spcBef>
                <a:spcPts val="1600"/>
              </a:spcBef>
              <a:buChar char="•"/>
            </a:pPr>
            <a:r>
              <a:rPr sz="1350" b="0" dirty="0">
                <a:latin typeface="Quattrocento Sans"/>
              </a:rPr>
              <a:t>Wheel loops, all 4 wheels</a:t>
            </a:r>
          </a:p>
          <a:p>
            <a:pPr marL="300000" indent="-228600">
              <a:lnSpc>
                <a:spcPct val="95000"/>
              </a:lnSpc>
              <a:spcBef>
                <a:spcPts val="1600"/>
              </a:spcBef>
              <a:buChar char="•"/>
            </a:pPr>
            <a:r>
              <a:rPr sz="1350" b="0" dirty="0">
                <a:latin typeface="Quattrocento Sans"/>
              </a:rPr>
              <a:t>Fault detection + 3-wheel control (simulated)</a:t>
            </a:r>
          </a:p>
          <a:p>
            <a:pPr marL="300000" indent="-228600">
              <a:lnSpc>
                <a:spcPct val="95000"/>
              </a:lnSpc>
              <a:spcBef>
                <a:spcPts val="1600"/>
              </a:spcBef>
              <a:buChar char="•"/>
            </a:pPr>
            <a:r>
              <a:rPr sz="1350" b="0" dirty="0">
                <a:latin typeface="Quattrocento Sans"/>
              </a:rPr>
              <a:t>SLEW / FAULT / STEP tests on board</a:t>
            </a:r>
          </a:p>
          <a:p>
            <a:pPr marL="300000" indent="-228600">
              <a:lnSpc>
                <a:spcPct val="95000"/>
              </a:lnSpc>
              <a:spcBef>
                <a:spcPts val="1600"/>
              </a:spcBef>
              <a:buChar char="•"/>
            </a:pPr>
            <a:r>
              <a:rPr sz="1350" b="0" dirty="0">
                <a:latin typeface="Quattrocento Sans"/>
              </a:rPr>
              <a:t>Spare flight computer up</a:t>
            </a:r>
          </a:p>
        </p:txBody>
      </p:sp>
      <p:sp>
        <p:nvSpPr>
          <p:cNvPr id="131" name="TextBox 130"/>
          <p:cNvSpPr txBox="1"/>
          <p:nvPr/>
        </p:nvSpPr>
        <p:spPr>
          <a:xfrm>
            <a:off x="3182112" y="1005840"/>
            <a:ext cx="2743200" cy="340863"/>
          </a:xfrm>
          <a:prstGeom prst="rect">
            <a:avLst/>
          </a:prstGeom>
          <a:solidFill>
            <a:srgbClr val="404040"/>
          </a:solidFill>
        </p:spPr>
        <p:txBody>
          <a:bodyPr wrap="square" lIns="73152" rIns="73152">
            <a:spAutoFit/>
          </a:bodyPr>
          <a:lstStyle/>
          <a:p>
            <a:pPr marL="0" indent="0">
              <a:lnSpc>
                <a:spcPct val="95000"/>
              </a:lnSpc>
              <a:spcBef>
                <a:spcPts val="300"/>
              </a:spcBef>
              <a:buNone/>
            </a:pPr>
            <a:r>
              <a:rPr sz="1700" b="1" dirty="0">
                <a:solidFill>
                  <a:srgbClr val="FFFFFF"/>
                </a:solidFill>
                <a:latin typeface="Quattrocento Sans"/>
              </a:rPr>
              <a:t>Needs improvemen</a:t>
            </a:r>
            <a:r>
              <a:rPr lang="en-US" sz="1700" b="1" dirty="0">
                <a:solidFill>
                  <a:srgbClr val="FFFFFF"/>
                </a:solidFill>
                <a:latin typeface="Quattrocento Sans"/>
              </a:rPr>
              <a:t>t</a:t>
            </a:r>
            <a:endParaRPr sz="1700" b="1" dirty="0">
              <a:solidFill>
                <a:srgbClr val="FFFFFF"/>
              </a:solidFill>
              <a:latin typeface="Quattrocento Sans"/>
            </a:endParaRPr>
          </a:p>
        </p:txBody>
      </p:sp>
      <p:sp>
        <p:nvSpPr>
          <p:cNvPr id="132" name="TextBox 131"/>
          <p:cNvSpPr txBox="1"/>
          <p:nvPr/>
        </p:nvSpPr>
        <p:spPr>
          <a:xfrm>
            <a:off x="3182112" y="1508760"/>
            <a:ext cx="2743200" cy="3398366"/>
          </a:xfrm>
          <a:prstGeom prst="rect">
            <a:avLst/>
          </a:prstGeom>
          <a:solidFill>
            <a:srgbClr val="F2F2F2"/>
          </a:solidFill>
        </p:spPr>
        <p:txBody>
          <a:bodyPr wrap="square" lIns="73152" rIns="73152">
            <a:spAutoFit/>
          </a:bodyPr>
          <a:lstStyle/>
          <a:p>
            <a:pPr marL="300000" indent="-228600">
              <a:lnSpc>
                <a:spcPct val="95000"/>
              </a:lnSpc>
              <a:spcBef>
                <a:spcPts val="1600"/>
              </a:spcBef>
              <a:buChar char="•"/>
            </a:pPr>
            <a:r>
              <a:rPr sz="1350" b="0" dirty="0">
                <a:latin typeface="Quattrocento Sans"/>
              </a:rPr>
              <a:t>Balance: CG ≈ 4.4 mm below the bearing centre</a:t>
            </a:r>
          </a:p>
          <a:p>
            <a:pPr marL="300000" indent="-228600">
              <a:lnSpc>
                <a:spcPct val="95000"/>
              </a:lnSpc>
              <a:spcBef>
                <a:spcPts val="1600"/>
              </a:spcBef>
              <a:buChar char="•"/>
            </a:pPr>
            <a:r>
              <a:rPr lang="en-US" sz="1350" b="0" dirty="0">
                <a:latin typeface="Quattrocento Sans"/>
              </a:rPr>
              <a:t>Yaw aid: 36/37 steps as run; fix replays 37/37</a:t>
            </a:r>
          </a:p>
          <a:p>
            <a:pPr marL="300000" indent="-228600">
              <a:lnSpc>
                <a:spcPct val="95000"/>
              </a:lnSpc>
              <a:spcBef>
                <a:spcPts val="1600"/>
              </a:spcBef>
              <a:buChar char="•"/>
            </a:pPr>
            <a:r>
              <a:rPr sz="1350" b="0" dirty="0">
                <a:latin typeface="Quattrocento Sans"/>
              </a:rPr>
              <a:t>Hold time: gravity + yaw drag fill the wheels</a:t>
            </a:r>
          </a:p>
          <a:p>
            <a:pPr marL="300000" indent="-228600">
              <a:lnSpc>
                <a:spcPct val="95000"/>
              </a:lnSpc>
              <a:spcBef>
                <a:spcPts val="1600"/>
              </a:spcBef>
              <a:buChar char="•"/>
            </a:pPr>
            <a:r>
              <a:rPr sz="1350" b="0" dirty="0">
                <a:latin typeface="Quattrocento Sans"/>
              </a:rPr>
              <a:t>Wheel A rub; wheel D encoder lead</a:t>
            </a:r>
          </a:p>
          <a:p>
            <a:pPr marL="300000" indent="-228600">
              <a:lnSpc>
                <a:spcPct val="95000"/>
              </a:lnSpc>
              <a:spcBef>
                <a:spcPts val="1600"/>
              </a:spcBef>
              <a:buChar char="•"/>
            </a:pPr>
            <a:r>
              <a:rPr sz="1350" b="0" dirty="0">
                <a:latin typeface="Quattrocento Sans"/>
              </a:rPr>
              <a:t>Real inertia (STEP TEST ready)</a:t>
            </a:r>
          </a:p>
        </p:txBody>
      </p:sp>
      <p:sp>
        <p:nvSpPr>
          <p:cNvPr id="133" name="TextBox 132"/>
          <p:cNvSpPr txBox="1"/>
          <p:nvPr/>
        </p:nvSpPr>
        <p:spPr>
          <a:xfrm>
            <a:off x="6089904" y="1005840"/>
            <a:ext cx="2743200" cy="340863"/>
          </a:xfrm>
          <a:prstGeom prst="rect">
            <a:avLst/>
          </a:prstGeom>
          <a:solidFill>
            <a:srgbClr val="404040"/>
          </a:solidFill>
        </p:spPr>
        <p:txBody>
          <a:bodyPr wrap="square" lIns="73152" rIns="73152">
            <a:spAutoFit/>
          </a:bodyPr>
          <a:lstStyle/>
          <a:p>
            <a:pPr marL="0" indent="0">
              <a:lnSpc>
                <a:spcPct val="95000"/>
              </a:lnSpc>
              <a:spcBef>
                <a:spcPts val="300"/>
              </a:spcBef>
              <a:buNone/>
            </a:pPr>
            <a:r>
              <a:rPr sz="1700" b="1" dirty="0">
                <a:solidFill>
                  <a:srgbClr val="FFFFFF"/>
                </a:solidFill>
                <a:latin typeface="Quattrocento Sans"/>
              </a:rPr>
              <a:t>Remainin</a:t>
            </a:r>
            <a:r>
              <a:rPr lang="en-US" sz="1700" b="1" dirty="0">
                <a:solidFill>
                  <a:srgbClr val="FFFFFF"/>
                </a:solidFill>
                <a:latin typeface="Quattrocento Sans"/>
              </a:rPr>
              <a:t>g</a:t>
            </a:r>
            <a:endParaRPr sz="1700" b="1" dirty="0">
              <a:solidFill>
                <a:srgbClr val="FFFFFF"/>
              </a:solidFill>
              <a:latin typeface="Quattrocento Sans"/>
            </a:endParaRPr>
          </a:p>
        </p:txBody>
      </p:sp>
      <p:sp>
        <p:nvSpPr>
          <p:cNvPr id="134" name="TextBox 133"/>
          <p:cNvSpPr txBox="1"/>
          <p:nvPr/>
        </p:nvSpPr>
        <p:spPr>
          <a:xfrm>
            <a:off x="6089904" y="1508760"/>
            <a:ext cx="2743200" cy="3646896"/>
          </a:xfrm>
          <a:prstGeom prst="rect">
            <a:avLst/>
          </a:prstGeom>
          <a:solidFill>
            <a:srgbClr val="F2F2F2"/>
          </a:solidFill>
        </p:spPr>
        <p:txBody>
          <a:bodyPr wrap="square" lIns="73152" rIns="73152">
            <a:spAutoFit/>
          </a:bodyPr>
          <a:lstStyle/>
          <a:p>
            <a:pPr marL="300000" indent="-228600">
              <a:lnSpc>
                <a:spcPct val="95000"/>
              </a:lnSpc>
              <a:spcBef>
                <a:spcPts val="1600"/>
              </a:spcBef>
              <a:buChar char="•"/>
            </a:pPr>
            <a:r>
              <a:rPr lang="en-US" sz="1350" b="0" dirty="0">
                <a:latin typeface="Quattrocento Sans"/>
              </a:rPr>
              <a:t>Heading hold on the free table (Req. 1)</a:t>
            </a:r>
          </a:p>
          <a:p>
            <a:pPr marL="300000" indent="-228600">
              <a:lnSpc>
                <a:spcPct val="95000"/>
              </a:lnSpc>
              <a:spcBef>
                <a:spcPts val="1600"/>
              </a:spcBef>
              <a:buChar char="•"/>
            </a:pPr>
            <a:r>
              <a:rPr sz="1350" b="0" dirty="0">
                <a:latin typeface="Quattrocento Sans"/>
              </a:rPr>
              <a:t>Yaw accuracy on the floating table (Req. 2)</a:t>
            </a:r>
          </a:p>
          <a:p>
            <a:pPr marL="300000" indent="-228600">
              <a:lnSpc>
                <a:spcPct val="95000"/>
              </a:lnSpc>
              <a:spcBef>
                <a:spcPts val="1600"/>
              </a:spcBef>
              <a:buChar char="•"/>
            </a:pPr>
            <a:r>
              <a:rPr sz="1350" b="0" dirty="0">
                <a:latin typeface="Quattrocento Sans"/>
              </a:rPr>
              <a:t>Wheel-failure test on the table (Req. 3)</a:t>
            </a:r>
          </a:p>
          <a:p>
            <a:pPr marL="300000" indent="-228600">
              <a:lnSpc>
                <a:spcPct val="95000"/>
              </a:lnSpc>
              <a:spcBef>
                <a:spcPts val="1600"/>
              </a:spcBef>
              <a:buChar char="•"/>
            </a:pPr>
            <a:r>
              <a:rPr sz="1350" b="0" dirty="0">
                <a:latin typeface="Quattrocento Sans"/>
              </a:rPr>
              <a:t>Stretch: 4-attitude slew (needs balance)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Plans: Path to the Final Demo</a:t>
            </a:r>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sp>
        <p:nvSpPr>
          <p:cNvPr id="93" name="TextBox 92"/>
          <p:cNvSpPr txBox="1"/>
          <p:nvPr/>
        </p:nvSpPr>
        <p:spPr>
          <a:xfrm>
            <a:off x="274320" y="4023360"/>
            <a:ext cx="4160520" cy="1678921"/>
          </a:xfrm>
          <a:prstGeom prst="rect">
            <a:avLst/>
          </a:prstGeom>
          <a:noFill/>
        </p:spPr>
        <p:txBody>
          <a:bodyPr wrap="square" lIns="73152" rIns="73152">
            <a:spAutoFit/>
          </a:bodyPr>
          <a:lstStyle/>
          <a:p>
            <a:pPr marL="0" indent="0">
              <a:lnSpc>
                <a:spcPct val="95000"/>
              </a:lnSpc>
              <a:spcBef>
                <a:spcPts val="400"/>
              </a:spcBef>
              <a:buNone/>
            </a:pPr>
            <a:r>
              <a:rPr sz="1300" b="1" dirty="0">
                <a:latin typeface="Quattrocento Sans"/>
              </a:rPr>
              <a:t>Key risks</a:t>
            </a:r>
          </a:p>
          <a:p>
            <a:pPr marL="300000" indent="-228600">
              <a:lnSpc>
                <a:spcPct val="95000"/>
              </a:lnSpc>
              <a:spcBef>
                <a:spcPts val="400"/>
              </a:spcBef>
              <a:buChar char="•"/>
            </a:pPr>
            <a:r>
              <a:rPr sz="1300" b="0" dirty="0">
                <a:latin typeface="Quattrocento Sans"/>
              </a:rPr>
              <a:t>Balance: tilted targets saturate the wheels until the CG is raised</a:t>
            </a:r>
          </a:p>
          <a:p>
            <a:pPr marL="300000" indent="-228600">
              <a:lnSpc>
                <a:spcPct val="95000"/>
              </a:lnSpc>
              <a:spcBef>
                <a:spcPts val="400"/>
              </a:spcBef>
              <a:buChar char="•"/>
            </a:pPr>
            <a:r>
              <a:rPr sz="1300" b="0" dirty="0">
                <a:latin typeface="Quattrocento Sans"/>
              </a:rPr>
              <a:t>Yaw drag fills the wheels in ≈ 6 min (no momentum dumping)</a:t>
            </a:r>
          </a:p>
          <a:p>
            <a:pPr marL="300000" indent="-228600">
              <a:lnSpc>
                <a:spcPct val="95000"/>
              </a:lnSpc>
              <a:spcBef>
                <a:spcPts val="400"/>
              </a:spcBef>
              <a:buChar char="•"/>
            </a:pPr>
            <a:r>
              <a:rPr lang="en-US" dirty="0" sz="1300" b="0">
                <a:latin typeface="Quattrocento Sans"/>
              </a:rPr>
              <a:t>Wheel D encoder lead; spare board’s USB/battery limit</a:t>
            </a:r>
          </a:p>
        </p:txBody>
      </p:sp>
      <p:sp>
        <p:nvSpPr>
          <p:cNvPr id="94" name="TextBox 93"/>
          <p:cNvSpPr txBox="1"/>
          <p:nvPr/>
        </p:nvSpPr>
        <p:spPr>
          <a:xfrm>
            <a:off x="4709160" y="4023360"/>
            <a:ext cx="4160520" cy="1474250"/>
          </a:xfrm>
          <a:prstGeom prst="rect">
            <a:avLst/>
          </a:prstGeom>
          <a:noFill/>
        </p:spPr>
        <p:txBody>
          <a:bodyPr wrap="square" lIns="73152" rIns="73152">
            <a:spAutoFit/>
          </a:bodyPr>
          <a:lstStyle/>
          <a:p>
            <a:pPr marL="0" indent="0">
              <a:lnSpc>
                <a:spcPct val="95000"/>
              </a:lnSpc>
              <a:spcBef>
                <a:spcPts val="400"/>
              </a:spcBef>
              <a:buNone/>
            </a:pPr>
            <a:r>
              <a:rPr sz="1300" b="1" dirty="0">
                <a:latin typeface="Quattrocento Sans"/>
              </a:rPr>
              <a:t>Improvements beyond KestrelSAT</a:t>
            </a:r>
            <a:endParaRPr sz="1400" b="1" dirty="0">
              <a:latin typeface="Quattrocento Sans"/>
            </a:endParaRPr>
          </a:p>
          <a:p>
            <a:pPr marL="300000" indent="-228600">
              <a:lnSpc>
                <a:spcPct val="95000"/>
              </a:lnSpc>
              <a:spcBef>
                <a:spcPts val="400"/>
              </a:spcBef>
              <a:buChar char="•"/>
            </a:pPr>
            <a:r>
              <a:rPr lang="en-US" sz="1300" b="0" dirty="0">
                <a:latin typeface="Quattrocento Sans"/>
              </a:rPr>
              <a:t>Use of the air bearing table</a:t>
            </a:r>
          </a:p>
          <a:p>
            <a:pPr marL="300000" indent="-228600">
              <a:lnSpc>
                <a:spcPct val="95000"/>
              </a:lnSpc>
              <a:spcBef>
                <a:spcPts val="400"/>
              </a:spcBef>
              <a:buChar char="•"/>
            </a:pPr>
            <a:r>
              <a:rPr sz="1300" b="0" dirty="0">
                <a:latin typeface="Quattrocento Sans"/>
              </a:rPr>
              <a:t>Magnetometer aid that works with spinning wheels</a:t>
            </a:r>
          </a:p>
          <a:p>
            <a:pPr marL="300000" indent="-228600">
              <a:lnSpc>
                <a:spcPct val="95000"/>
              </a:lnSpc>
              <a:spcBef>
                <a:spcPts val="400"/>
              </a:spcBef>
              <a:buChar char="•"/>
            </a:pPr>
            <a:r>
              <a:rPr sz="1300" b="0" dirty="0">
                <a:latin typeface="Quattrocento Sans"/>
              </a:rPr>
              <a:t>Automatic wheel-failure detection</a:t>
            </a:r>
            <a:endParaRPr sz="1400" b="0" dirty="0">
              <a:latin typeface="Quattrocento Sans"/>
            </a:endParaRPr>
          </a:p>
          <a:p>
            <a:pPr marL="300000" indent="-228600">
              <a:lnSpc>
                <a:spcPct val="95000"/>
              </a:lnSpc>
              <a:spcBef>
                <a:spcPts val="400"/>
              </a:spcBef>
              <a:buChar char="•"/>
            </a:pPr>
            <a:r>
              <a:rPr sz="1300" b="0" dirty="0">
                <a:latin typeface="Quattrocento Sans"/>
              </a:rPr>
              <a:t>Tests that run and grade themselves on board</a:t>
            </a:r>
            <a:endParaRPr sz="1400" b="0" dirty="0">
              <a:latin typeface="Quattrocento Sans"/>
            </a:endParaRPr>
          </a:p>
        </p:txBody>
      </p:sp>
      <p:graphicFrame>
        <p:nvGraphicFramePr>
          <p:cNvPr id="95" name="Table 94"/>
          <p:cNvGraphicFramePr>
            <a:graphicFrameLocks noGrp="1"/>
          </p:cNvGraphicFramePr>
          <p:nvPr/>
        </p:nvGraphicFramePr>
        <p:xfrm>
          <a:off x="274320" y="960120"/>
          <a:ext cx="8595360" cy="2670048"/>
        </p:xfrm>
        <a:graphic>
          <a:graphicData uri="http://schemas.openxmlformats.org/drawingml/2006/table">
            <a:tbl>
              <a:tblPr firstRow="1" bandRow="1">
                <a:tableStyleId>{5C22544A-7EE6-4342-B048-85BDC9FD1C3A}</a:tableStyleId>
              </a:tblPr>
              <a:tblGrid>
                <a:gridCol w="365760"/>
                <a:gridCol w="5120640"/>
                <a:gridCol w="1371600"/>
                <a:gridCol w="1737360"/>
              </a:tblGrid>
              <a:tr h="384048">
                <a:tc>
                  <a:txBody>
                    <a:bodyPr wrap="square"/>
                    <a:lstStyle/>
                    <a:p>
                      <a:r>
                        <a:rPr sz="1350" b="1" i="0">
                          <a:solidFill>
                            <a:srgbClr val="FFFFFF"/>
                          </a:solidFill>
                          <a:latin typeface="Quattrocento Sans"/>
                        </a:rPr>
                        <a:t>#</a:t>
                      </a:r>
                    </a:p>
                  </a:txBody>
                  <a:tcPr marL="64008" marR="64008" marT="27432" marB="27432" anchor="ctr">
                    <a:solidFill>
                      <a:srgbClr val="404040"/>
                    </a:solidFill>
                  </a:tcPr>
                </a:tc>
                <a:tc>
                  <a:txBody>
                    <a:bodyPr wrap="square"/>
                    <a:lstStyle/>
                    <a:p>
                      <a:r>
                        <a:rPr sz="1350" b="1" i="0">
                          <a:solidFill>
                            <a:srgbClr val="FFFFFF"/>
                          </a:solidFill>
                          <a:latin typeface="Quattrocento Sans"/>
                        </a:rPr>
                        <a:t>Next task</a:t>
                      </a:r>
                    </a:p>
                  </a:txBody>
                  <a:tcPr marL="64008" marR="64008" marT="27432" marB="27432" anchor="ctr">
                    <a:solidFill>
                      <a:srgbClr val="404040"/>
                    </a:solidFill>
                  </a:tcPr>
                </a:tc>
                <a:tc>
                  <a:txBody>
                    <a:bodyPr wrap="square"/>
                    <a:lstStyle/>
                    <a:p>
                      <a:r>
                        <a:rPr sz="1350" b="1" i="0">
                          <a:solidFill>
                            <a:srgbClr val="FFFFFF"/>
                          </a:solidFill>
                          <a:latin typeface="Quattrocento Sans"/>
                        </a:rPr>
                        <a:t>Verifies</a:t>
                      </a:r>
                    </a:p>
                  </a:txBody>
                  <a:tcPr marL="64008" marR="64008" marT="27432" marB="27432" anchor="ctr">
                    <a:solidFill>
                      <a:srgbClr val="404040"/>
                    </a:solidFill>
                  </a:tcPr>
                </a:tc>
                <a:tc>
                  <a:txBody>
                    <a:bodyPr wrap="square"/>
                    <a:lstStyle/>
                    <a:p>
                      <a:r>
                        <a:rPr sz="1350" b="1" i="0">
                          <a:solidFill>
                            <a:srgbClr val="FFFFFF"/>
                          </a:solidFill>
                          <a:latin typeface="Quattrocento Sans"/>
                        </a:rPr>
                        <a:t>Needs</a:t>
                      </a:r>
                    </a:p>
                  </a:txBody>
                  <a:tcPr marL="64008" marR="64008" marT="27432" marB="27432" anchor="ctr">
                    <a:solidFill>
                      <a:srgbClr val="404040"/>
                    </a:solidFill>
                  </a:tcPr>
                </a:tc>
              </a:tr>
              <a:tr h="457200">
                <a:tc>
                  <a:txBody>
                    <a:bodyPr wrap="square"/>
                    <a:lstStyle/>
                    <a:p>
                      <a:r>
                        <a:rPr sz="1300" b="0" i="0">
                          <a:solidFill>
                            <a:srgbClr val="1F2933"/>
                          </a:solidFill>
                          <a:latin typeface="Quattrocento Sans"/>
                        </a:rPr>
                        <a:t>1</a:t>
                      </a:r>
                    </a:p>
                  </a:txBody>
                  <a:tcPr marL="64008" marR="64008" marT="27432" marB="27432" anchor="ctr">
                    <a:solidFill>
                      <a:srgbClr val="FFFFFF"/>
                    </a:solidFill>
                  </a:tcPr>
                </a:tc>
                <a:tc>
                  <a:txBody>
                    <a:bodyPr wrap="square"/>
                    <a:lstStyle/>
                    <a:p>
                      <a:r>
                        <a:rPr sz="1300" b="0" i="0">
                          <a:solidFill>
                            <a:srgbClr val="1F2933"/>
                          </a:solidFill>
                          <a:latin typeface="Quattrocento Sans"/>
                        </a:rPr>
                        <a:t>Upload; LEVEL ZERO (IMU mount) and STEP TEST (inertia, gains)</a:t>
                      </a:r>
                    </a:p>
                  </a:txBody>
                  <a:tcPr marL="64008" marR="64008" marT="27432" marB="27432" anchor="ctr">
                    <a:solidFill>
                      <a:srgbClr val="FFFFFF"/>
                    </a:solidFill>
                  </a:tcPr>
                </a:tc>
                <a:tc>
                  <a:txBody>
                    <a:bodyPr wrap="square"/>
                    <a:lstStyle/>
                    <a:p>
                      <a:r>
                        <a:rPr sz="1300" b="0" i="0">
                          <a:solidFill>
                            <a:srgbClr val="1F2933"/>
                          </a:solidFill>
                          <a:latin typeface="Quattrocento Sans"/>
                        </a:rPr>
                        <a:t>Req. 1, 2</a:t>
                      </a:r>
                    </a:p>
                  </a:txBody>
                  <a:tcPr marL="64008" marR="64008" marT="27432" marB="27432" anchor="ctr">
                    <a:solidFill>
                      <a:srgbClr val="FFFFFF"/>
                    </a:solidFill>
                  </a:tcPr>
                </a:tc>
                <a:tc>
                  <a:txBody>
                    <a:bodyPr wrap="square"/>
                    <a:lstStyle/>
                    <a:p>
                      <a:r>
                        <a:rPr sz="1300" b="0" i="0">
                          <a:solidFill>
                            <a:srgbClr val="1F2933"/>
                          </a:solidFill>
                          <a:latin typeface="Quattrocento Sans"/>
                        </a:rPr>
                        <a:t>Table time</a:t>
                      </a:r>
                    </a:p>
                  </a:txBody>
                  <a:tcPr marL="64008" marR="64008" marT="27432" marB="27432" anchor="ctr">
                    <a:solidFill>
                      <a:srgbClr val="FFFFFF"/>
                    </a:solidFill>
                  </a:tcPr>
                </a:tc>
              </a:tr>
              <a:tr h="457200">
                <a:tc>
                  <a:txBody>
                    <a:bodyPr wrap="square"/>
                    <a:lstStyle/>
                    <a:p>
                      <a:r>
                        <a:rPr sz="1300" b="0" i="0">
                          <a:solidFill>
                            <a:srgbClr val="1F2933"/>
                          </a:solidFill>
                          <a:latin typeface="Quattrocento Sans"/>
                        </a:rPr>
                        <a:t>2</a:t>
                      </a:r>
                    </a:p>
                  </a:txBody>
                  <a:tcPr marL="64008" marR="64008" marT="27432" marB="27432" anchor="ctr">
                    <a:solidFill>
                      <a:srgbClr val="F4F5F7"/>
                    </a:solidFill>
                  </a:tcPr>
                </a:tc>
                <a:tc>
                  <a:txBody>
                    <a:bodyPr wrap="square"/>
                    <a:lstStyle/>
                    <a:p>
                      <a:r>
                        <a:rPr sz="1300" b="0" i="0">
                          <a:solidFill>
                            <a:srgbClr val="1F2933"/>
                          </a:solidFill>
                          <a:latin typeface="Quattrocento Sans"/>
                        </a:rPr>
                        <a:t>DEMO LEVEL heading hold with the aid on vs off</a:t>
                      </a:r>
                    </a:p>
                  </a:txBody>
                  <a:tcPr marL="64008" marR="64008" marT="27432" marB="27432" anchor="ctr">
                    <a:solidFill>
                      <a:srgbClr val="F4F5F7"/>
                    </a:solidFill>
                  </a:tcPr>
                </a:tc>
                <a:tc>
                  <a:txBody>
                    <a:bodyPr wrap="square"/>
                    <a:lstStyle/>
                    <a:p>
                      <a:r>
                        <a:rPr sz="1300" b="0" i="0">
                          <a:solidFill>
                            <a:srgbClr val="1F2933"/>
                          </a:solidFill>
                          <a:latin typeface="Quattrocento Sans"/>
                        </a:rPr>
                        <a:t>Req. 1, 2</a:t>
                      </a:r>
                    </a:p>
                  </a:txBody>
                  <a:tcPr marL="64008" marR="64008" marT="27432" marB="27432" anchor="ctr">
                    <a:solidFill>
                      <a:srgbClr val="F4F5F7"/>
                    </a:solidFill>
                  </a:tcPr>
                </a:tc>
                <a:tc>
                  <a:txBody>
                    <a:bodyPr wrap="square"/>
                    <a:lstStyle/>
                    <a:p>
                      <a:r>
                        <a:rPr sz="1300" b="0" i="0">
                          <a:solidFill>
                            <a:srgbClr val="1F2933"/>
                          </a:solidFill>
                          <a:latin typeface="Quattrocento Sans"/>
                        </a:rPr>
                        <a:t>—</a:t>
                      </a:r>
                    </a:p>
                  </a:txBody>
                  <a:tcPr marL="64008" marR="64008" marT="27432" marB="27432" anchor="ctr">
                    <a:solidFill>
                      <a:srgbClr val="F4F5F7"/>
                    </a:solidFill>
                  </a:tcPr>
                </a:tc>
              </a:tr>
              <a:tr h="457200">
                <a:tc>
                  <a:txBody>
                    <a:bodyPr wrap="square"/>
                    <a:lstStyle/>
                    <a:p>
                      <a:r>
                        <a:rPr sz="1300" b="0" i="0">
                          <a:solidFill>
                            <a:srgbClr val="1F2933"/>
                          </a:solidFill>
                          <a:latin typeface="Quattrocento Sans"/>
                        </a:rPr>
                        <a:t>3</a:t>
                      </a:r>
                    </a:p>
                  </a:txBody>
                  <a:tcPr marL="64008" marR="64008" marT="27432" marB="27432" anchor="ctr">
                    <a:solidFill>
                      <a:srgbClr val="FFFFFF"/>
                    </a:solidFill>
                  </a:tcPr>
                </a:tc>
                <a:tc>
                  <a:txBody>
                    <a:bodyPr wrap="square"/>
                    <a:lstStyle/>
                    <a:p>
                      <a:r>
                        <a:rPr sz="1300" b="0" i="0">
                          <a:solidFill>
                            <a:srgbClr val="1F2933"/>
                          </a:solidFill>
                          <a:latin typeface="Quattrocento Sans"/>
                        </a:rPr>
                        <a:t>FAULT TEST on the floating table</a:t>
                      </a:r>
                    </a:p>
                  </a:txBody>
                  <a:tcPr marL="64008" marR="64008" marT="27432" marB="27432" anchor="ctr">
                    <a:solidFill>
                      <a:srgbClr val="FFFFFF"/>
                    </a:solidFill>
                  </a:tcPr>
                </a:tc>
                <a:tc>
                  <a:txBody>
                    <a:bodyPr wrap="square"/>
                    <a:lstStyle/>
                    <a:p>
                      <a:r>
                        <a:rPr sz="1300" b="0" i="0">
                          <a:solidFill>
                            <a:srgbClr val="1F2933"/>
                          </a:solidFill>
                          <a:latin typeface="Quattrocento Sans"/>
                        </a:rPr>
                        <a:t>Req. 3</a:t>
                      </a:r>
                    </a:p>
                  </a:txBody>
                  <a:tcPr marL="64008" marR="64008" marT="27432" marB="27432" anchor="ctr">
                    <a:solidFill>
                      <a:srgbClr val="FFFFFF"/>
                    </a:solidFill>
                  </a:tcPr>
                </a:tc>
                <a:tc>
                  <a:txBody>
                    <a:bodyPr wrap="square"/>
                    <a:lstStyle/>
                    <a:p>
                      <a:r>
                        <a:rPr sz="1300" b="0" i="0">
                          <a:solidFill>
                            <a:srgbClr val="1F2933"/>
                          </a:solidFill>
                          <a:latin typeface="Quattrocento Sans"/>
                        </a:rPr>
                        <a:t>Solder wheel D lead</a:t>
                      </a:r>
                    </a:p>
                  </a:txBody>
                  <a:tcPr marL="64008" marR="64008" marT="27432" marB="27432" anchor="ctr">
                    <a:solidFill>
                      <a:srgbClr val="FFFFFF"/>
                    </a:solidFill>
                  </a:tcPr>
                </a:tc>
              </a:tr>
              <a:tr h="457200">
                <a:tc>
                  <a:txBody>
                    <a:bodyPr wrap="square"/>
                    <a:lstStyle/>
                    <a:p>
                      <a:r>
                        <a:rPr sz="1300" b="0" i="0">
                          <a:solidFill>
                            <a:srgbClr val="1F2933"/>
                          </a:solidFill>
                          <a:latin typeface="Quattrocento Sans"/>
                        </a:rPr>
                        <a:t>4</a:t>
                      </a:r>
                    </a:p>
                  </a:txBody>
                  <a:tcPr marL="64008" marR="64008" marT="27432" marB="27432" anchor="ctr">
                    <a:solidFill>
                      <a:srgbClr val="F4F5F7"/>
                    </a:solidFill>
                  </a:tcPr>
                </a:tc>
                <a:tc>
                  <a:txBody>
                    <a:bodyPr wrap="square"/>
                    <a:lstStyle/>
                    <a:p>
                      <a:r>
                        <a:rPr sz="1300" b="0" i="0">
                          <a:solidFill>
                            <a:srgbClr val="1F2933"/>
                          </a:solidFill>
                          <a:latin typeface="Quattrocento Sans"/>
                        </a:rPr>
                        <a:t>Hard-iron fit from a full yaw turn</a:t>
                      </a:r>
                    </a:p>
                  </a:txBody>
                  <a:tcPr marL="64008" marR="64008" marT="27432" marB="27432" anchor="ctr">
                    <a:solidFill>
                      <a:srgbClr val="F4F5F7"/>
                    </a:solidFill>
                  </a:tcPr>
                </a:tc>
                <a:tc>
                  <a:txBody>
                    <a:bodyPr wrap="square"/>
                    <a:lstStyle/>
                    <a:p>
                      <a:r>
                        <a:rPr sz="1300" b="0" i="0">
                          <a:solidFill>
                            <a:srgbClr val="1F2933"/>
                          </a:solidFill>
                          <a:latin typeface="Quattrocento Sans"/>
                        </a:rPr>
                        <a:t>Req. 2</a:t>
                      </a:r>
                    </a:p>
                  </a:txBody>
                  <a:tcPr marL="64008" marR="64008" marT="27432" marB="27432" anchor="ctr">
                    <a:solidFill>
                      <a:srgbClr val="F4F5F7"/>
                    </a:solidFill>
                  </a:tcPr>
                </a:tc>
                <a:tc>
                  <a:txBody>
                    <a:bodyPr wrap="square"/>
                    <a:lstStyle/>
                    <a:p>
                      <a:r>
                        <a:rPr sz="1300" b="0" i="0">
                          <a:solidFill>
                            <a:srgbClr val="1F2933"/>
                          </a:solidFill>
                          <a:latin typeface="Quattrocento Sans"/>
                        </a:rPr>
                        <a:t>—</a:t>
                      </a:r>
                    </a:p>
                  </a:txBody>
                  <a:tcPr marL="64008" marR="64008" marT="27432" marB="27432" anchor="ctr">
                    <a:solidFill>
                      <a:srgbClr val="F4F5F7"/>
                    </a:solidFill>
                  </a:tcPr>
                </a:tc>
              </a:tr>
              <a:tr h="457200">
                <a:tc>
                  <a:txBody>
                    <a:bodyPr wrap="square"/>
                    <a:lstStyle/>
                    <a:p>
                      <a:r>
                        <a:rPr sz="1300" b="0" i="0">
                          <a:solidFill>
                            <a:srgbClr val="1F2933"/>
                          </a:solidFill>
                          <a:latin typeface="Quattrocento Sans"/>
                        </a:rPr>
                        <a:t>5</a:t>
                      </a:r>
                    </a:p>
                  </a:txBody>
                  <a:tcPr marL="64008" marR="64008" marT="27432" marB="27432" anchor="ctr">
                    <a:solidFill>
                      <a:srgbClr val="FFFFFF"/>
                    </a:solidFill>
                  </a:tcPr>
                </a:tc>
                <a:tc>
                  <a:txBody>
                    <a:bodyPr wrap="square"/>
                    <a:lstStyle/>
                    <a:p>
                      <a:r>
                        <a:rPr sz="1300" b="0" i="0">
                          <a:solidFill>
                            <a:srgbClr val="1F2933"/>
                          </a:solidFill>
                          <a:latin typeface="Quattrocento Sans"/>
                        </a:rPr>
                        <a:t>Raise CG ≈ 4.4 mm (balance tool), then SLEW TEST</a:t>
                      </a:r>
                    </a:p>
                  </a:txBody>
                  <a:tcPr marL="64008" marR="64008" marT="27432" marB="27432" anchor="ctr">
                    <a:solidFill>
                      <a:srgbClr val="FFFFFF"/>
                    </a:solidFill>
                  </a:tcPr>
                </a:tc>
                <a:tc>
                  <a:txBody>
                    <a:bodyPr wrap="square"/>
                    <a:lstStyle/>
                    <a:p>
                      <a:r>
                        <a:rPr sz="1300" b="0" i="0">
                          <a:solidFill>
                            <a:srgbClr val="1F2933"/>
                          </a:solidFill>
                          <a:latin typeface="Quattrocento Sans"/>
                        </a:rPr>
                        <a:t>Stretch</a:t>
                      </a:r>
                    </a:p>
                  </a:txBody>
                  <a:tcPr marL="64008" marR="64008" marT="27432" marB="27432" anchor="ctr">
                    <a:solidFill>
                      <a:srgbClr val="FFFFFF"/>
                    </a:solidFill>
                  </a:tcPr>
                </a:tc>
                <a:tc>
                  <a:txBody>
                    <a:bodyPr wrap="square"/>
                    <a:lstStyle/>
                    <a:p>
                      <a:r>
                        <a:rPr sz="1300" b="0" i="0">
                          <a:solidFill>
                            <a:srgbClr val="1F2933"/>
                          </a:solidFill>
                          <a:latin typeface="Quattrocento Sans"/>
                        </a:rPr>
                        <a:t>Trim mass</a:t>
                      </a:r>
                    </a:p>
                  </a:txBody>
                  <a:tcPr marL="64008" marR="64008" marT="27432" marB="27432"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GenAI Use Documentation</a:t>
            </a:r>
          </a:p>
        </p:txBody>
      </p:sp>
      <p:sp>
        <p:nvSpPr>
          <p:cNvPr id="3" name="Text Placeholder 2"/>
          <p:cNvSpPr>
            <a:spLocks noGrp="1"/>
          </p:cNvSpPr>
          <p:nvPr>
            <p:ph type="body" idx="1"/>
          </p:nvPr>
        </p:nvSpPr>
        <p:spPr>
          <a:xfrm>
            <a:off x="201168" y="914400"/>
            <a:ext cx="8741664" cy="5440680"/>
          </a:xfrm>
        </p:spPr>
        <p:txBody>
          <a:bodyPr wrap="square">
            <a:normAutofit/>
          </a:bodyPr>
          <a:lstStyle/>
          <a:p>
            <a:pPr marL="285750" indent="-285750">
              <a:lnSpc>
                <a:spcPct val="95000"/>
              </a:lnSpc>
              <a:spcBef>
                <a:spcPts val="1400"/>
              </a:spcBef>
            </a:pPr>
            <a:r>
              <a:rPr lang="en-US" sz="1800" b="1" dirty="0"/>
              <a:t>Primary </a:t>
            </a:r>
            <a:r>
              <a:rPr sz="1800" b="1" dirty="0"/>
              <a:t>Tool: Claude Code</a:t>
            </a:r>
            <a:r>
              <a:rPr lang="en-US" sz="1800" b="1" dirty="0"/>
              <a:t>, Opus Model</a:t>
            </a:r>
          </a:p>
          <a:p>
            <a:pPr marL="742950" lvl="1" indent="-285750">
              <a:lnSpc>
                <a:spcPct val="95000"/>
              </a:lnSpc>
              <a:spcBef>
                <a:spcPts val="1400"/>
              </a:spcBef>
            </a:pPr>
            <a:r>
              <a:rPr sz="1400" b="0" dirty="0"/>
              <a:t>Firmware: drafted the EKF and magnetometer aid, controller, allocation, fault detector, IMU driver, logger, command set and the self-grading tests, from the team’s requirements and design decisions; the team reviewed, uploaded and tested every build</a:t>
            </a:r>
          </a:p>
          <a:p>
            <a:pPr marL="757200" lvl="1" indent="-228600">
              <a:lnSpc>
                <a:spcPct val="95000"/>
              </a:lnSpc>
              <a:spcBef>
                <a:spcPts val="1400"/>
              </a:spcBef>
            </a:pPr>
            <a:r>
              <a:rPr sz="1400" b="0" dirty="0"/>
              <a:t>Simulation and analysis: wrote the truth models, the log-replay and balance tools and the plots; the team ran the tests and checked the conclusions</a:t>
            </a:r>
          </a:p>
          <a:p>
            <a:pPr marL="757200" lvl="1" indent="-228600">
              <a:lnSpc>
                <a:spcPct val="95000"/>
              </a:lnSpc>
              <a:spcBef>
                <a:spcPts val="1400"/>
              </a:spcBef>
            </a:pPr>
            <a:r>
              <a:rPr sz="1400" b="0" dirty="0"/>
              <a:t>Documentation: CLAUDE.md, TODO.md, PROGRESS_LOG.md, test reports and drafts of these slides</a:t>
            </a:r>
          </a:p>
          <a:p>
            <a:pPr marL="300000" indent="-228600">
              <a:lnSpc>
                <a:spcPct val="95000"/>
              </a:lnSpc>
              <a:spcBef>
                <a:spcPts val="1400"/>
              </a:spcBef>
              <a:buChar char="•"/>
            </a:pPr>
            <a:r>
              <a:rPr sz="1800" b="0" dirty="0"/>
              <a:t>Team-owned: hardware build, wiring and power system, requirement and design decisions, </a:t>
            </a:r>
            <a:r>
              <a:rPr lang="en-US" sz="1800" b="0" dirty="0"/>
              <a:t>test design, execution</a:t>
            </a:r>
            <a:r>
              <a:rPr sz="1800" b="0" dirty="0"/>
              <a:t>, and final review of every result</a:t>
            </a:r>
          </a:p>
          <a:p>
            <a:pPr marL="300000" indent="-228600">
              <a:lnSpc>
                <a:spcPct val="95000"/>
              </a:lnSpc>
              <a:spcBef>
                <a:spcPts val="1400"/>
              </a:spcBef>
              <a:buChar char="•"/>
            </a:pPr>
            <a:r>
              <a:rPr sz="1800" b="0" dirty="0"/>
              <a:t>Full record of work: PROGRESS_LOG.md and the git history in the team repository</a:t>
            </a:r>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Attitude Control Matters</a:t>
            </a:r>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92" name="Rounded Rectangle 91"/>
          <p:cNvSpPr/>
          <p:nvPr/>
        </p:nvSpPr>
        <p:spPr>
          <a:xfrm>
            <a:off x="274320" y="1005840"/>
            <a:ext cx="2743200" cy="3794760"/>
          </a:xfrm>
          <a:prstGeom prst="roundRect">
            <a:avLst>
              <a:gd name="adj" fmla="val 5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Oval 92"/>
          <p:cNvSpPr/>
          <p:nvPr/>
        </p:nvSpPr>
        <p:spPr>
          <a:xfrm>
            <a:off x="1298448" y="1188720"/>
            <a:ext cx="694944" cy="694944"/>
          </a:xfrm>
          <a:prstGeom prst="ellipse">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i="0">
                <a:solidFill>
                  <a:srgbClr val="FFFFFF"/>
                </a:solidFill>
                <a:latin typeface="Quattrocento Sans"/>
              </a:rPr>
              <a:t>1</a:t>
            </a:r>
          </a:p>
        </p:txBody>
      </p:sp>
      <p:sp>
        <p:nvSpPr>
          <p:cNvPr id="94" name="TextBox 93"/>
          <p:cNvSpPr txBox="1"/>
          <p:nvPr/>
        </p:nvSpPr>
        <p:spPr>
          <a:xfrm>
            <a:off x="365760" y="1965960"/>
            <a:ext cx="2560320" cy="457200"/>
          </a:xfrm>
          <a:prstGeom prst="rect">
            <a:avLst/>
          </a:prstGeom>
          <a:noFill/>
        </p:spPr>
        <p:txBody>
          <a:bodyPr wrap="square" anchor="t" lIns="73152" rIns="73152" tIns="73152" bIns="73152">
            <a:spAutoFit/>
          </a:bodyPr>
          <a:lstStyle/>
          <a:p>
            <a:pPr marL="0" indent="0" algn="ctr">
              <a:lnSpc>
                <a:spcPct val="95000"/>
              </a:lnSpc>
              <a:spcBef>
                <a:spcPts val="400"/>
              </a:spcBef>
              <a:buNone/>
            </a:pPr>
            <a:r>
              <a:rPr sz="2200" b="1" i="0">
                <a:solidFill>
                  <a:srgbClr val="2F5D8A"/>
                </a:solidFill>
                <a:latin typeface="Quattrocento Sans"/>
              </a:rPr>
              <a:t>POINT</a:t>
            </a:r>
          </a:p>
        </p:txBody>
      </p:sp>
      <p:sp>
        <p:nvSpPr>
          <p:cNvPr id="95" name="TextBox 94"/>
          <p:cNvSpPr txBox="1"/>
          <p:nvPr/>
        </p:nvSpPr>
        <p:spPr>
          <a:xfrm>
            <a:off x="411479" y="2468880"/>
            <a:ext cx="2468880" cy="1737360"/>
          </a:xfrm>
          <a:prstGeom prst="rect">
            <a:avLst/>
          </a:prstGeom>
          <a:noFill/>
        </p:spPr>
        <p:txBody>
          <a:bodyPr wrap="square" anchor="t" lIns="73152" rIns="73152" tIns="73152" bIns="73152">
            <a:spAutoFit/>
          </a:bodyPr>
          <a:lstStyle/>
          <a:p>
            <a:pPr marL="0" indent="0">
              <a:lnSpc>
                <a:spcPct val="95000"/>
              </a:lnSpc>
              <a:spcBef>
                <a:spcPts val="400"/>
              </a:spcBef>
              <a:buNone/>
            </a:pPr>
            <a:r>
              <a:rPr sz="1450" b="0" i="0">
                <a:solidFill>
                  <a:srgbClr val="1F2933"/>
                </a:solidFill>
                <a:latin typeface="Quattrocento Sans"/>
              </a:rPr>
              <a:t>Antennas, solar arrays and cameras only work when aimed. Reaction wheels give fine, continuous torque with no propellant.</a:t>
            </a:r>
          </a:p>
        </p:txBody>
      </p:sp>
      <p:sp>
        <p:nvSpPr>
          <p:cNvPr id="96" name="TextBox 95"/>
          <p:cNvSpPr txBox="1"/>
          <p:nvPr/>
        </p:nvSpPr>
        <p:spPr>
          <a:xfrm>
            <a:off x="411479" y="4224528"/>
            <a:ext cx="2468880" cy="457200"/>
          </a:xfrm>
          <a:prstGeom prst="rect">
            <a:avLst/>
          </a:prstGeom>
          <a:solidFill>
            <a:srgbClr val="E8F3EC"/>
          </a:solidFill>
        </p:spPr>
        <p:txBody>
          <a:bodyPr wrap="square" anchor="ctr" lIns="73152" rIns="73152" tIns="73152" bIns="73152">
            <a:spAutoFit/>
          </a:bodyPr>
          <a:lstStyle/>
          <a:p>
            <a:pPr marL="0" indent="0" algn="ctr">
              <a:lnSpc>
                <a:spcPct val="95000"/>
              </a:lnSpc>
              <a:spcBef>
                <a:spcPts val="400"/>
              </a:spcBef>
              <a:buNone/>
            </a:pPr>
            <a:r>
              <a:rPr sz="1450" b="1" i="0">
                <a:solidFill>
                  <a:srgbClr val="2E7D4F"/>
                </a:solidFill>
                <a:latin typeface="Quattrocento Sans"/>
              </a:rPr>
              <a:t>Req. 1: hold a heading</a:t>
            </a:r>
          </a:p>
        </p:txBody>
      </p:sp>
      <p:sp>
        <p:nvSpPr>
          <p:cNvPr id="97" name="Rounded Rectangle 96"/>
          <p:cNvSpPr/>
          <p:nvPr/>
        </p:nvSpPr>
        <p:spPr>
          <a:xfrm>
            <a:off x="3182112" y="1005840"/>
            <a:ext cx="2743200" cy="3794760"/>
          </a:xfrm>
          <a:prstGeom prst="roundRect">
            <a:avLst>
              <a:gd name="adj" fmla="val 5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Oval 97"/>
          <p:cNvSpPr/>
          <p:nvPr/>
        </p:nvSpPr>
        <p:spPr>
          <a:xfrm>
            <a:off x="4206240" y="1188720"/>
            <a:ext cx="694944" cy="694944"/>
          </a:xfrm>
          <a:prstGeom prst="ellipse">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i="0">
                <a:solidFill>
                  <a:srgbClr val="FFFFFF"/>
                </a:solidFill>
                <a:latin typeface="Quattrocento Sans"/>
              </a:rPr>
              <a:t>2</a:t>
            </a:r>
          </a:p>
        </p:txBody>
      </p:sp>
      <p:sp>
        <p:nvSpPr>
          <p:cNvPr id="99" name="TextBox 98"/>
          <p:cNvSpPr txBox="1"/>
          <p:nvPr/>
        </p:nvSpPr>
        <p:spPr>
          <a:xfrm>
            <a:off x="3273552" y="1965960"/>
            <a:ext cx="2560320" cy="457200"/>
          </a:xfrm>
          <a:prstGeom prst="rect">
            <a:avLst/>
          </a:prstGeom>
          <a:noFill/>
        </p:spPr>
        <p:txBody>
          <a:bodyPr wrap="square" anchor="t" lIns="73152" rIns="73152" tIns="73152" bIns="73152">
            <a:spAutoFit/>
          </a:bodyPr>
          <a:lstStyle/>
          <a:p>
            <a:pPr marL="0" indent="0" algn="ctr">
              <a:lnSpc>
                <a:spcPct val="95000"/>
              </a:lnSpc>
              <a:spcBef>
                <a:spcPts val="400"/>
              </a:spcBef>
              <a:buNone/>
            </a:pPr>
            <a:r>
              <a:rPr sz="2200" b="1" i="0">
                <a:solidFill>
                  <a:srgbClr val="2F5D8A"/>
                </a:solidFill>
                <a:latin typeface="Quattrocento Sans"/>
              </a:rPr>
              <a:t>KNOW</a:t>
            </a:r>
          </a:p>
        </p:txBody>
      </p:sp>
      <p:sp>
        <p:nvSpPr>
          <p:cNvPr id="100" name="TextBox 99"/>
          <p:cNvSpPr txBox="1"/>
          <p:nvPr/>
        </p:nvSpPr>
        <p:spPr>
          <a:xfrm>
            <a:off x="3319272" y="2468880"/>
            <a:ext cx="2468880" cy="1737360"/>
          </a:xfrm>
          <a:prstGeom prst="rect">
            <a:avLst/>
          </a:prstGeom>
          <a:noFill/>
        </p:spPr>
        <p:txBody>
          <a:bodyPr wrap="square" anchor="t" lIns="73152" rIns="73152" tIns="73152" bIns="73152">
            <a:spAutoFit/>
          </a:bodyPr>
          <a:lstStyle/>
          <a:p>
            <a:pPr marL="0" indent="0">
              <a:lnSpc>
                <a:spcPct val="95000"/>
              </a:lnSpc>
              <a:spcBef>
                <a:spcPts val="400"/>
              </a:spcBef>
              <a:buNone/>
            </a:pPr>
            <a:r>
              <a:rPr sz="1450" b="0" i="0">
                <a:solidFill>
                  <a:srgbClr val="1F2933"/>
                </a:solidFill>
                <a:latin typeface="Quattrocento Sans"/>
              </a:rPr>
              <a:t>You can only point what you can measure. Sensor fusion turns noisy gyros, accelerometers and magnetometers into one attitude estimate.</a:t>
            </a:r>
          </a:p>
        </p:txBody>
      </p:sp>
      <p:sp>
        <p:nvSpPr>
          <p:cNvPr id="101" name="TextBox 100"/>
          <p:cNvSpPr txBox="1"/>
          <p:nvPr/>
        </p:nvSpPr>
        <p:spPr>
          <a:xfrm>
            <a:off x="3319272" y="4224528"/>
            <a:ext cx="2468880" cy="457200"/>
          </a:xfrm>
          <a:prstGeom prst="rect">
            <a:avLst/>
          </a:prstGeom>
          <a:solidFill>
            <a:srgbClr val="E8F3EC"/>
          </a:solidFill>
        </p:spPr>
        <p:txBody>
          <a:bodyPr wrap="square" anchor="ctr" lIns="73152" rIns="73152" tIns="73152" bIns="73152">
            <a:spAutoFit/>
          </a:bodyPr>
          <a:lstStyle/>
          <a:p>
            <a:pPr marL="0" indent="0" algn="ctr">
              <a:lnSpc>
                <a:spcPct val="95000"/>
              </a:lnSpc>
              <a:spcBef>
                <a:spcPts val="400"/>
              </a:spcBef>
              <a:buNone/>
            </a:pPr>
            <a:r>
              <a:rPr sz="1450" b="1" i="0">
                <a:solidFill>
                  <a:srgbClr val="2E7D4F"/>
                </a:solidFill>
                <a:latin typeface="Quattrocento Sans"/>
              </a:rPr>
              <a:t>Req. 2: attitude to ±1°</a:t>
            </a:r>
          </a:p>
        </p:txBody>
      </p:sp>
      <p:sp>
        <p:nvSpPr>
          <p:cNvPr id="102" name="Rounded Rectangle 101"/>
          <p:cNvSpPr/>
          <p:nvPr/>
        </p:nvSpPr>
        <p:spPr>
          <a:xfrm>
            <a:off x="6089904" y="1005840"/>
            <a:ext cx="2743200" cy="3794760"/>
          </a:xfrm>
          <a:prstGeom prst="roundRect">
            <a:avLst>
              <a:gd name="adj" fmla="val 5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Oval 102"/>
          <p:cNvSpPr/>
          <p:nvPr/>
        </p:nvSpPr>
        <p:spPr>
          <a:xfrm>
            <a:off x="7114032" y="1188720"/>
            <a:ext cx="694944" cy="694944"/>
          </a:xfrm>
          <a:prstGeom prst="ellipse">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i="0">
                <a:solidFill>
                  <a:srgbClr val="FFFFFF"/>
                </a:solidFill>
                <a:latin typeface="Quattrocento Sans"/>
              </a:rPr>
              <a:t>3</a:t>
            </a:r>
          </a:p>
        </p:txBody>
      </p:sp>
      <p:sp>
        <p:nvSpPr>
          <p:cNvPr id="104" name="TextBox 103"/>
          <p:cNvSpPr txBox="1"/>
          <p:nvPr/>
        </p:nvSpPr>
        <p:spPr>
          <a:xfrm>
            <a:off x="6181344" y="1965960"/>
            <a:ext cx="2560320" cy="457200"/>
          </a:xfrm>
          <a:prstGeom prst="rect">
            <a:avLst/>
          </a:prstGeom>
          <a:noFill/>
        </p:spPr>
        <p:txBody>
          <a:bodyPr wrap="square" anchor="t" lIns="73152" rIns="73152" tIns="73152" bIns="73152">
            <a:spAutoFit/>
          </a:bodyPr>
          <a:lstStyle/>
          <a:p>
            <a:pPr marL="0" indent="0" algn="ctr">
              <a:lnSpc>
                <a:spcPct val="95000"/>
              </a:lnSpc>
              <a:spcBef>
                <a:spcPts val="400"/>
              </a:spcBef>
              <a:buNone/>
            </a:pPr>
            <a:r>
              <a:rPr sz="2200" b="1" i="0">
                <a:solidFill>
                  <a:srgbClr val="2F5D8A"/>
                </a:solidFill>
                <a:latin typeface="Quattrocento Sans"/>
              </a:rPr>
              <a:t>SURVIVE</a:t>
            </a:r>
          </a:p>
        </p:txBody>
      </p:sp>
      <p:sp>
        <p:nvSpPr>
          <p:cNvPr id="105" name="TextBox 104"/>
          <p:cNvSpPr txBox="1"/>
          <p:nvPr/>
        </p:nvSpPr>
        <p:spPr>
          <a:xfrm>
            <a:off x="6227064" y="2468880"/>
            <a:ext cx="2468880" cy="1737360"/>
          </a:xfrm>
          <a:prstGeom prst="rect">
            <a:avLst/>
          </a:prstGeom>
          <a:noFill/>
        </p:spPr>
        <p:txBody>
          <a:bodyPr wrap="square" anchor="t" lIns="73152" rIns="73152" tIns="73152" bIns="73152">
            <a:spAutoFit/>
          </a:bodyPr>
          <a:lstStyle/>
          <a:p>
            <a:pPr marL="0" indent="0">
              <a:lnSpc>
                <a:spcPct val="95000"/>
              </a:lnSpc>
              <a:spcBef>
                <a:spcPts val="400"/>
              </a:spcBef>
              <a:buNone/>
            </a:pPr>
            <a:r>
              <a:rPr sz="1450" b="0" i="0">
                <a:solidFill>
                  <a:srgbClr val="1F2933"/>
                </a:solidFill>
                <a:latin typeface="Quattrocento Sans"/>
              </a:rPr>
              <a:t>Wheels wear out: Kepler lost 2 of its 4 wheels by 2013 and its primary mission ended. A wheel failure must not end ours.</a:t>
            </a:r>
          </a:p>
        </p:txBody>
      </p:sp>
      <p:sp>
        <p:nvSpPr>
          <p:cNvPr id="106" name="TextBox 105"/>
          <p:cNvSpPr txBox="1"/>
          <p:nvPr/>
        </p:nvSpPr>
        <p:spPr>
          <a:xfrm>
            <a:off x="6227064" y="4224528"/>
            <a:ext cx="2468880" cy="457200"/>
          </a:xfrm>
          <a:prstGeom prst="rect">
            <a:avLst/>
          </a:prstGeom>
          <a:solidFill>
            <a:srgbClr val="E8F3EC"/>
          </a:solidFill>
        </p:spPr>
        <p:txBody>
          <a:bodyPr wrap="square" anchor="ctr" lIns="73152" rIns="73152" tIns="73152" bIns="73152">
            <a:spAutoFit/>
          </a:bodyPr>
          <a:lstStyle/>
          <a:p>
            <a:pPr marL="0" indent="0" algn="ctr">
              <a:lnSpc>
                <a:spcPct val="95000"/>
              </a:lnSpc>
              <a:spcBef>
                <a:spcPts val="400"/>
              </a:spcBef>
              <a:buNone/>
            </a:pPr>
            <a:r>
              <a:rPr sz="1450" b="1" i="0">
                <a:solidFill>
                  <a:srgbClr val="2E7D4F"/>
                </a:solidFill>
                <a:latin typeface="Quattrocento Sans"/>
              </a:rPr>
              <a:t>Req. 3: detect + compensate</a:t>
            </a:r>
          </a:p>
        </p:txBody>
      </p:sp>
      <p:sp>
        <p:nvSpPr>
          <p:cNvPr id="107" name="TextBox 106"/>
          <p:cNvSpPr txBox="1"/>
          <p:nvPr/>
        </p:nvSpPr>
        <p:spPr>
          <a:xfrm>
            <a:off x="274320" y="5029200"/>
            <a:ext cx="8595360" cy="1234440"/>
          </a:xfrm>
          <a:prstGeom prst="rect">
            <a:avLst/>
          </a:prstGeom>
          <a:solidFill>
            <a:srgbClr val="F3F4F6"/>
          </a:solidFill>
        </p:spPr>
        <p:txBody>
          <a:bodyPr wrap="square" anchor="ctr" lIns="109728" rIns="109728" tIns="109728" bIns="109728">
            <a:spAutoFit/>
          </a:bodyPr>
          <a:lstStyle/>
          <a:p>
            <a:pPr marL="0" indent="0">
              <a:lnSpc>
                <a:spcPct val="95000"/>
              </a:lnSpc>
              <a:spcBef>
                <a:spcPts val="400"/>
              </a:spcBef>
              <a:buNone/>
            </a:pPr>
            <a:r>
              <a:rPr sz="1500" b="1" i="0">
                <a:solidFill>
                  <a:srgbClr val="1F2933"/>
                </a:solidFill>
                <a:latin typeface="Quattrocento Sans"/>
              </a:rPr>
              <a:t>Why an air bearing: </a:t>
            </a:r>
            <a:r>
              <a:rPr sz="1500" b="0" i="0">
                <a:solidFill>
                  <a:srgbClr val="1F2933"/>
                </a:solidFill>
                <a:latin typeface="Quattrocento Sans"/>
              </a:rPr>
              <a:t>the table floats on air, so it can rotate in roll, pitch and yaw with almost no friction. The full sense → estimate → control → actuate loop can be tested on the ground, as it would run in orbit.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Code: Heading Update (Estimation)</a:t>
            </a:r>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92" name="Rounded Rectangle 91"/>
          <p:cNvSpPr/>
          <p:nvPr/>
        </p:nvSpPr>
        <p:spPr>
          <a:xfrm>
            <a:off x="274320" y="914400"/>
            <a:ext cx="5120640" cy="3586225"/>
          </a:xfrm>
          <a:prstGeom prst="roundRect">
            <a:avLst>
              <a:gd name="adj" fmla="val 3000"/>
            </a:avLst>
          </a:prstGeom>
          <a:solidFill>
            <a:srgbClr val="F3F4F6"/>
          </a:solidFill>
          <a:ln w="15875">
            <a:solidFill>
              <a:srgbClr val="C9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320040" y="960120"/>
            <a:ext cx="5029200" cy="3494785"/>
          </a:xfrm>
          <a:prstGeom prst="rect">
            <a:avLst/>
          </a:prstGeom>
          <a:noFill/>
        </p:spPr>
        <p:txBody>
          <a:bodyPr wrap="square" anchor="t" tIns="91440" bIns="91440">
            <a:spAutoFit/>
          </a:bodyPr>
          <a:lstStyle/>
          <a:p>
            <a:pPr marL="0" indent="0">
              <a:lnSpc>
                <a:spcPct val="100000"/>
              </a:lnSpc>
              <a:spcBef>
                <a:spcPts val="0"/>
              </a:spcBef>
              <a:buNone/>
            </a:pPr>
            <a:r>
              <a:rPr sz="1300" b="0" i="0">
                <a:solidFill>
                  <a:srgbClr val="2E7D4F"/>
                </a:solidFill>
                <a:latin typeface="Courier New"/>
              </a:rPr>
              <a:t>// attitude_ekf.cpp: heading-only mag update</a:t>
            </a:r>
          </a:p>
          <a:p>
            <a:pPr marL="0" indent="0">
              <a:lnSpc>
                <a:spcPct val="100000"/>
              </a:lnSpc>
              <a:spcBef>
                <a:spcPts val="0"/>
              </a:spcBef>
              <a:buNone/>
            </a:pPr>
            <a:r>
              <a:rPr sz="1300" b="0" i="0">
                <a:solidFill>
                  <a:srgbClr val="1F2933"/>
                </a:solidFill>
                <a:latin typeface="Courier New"/>
              </a:rPr>
              <a:t>Vec3 mI = A^T * magBody;      </a:t>
            </a:r>
            <a:r>
              <a:rPr sz="1300" b="0" i="0">
                <a:solidFill>
                  <a:srgbClr val="2E7D4F"/>
                </a:solidFill>
                <a:latin typeface="Courier New"/>
              </a:rPr>
              <a:t>// field, inertial</a:t>
            </a:r>
          </a:p>
          <a:p>
            <a:pPr marL="0" indent="0">
              <a:lnSpc>
                <a:spcPct val="100000"/>
              </a:lnSpc>
              <a:spcBef>
                <a:spcPts val="0"/>
              </a:spcBef>
              <a:buNone/>
            </a:pPr>
            <a:r>
              <a:rPr sz="1300" b="0" i="0">
                <a:solidFill>
                  <a:srgbClr val="1F2933"/>
                </a:solidFill>
                <a:latin typeface="Courier New"/>
              </a:rPr>
              <a:t>float alpha = atan2(ref x mI, ref . mI);</a:t>
            </a:r>
          </a:p>
          <a:p>
            <a:pPr marL="0" indent="0">
              <a:lnSpc>
                <a:spcPct val="100000"/>
              </a:lnSpc>
              <a:spcBef>
                <a:spcPts val="0"/>
              </a:spcBef>
              <a:buNone/>
            </a:pPr>
            <a:r>
              <a:rPr sz="1300" b="0" i="0">
                <a:solidFill>
                  <a:srgbClr val="2E7D4F"/>
                </a:solidFill>
                <a:latin typeface="Courier New"/>
              </a:rPr>
              <a:t>                              // heading error</a:t>
            </a:r>
          </a:p>
          <a:p>
            <a:pPr marL="0" indent="0">
              <a:lnSpc>
                <a:spcPct val="100000"/>
              </a:lnSpc>
              <a:spcBef>
                <a:spcPts val="0"/>
              </a:spcBef>
              <a:buNone/>
            </a:pPr>
            <a:r>
              <a:rPr sz="1300" b="0" i="0">
                <a:solidFill>
                  <a:srgbClr val="1F2933"/>
                </a:solidFill>
                <a:latin typeface="Courier New"/>
              </a:rPr>
              <a:t>Vec3 h = A * ez;              </a:t>
            </a:r>
            <a:r>
              <a:rPr sz="1300" b="0" i="0">
                <a:solidFill>
                  <a:srgbClr val="2E7D4F"/>
                </a:solidFill>
                <a:latin typeface="Courier New"/>
              </a:rPr>
              <a:t>// H = [h^T, 0]</a:t>
            </a:r>
          </a:p>
          <a:p>
            <a:pPr marL="0" indent="0">
              <a:lnSpc>
                <a:spcPct val="100000"/>
              </a:lnSpc>
              <a:spcBef>
                <a:spcPts val="0"/>
              </a:spcBef>
              <a:buNone/>
            </a:pPr>
            <a:r>
              <a:rPr sz="1300" b="0" i="0">
                <a:solidFill>
                  <a:srgbClr val="1F2933"/>
                </a:solidFill>
                <a:latin typeface="Courier New"/>
              </a:rPr>
              <a:t>float S = h^T P h + sigma^2;  </a:t>
            </a:r>
            <a:r>
              <a:rPr sz="1300" b="0" i="0">
                <a:solidFill>
                  <a:srgbClr val="2E7D4F"/>
                </a:solidFill>
                <a:latin typeface="Courier New"/>
              </a:rPr>
              <a:t>// innovation var</a:t>
            </a:r>
          </a:p>
          <a:p>
            <a:pPr marL="0" indent="0">
              <a:lnSpc>
                <a:spcPct val="100000"/>
              </a:lnSpc>
              <a:spcBef>
                <a:spcPts val="0"/>
              </a:spcBef>
              <a:buNone/>
            </a:pPr>
            <a:r>
              <a:rPr sz="1300" b="0" i="0">
                <a:solidFill>
                  <a:srgbClr val="1F2933"/>
                </a:solidFill>
                <a:latin typeface="Courier New"/>
              </a:rPr>
              <a:t>K = P H^T / S;                </a:t>
            </a:r>
            <a:r>
              <a:rPr sz="1300" b="0" i="0">
                <a:solidFill>
                  <a:srgbClr val="2E7D4F"/>
                </a:solidFill>
                <a:latin typeface="Courier New"/>
              </a:rPr>
              <a:t>// Kalman gain</a:t>
            </a:r>
          </a:p>
          <a:p>
            <a:pPr marL="0" indent="0">
              <a:lnSpc>
                <a:spcPct val="100000"/>
              </a:lnSpc>
              <a:spcBef>
                <a:spcPts val="0"/>
              </a:spcBef>
              <a:buNone/>
            </a:pPr>
            <a:r>
              <a:rPr sz="1300" b="0" i="0">
                <a:solidFill>
                  <a:srgbClr val="1F2933"/>
                </a:solidFill>
                <a:latin typeface="Courier New"/>
              </a:rPr>
              <a:t>K[0..2] = (K . h) h;          </a:t>
            </a:r>
            <a:r>
              <a:rPr sz="1300" b="0" i="0">
                <a:solidFill>
                  <a:srgbClr val="2E7D4F"/>
                </a:solidFill>
                <a:latin typeface="Courier New"/>
              </a:rPr>
              <a:t>// rotate about</a:t>
            </a:r>
          </a:p>
          <a:p>
            <a:pPr marL="0" indent="0">
              <a:lnSpc>
                <a:spcPct val="100000"/>
              </a:lnSpc>
              <a:spcBef>
                <a:spcPts val="0"/>
              </a:spcBef>
              <a:buNone/>
            </a:pPr>
            <a:r>
              <a:rPr sz="1300" b="0" i="0">
                <a:solidFill>
                  <a:srgbClr val="2E7D4F"/>
                </a:solidFill>
                <a:latin typeface="Courier New"/>
              </a:rPr>
              <a:t>                              // vertical only</a:t>
            </a:r>
          </a:p>
          <a:p>
            <a:pPr marL="0" indent="0">
              <a:lnSpc>
                <a:spcPct val="100000"/>
              </a:lnSpc>
              <a:spcBef>
                <a:spcPts val="0"/>
              </a:spcBef>
              <a:buNone/>
            </a:pPr>
            <a:r>
              <a:rPr sz="1300" b="0" i="0">
                <a:solidFill>
                  <a:srgbClr val="1F2933"/>
                </a:solidFill>
                <a:latin typeface="Courier New"/>
              </a:rPr>
              <a:t>K[3] = K[4] = 0;              </a:t>
            </a:r>
            <a:r>
              <a:rPr sz="1300" b="0" i="0">
                <a:solidFill>
                  <a:srgbClr val="2E7D4F"/>
                </a:solidFill>
                <a:latin typeface="Courier New"/>
              </a:rPr>
              <a:t>// x/y bias: accel</a:t>
            </a:r>
          </a:p>
          <a:p>
            <a:pPr marL="0" indent="0">
              <a:lnSpc>
                <a:spcPct val="100000"/>
              </a:lnSpc>
              <a:spcBef>
                <a:spcPts val="0"/>
              </a:spcBef>
              <a:buNone/>
            </a:pPr>
            <a:r>
              <a:rPr sz="1300" b="0" i="0">
                <a:solidFill>
                  <a:srgbClr val="1F2933"/>
                </a:solidFill>
                <a:latin typeface="Courier New"/>
              </a:rPr>
              <a:t>q = exp(K[0..2]*alpha) (x) q; </a:t>
            </a:r>
            <a:r>
              <a:rPr sz="1300" b="0" i="0">
                <a:solidFill>
                  <a:srgbClr val="2E7D4F"/>
                </a:solidFill>
                <a:latin typeface="Courier New"/>
              </a:rPr>
              <a:t>// multiplicative</a:t>
            </a:r>
          </a:p>
          <a:p>
            <a:pPr marL="0" indent="0">
              <a:lnSpc>
                <a:spcPct val="100000"/>
              </a:lnSpc>
              <a:spcBef>
                <a:spcPts val="0"/>
              </a:spcBef>
              <a:buNone/>
            </a:pPr>
            <a:r>
              <a:rPr sz="1300" b="0" i="0">
                <a:solidFill>
                  <a:srgbClr val="1F2933"/>
                </a:solidFill>
                <a:latin typeface="Courier New"/>
              </a:rPr>
              <a:t>b.z += K[5] * alpha;          </a:t>
            </a:r>
            <a:r>
              <a:rPr sz="1300" b="0" i="0">
                <a:solidFill>
                  <a:srgbClr val="2E7D4F"/>
                </a:solidFill>
                <a:latin typeface="Courier New"/>
              </a:rPr>
              <a:t>// z gyro bias</a:t>
            </a:r>
          </a:p>
          <a:p>
            <a:pPr marL="0" indent="0">
              <a:lnSpc>
                <a:spcPct val="100000"/>
              </a:lnSpc>
              <a:spcBef>
                <a:spcPts val="0"/>
              </a:spcBef>
              <a:buNone/>
            </a:pPr>
            <a:r>
              <a:rPr sz="1300" b="0" i="0">
                <a:solidFill>
                  <a:srgbClr val="1F2933"/>
                </a:solidFill>
                <a:latin typeface="Courier New"/>
              </a:rPr>
              <a:t>P = (I-KH) P (I-KH)^T + K R K^T; </a:t>
            </a:r>
            <a:r>
              <a:rPr sz="1300" b="0" i="0">
                <a:solidFill>
                  <a:srgbClr val="2E7D4F"/>
                </a:solidFill>
                <a:latin typeface="Courier New"/>
              </a:rPr>
              <a:t>// Joseph</a:t>
            </a:r>
          </a:p>
          <a:p>
            <a:pPr marL="0" indent="0">
              <a:lnSpc>
                <a:spcPct val="100000"/>
              </a:lnSpc>
              <a:spcBef>
                <a:spcPts val="0"/>
              </a:spcBef>
              <a:buNone/>
            </a:pPr>
            <a:r>
              <a:rPr sz="1300" b="0" i="0">
                <a:solidFill>
                  <a:srgbClr val="1F2933"/>
                </a:solidFill>
                <a:latin typeface="Courier New"/>
              </a:rPr>
              <a:t> </a:t>
            </a:r>
          </a:p>
          <a:p>
            <a:pPr marL="0" indent="0">
              <a:lnSpc>
                <a:spcPct val="100000"/>
              </a:lnSpc>
              <a:spcBef>
                <a:spcPts val="0"/>
              </a:spcBef>
              <a:buNone/>
            </a:pPr>
            <a:r>
              <a:rPr sz="1300" b="0" i="0">
                <a:solidFill>
                  <a:srgbClr val="2E7D4F"/>
                </a:solidFill>
                <a:latin typeface="Courier New"/>
              </a:rPr>
              <a:t>// mag_aid.cpp: only trust known wheel states</a:t>
            </a:r>
          </a:p>
          <a:p>
            <a:pPr marL="0" indent="0">
              <a:lnSpc>
                <a:spcPct val="100000"/>
              </a:lnSpc>
              <a:spcBef>
                <a:spcPts val="0"/>
              </a:spcBef>
              <a:buNone/>
            </a:pPr>
            <a:r>
              <a:rPr sz="1300" b="0" i="0">
                <a:solidFill>
                  <a:srgbClr val="1F2933"/>
                </a:solidFill>
                <a:latin typeface="Courier New"/>
              </a:rPr>
              <a:t>if (slow or reversing wheel) return GATED;</a:t>
            </a:r>
          </a:p>
          <a:p>
            <a:pPr marL="0" indent="0">
              <a:lnSpc>
                <a:spcPct val="100000"/>
              </a:lnSpc>
              <a:spcBef>
                <a:spcPts val="0"/>
              </a:spcBef>
              <a:buNone/>
            </a:pPr>
            <a:r>
              <a:rPr sz="1300" b="0" i="0">
                <a:solidFill>
                  <a:srgbClr val="1F2933"/>
                </a:solidFill>
                <a:latin typeface="Courier New"/>
              </a:rPr>
              <a:t>ref = stopped ? stopped_ : spin_[pattern];</a:t>
            </a:r>
          </a:p>
        </p:txBody>
      </p:sp>
      <p:sp>
        <p:nvSpPr>
          <p:cNvPr id="94" name="TextBox 93"/>
          <p:cNvSpPr txBox="1"/>
          <p:nvPr/>
        </p:nvSpPr>
        <p:spPr>
          <a:xfrm>
            <a:off x="274320" y="4528058"/>
            <a:ext cx="5120640" cy="274320"/>
          </a:xfrm>
          <a:prstGeom prst="rect">
            <a:avLst/>
          </a:prstGeom>
          <a:noFill/>
        </p:spPr>
        <p:txBody>
          <a:bodyPr wrap="square" anchor="t" lIns="18288" rIns="18288" tIns="18288" bIns="18288">
            <a:spAutoFit/>
          </a:bodyPr>
          <a:lstStyle/>
          <a:p>
            <a:pPr marL="0" indent="0">
              <a:lnSpc>
                <a:spcPct val="95000"/>
              </a:lnSpc>
              <a:spcBef>
                <a:spcPts val="400"/>
              </a:spcBef>
              <a:buNone/>
            </a:pPr>
            <a:r>
              <a:rPr sz="1100" b="0" i="1">
                <a:solidFill>
                  <a:srgbClr val="616E7C"/>
                </a:solidFill>
                <a:latin typeface="Quattrocento Sans"/>
              </a:rPr>
              <a:t>Excerpts, simplified from attitude_ekf.cpp and mag_aid.cpp</a:t>
            </a:r>
          </a:p>
        </p:txBody>
      </p:sp>
      <p:sp>
        <p:nvSpPr>
          <p:cNvPr id="95" name="TextBox 94"/>
          <p:cNvSpPr txBox="1"/>
          <p:nvPr/>
        </p:nvSpPr>
        <p:spPr>
          <a:xfrm>
            <a:off x="5577840" y="914400"/>
            <a:ext cx="3291840" cy="5394960"/>
          </a:xfrm>
          <a:prstGeom prst="rect">
            <a:avLst/>
          </a:prstGeom>
          <a:noFill/>
        </p:spPr>
        <p:txBody>
          <a:bodyPr wrap="square" anchor="t" lIns="73152" rIns="73152" tIns="73152" bIns="73152">
            <a:spAutoFit/>
          </a:bodyPr>
          <a:lstStyle/>
          <a:p>
            <a:pPr marL="300000" indent="-228600">
              <a:lnSpc>
                <a:spcPct val="95000"/>
              </a:lnSpc>
              <a:spcBef>
                <a:spcPts val="500"/>
              </a:spcBef>
              <a:buChar char="•"/>
            </a:pPr>
            <a:r>
              <a:rPr sz="1350" b="1" i="0">
                <a:solidFill>
                  <a:srgbClr val="1F2933"/>
                </a:solidFill>
                <a:latin typeface="Quattrocento Sans"/>
              </a:rPr>
              <a:t>Measurement: </a:t>
            </a:r>
            <a:r>
              <a:rPr sz="1350" b="0" i="0">
                <a:solidFill>
                  <a:srgbClr val="1F2933"/>
                </a:solidFill>
                <a:latin typeface="Quattrocento Sans"/>
              </a:rPr>
              <a:t>direction of the horizontal field vs a reference learned in place → heading error α</a:t>
            </a:r>
          </a:p>
          <a:p>
            <a:pPr marL="300000" indent="-228600">
              <a:lnSpc>
                <a:spcPct val="95000"/>
              </a:lnSpc>
              <a:spcBef>
                <a:spcPts val="500"/>
              </a:spcBef>
              <a:buChar char="•"/>
            </a:pPr>
            <a:r>
              <a:rPr sz="1350" b="1" i="0">
                <a:solidFill>
                  <a:srgbClr val="1F2933"/>
                </a:solidFill>
                <a:latin typeface="Quattrocento Sans"/>
              </a:rPr>
              <a:t>H = [(Aẑ)ᵀ 0]: </a:t>
            </a:r>
            <a:r>
              <a:rPr sz="1350" b="0" i="0">
                <a:solidFill>
                  <a:srgbClr val="1F2933"/>
                </a:solidFill>
                <a:latin typeface="Quattrocento Sans"/>
              </a:rPr>
              <a:t>only a turn about vertical changes the heading</a:t>
            </a:r>
          </a:p>
          <a:p>
            <a:pPr marL="300000" indent="-228600">
              <a:lnSpc>
                <a:spcPct val="95000"/>
              </a:lnSpc>
              <a:spcBef>
                <a:spcPts val="500"/>
              </a:spcBef>
              <a:buChar char="•"/>
            </a:pPr>
            <a:r>
              <a:rPr sz="1350" b="1" i="0">
                <a:solidFill>
                  <a:srgbClr val="1F2933"/>
                </a:solidFill>
                <a:latin typeface="Quattrocento Sans"/>
              </a:rPr>
              <a:t>K = PHᵀ/(HPHᵀ+R): </a:t>
            </a:r>
            <a:r>
              <a:rPr sz="1350" b="0" i="0">
                <a:solidFill>
                  <a:srgbClr val="1F2933"/>
                </a:solidFill>
                <a:latin typeface="Quattrocento Sans"/>
              </a:rPr>
              <a:t>σ sets a ≈ 25 s correction, so the gyro still carries fast motion</a:t>
            </a:r>
          </a:p>
          <a:p>
            <a:pPr marL="300000" indent="-228600">
              <a:lnSpc>
                <a:spcPct val="95000"/>
              </a:lnSpc>
              <a:spcBef>
                <a:spcPts val="500"/>
              </a:spcBef>
              <a:buChar char="•"/>
            </a:pPr>
            <a:r>
              <a:rPr sz="1350" b="1" i="0">
                <a:solidFill>
                  <a:srgbClr val="1F2933"/>
                </a:solidFill>
                <a:latin typeface="Quattrocento Sans"/>
              </a:rPr>
              <a:t>Gain edit: </a:t>
            </a:r>
            <a:r>
              <a:rPr sz="1350" b="0" i="0">
                <a:solidFill>
                  <a:srgbClr val="1F2933"/>
                </a:solidFill>
                <a:latin typeface="Quattrocento Sans"/>
              </a:rPr>
              <a:t>a disturbed field can never tilt roll/pitch</a:t>
            </a:r>
          </a:p>
          <a:p>
            <a:pPr marL="300000" indent="-228600">
              <a:lnSpc>
                <a:spcPct val="95000"/>
              </a:lnSpc>
              <a:spcBef>
                <a:spcPts val="500"/>
              </a:spcBef>
              <a:buChar char="•"/>
            </a:pPr>
            <a:r>
              <a:rPr sz="1350" b="1" i="0">
                <a:solidFill>
                  <a:srgbClr val="1F2933"/>
                </a:solidFill>
                <a:latin typeface="Quattrocento Sans"/>
              </a:rPr>
              <a:t>Bias: </a:t>
            </a:r>
            <a:r>
              <a:rPr sz="1350" b="0" i="0">
                <a:solidFill>
                  <a:srgbClr val="1F2933"/>
                </a:solidFill>
                <a:latin typeface="Quattrocento Sans"/>
              </a:rPr>
              <a:t>heading makes the z-gyro bias observable; gravity can’t</a:t>
            </a:r>
          </a:p>
          <a:p>
            <a:pPr marL="300000" indent="-228600">
              <a:lnSpc>
                <a:spcPct val="95000"/>
              </a:lnSpc>
              <a:spcBef>
                <a:spcPts val="500"/>
              </a:spcBef>
              <a:buChar char="•"/>
            </a:pPr>
            <a:r>
              <a:rPr sz="1350" b="1" i="0">
                <a:solidFill>
                  <a:srgbClr val="1F2933"/>
                </a:solidFill>
                <a:latin typeface="Quattrocento Sans"/>
              </a:rPr>
              <a:t>Gating: </a:t>
            </a:r>
            <a:r>
              <a:rPr sz="1350" b="0" i="0">
                <a:solidFill>
                  <a:srgbClr val="1F2933"/>
                </a:solidFill>
                <a:latin typeface="Quattrocento Sans"/>
              </a:rPr>
              <a:t>only known wheel states (stopped where learned, or spinning)</a:t>
            </a:r>
          </a:p>
          <a:p>
            <a:pPr marL="300000" indent="-228600">
              <a:lnSpc>
                <a:spcPct val="95000"/>
              </a:lnSpc>
              <a:spcBef>
                <a:spcPts val="500"/>
              </a:spcBef>
              <a:buChar char="•"/>
            </a:pPr>
            <a:r>
              <a:rPr sz="1350" b="1" i="0">
                <a:solidFill>
                  <a:srgbClr val="1F2933"/>
                </a:solidFill>
                <a:latin typeface="Quattrocento Sans"/>
              </a:rPr>
              <a:t>Prediction: </a:t>
            </a:r>
            <a:r>
              <a:rPr sz="1350" b="0" i="0">
                <a:solidFill>
                  <a:srgbClr val="1F2933"/>
                </a:solidFill>
                <a:latin typeface="Quattrocento Sans"/>
              </a:rPr>
              <a:t>a new wheel pattern’s reference comes from a known one, so yaw errors can’t pile up (MAG TEST)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Code: Control Law &amp; Wheel Allocation</a:t>
            </a:r>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92" name="Rounded Rectangle 91"/>
          <p:cNvSpPr/>
          <p:nvPr/>
        </p:nvSpPr>
        <p:spPr>
          <a:xfrm>
            <a:off x="274320" y="914400"/>
            <a:ext cx="5120640" cy="3001772"/>
          </a:xfrm>
          <a:prstGeom prst="roundRect">
            <a:avLst>
              <a:gd name="adj" fmla="val 3000"/>
            </a:avLst>
          </a:prstGeom>
          <a:solidFill>
            <a:srgbClr val="F3F4F6"/>
          </a:solidFill>
          <a:ln w="15875">
            <a:solidFill>
              <a:srgbClr val="C9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320040" y="960120"/>
            <a:ext cx="5029200" cy="2910331"/>
          </a:xfrm>
          <a:prstGeom prst="rect">
            <a:avLst/>
          </a:prstGeom>
          <a:noFill/>
        </p:spPr>
        <p:txBody>
          <a:bodyPr wrap="square" anchor="t" tIns="91440" bIns="91440">
            <a:spAutoFit/>
          </a:bodyPr>
          <a:lstStyle/>
          <a:p>
            <a:pPr marL="0" indent="0">
              <a:lnSpc>
                <a:spcPct val="100000"/>
              </a:lnSpc>
              <a:spcBef>
                <a:spcPts val="0"/>
              </a:spcBef>
              <a:buNone/>
            </a:pPr>
            <a:r>
              <a:rPr sz="1300" b="0" i="0">
                <a:solidFill>
                  <a:srgbClr val="2E7D4F"/>
                </a:solidFill>
                <a:latin typeface="Courier New"/>
              </a:rPr>
              <a:t>// attitude_ctrl.cpp: quaternion PD + FF</a:t>
            </a:r>
          </a:p>
          <a:p>
            <a:pPr marL="0" indent="0">
              <a:lnSpc>
                <a:spcPct val="100000"/>
              </a:lnSpc>
              <a:spcBef>
                <a:spcPts val="0"/>
              </a:spcBef>
              <a:buNone/>
            </a:pPr>
            <a:r>
              <a:rPr sz="1300" b="0" i="0">
                <a:solidFill>
                  <a:srgbClr val="1F2933"/>
                </a:solidFill>
                <a:latin typeface="Courier New"/>
              </a:rPr>
              <a:t>Quat qe = q (x) conj(q_ref);  </a:t>
            </a:r>
            <a:r>
              <a:rPr sz="1300" b="0" i="0">
                <a:solidFill>
                  <a:srgbClr val="2E7D4F"/>
                </a:solidFill>
                <a:latin typeface="Courier New"/>
              </a:rPr>
              <a:t>// attitude error</a:t>
            </a:r>
          </a:p>
          <a:p>
            <a:pPr marL="0" indent="0">
              <a:lnSpc>
                <a:spcPct val="100000"/>
              </a:lnSpc>
              <a:spcBef>
                <a:spcPts val="0"/>
              </a:spcBef>
              <a:buNone/>
            </a:pPr>
            <a:r>
              <a:rPr sz="1300" b="0" i="0">
                <a:solidFill>
                  <a:srgbClr val="1F2933"/>
                </a:solidFill>
                <a:latin typeface="Courier New"/>
              </a:rPr>
              <a:t>Vec3 th = -2 * vec(qe);       </a:t>
            </a:r>
            <a:r>
              <a:rPr sz="1300" b="0" i="0">
                <a:solidFill>
                  <a:srgbClr val="2E7D4F"/>
                </a:solidFill>
                <a:latin typeface="Courier New"/>
              </a:rPr>
              <a:t>// error angle</a:t>
            </a:r>
          </a:p>
          <a:p>
            <a:pPr marL="0" indent="0">
              <a:lnSpc>
                <a:spcPct val="100000"/>
              </a:lnSpc>
              <a:spcBef>
                <a:spcPts val="0"/>
              </a:spcBef>
              <a:buNone/>
            </a:pPr>
            <a:r>
              <a:rPr sz="1300" b="0" i="0">
                <a:solidFill>
                  <a:srgbClr val="1F2933"/>
                </a:solidFill>
                <a:latin typeface="Courier New"/>
              </a:rPr>
              <a:t>tau = -Kp*th - Kd*(w - w_ref) </a:t>
            </a:r>
            <a:r>
              <a:rPr sz="1300" b="0" i="0">
                <a:solidFill>
                  <a:srgbClr val="2E7D4F"/>
                </a:solidFill>
                <a:latin typeface="Courier New"/>
              </a:rPr>
              <a:t>// PD</a:t>
            </a:r>
          </a:p>
          <a:p>
            <a:pPr marL="0" indent="0">
              <a:lnSpc>
                <a:spcPct val="100000"/>
              </a:lnSpc>
              <a:spcBef>
                <a:spcPts val="0"/>
              </a:spcBef>
              <a:buNone/>
            </a:pPr>
            <a:r>
              <a:rPr sz="1300" b="0" i="0">
                <a:solidFill>
                  <a:srgbClr val="1F2933"/>
                </a:solidFill>
                <a:latin typeface="Courier New"/>
              </a:rPr>
              <a:t>      + I*a_ref               </a:t>
            </a:r>
            <a:r>
              <a:rPr sz="1300" b="0" i="0">
                <a:solidFill>
                  <a:srgbClr val="2E7D4F"/>
                </a:solidFill>
                <a:latin typeface="Courier New"/>
              </a:rPr>
              <a:t>// feed-forward</a:t>
            </a:r>
          </a:p>
          <a:p>
            <a:pPr marL="0" indent="0">
              <a:lnSpc>
                <a:spcPct val="100000"/>
              </a:lnSpc>
              <a:spcBef>
                <a:spcPts val="0"/>
              </a:spcBef>
              <a:buNone/>
            </a:pPr>
            <a:r>
              <a:rPr sz="1300" b="0" i="0">
                <a:solidFill>
                  <a:srgbClr val="1F2933"/>
                </a:solidFill>
                <a:latin typeface="Courier New"/>
              </a:rPr>
              <a:t>      + w x (I*w + h_wheels); </a:t>
            </a:r>
            <a:r>
              <a:rPr sz="1300" b="0" i="0">
                <a:solidFill>
                  <a:srgbClr val="2E7D4F"/>
                </a:solidFill>
                <a:latin typeface="Courier New"/>
              </a:rPr>
              <a:t>// gyroscopic</a:t>
            </a:r>
          </a:p>
          <a:p>
            <a:pPr marL="0" indent="0">
              <a:lnSpc>
                <a:spcPct val="100000"/>
              </a:lnSpc>
              <a:spcBef>
                <a:spcPts val="0"/>
              </a:spcBef>
              <a:buNone/>
            </a:pPr>
            <a:r>
              <a:rPr sz="1300" b="0" i="0">
                <a:solidFill>
                  <a:srgbClr val="1F2933"/>
                </a:solidFill>
                <a:latin typeface="Courier New"/>
              </a:rPr>
              <a:t> </a:t>
            </a:r>
          </a:p>
          <a:p>
            <a:pPr marL="0" indent="0">
              <a:lnSpc>
                <a:spcPct val="100000"/>
              </a:lnSpc>
              <a:spcBef>
                <a:spcPts val="0"/>
              </a:spcBef>
              <a:buNone/>
            </a:pPr>
            <a:r>
              <a:rPr sz="1300" b="0" i="0">
                <a:solidFill>
                  <a:srgbClr val="2E7D4F"/>
                </a:solidFill>
                <a:latin typeface="Courier New"/>
              </a:rPr>
              <a:t>// wheel_geometry.h: min-norm allocation</a:t>
            </a:r>
          </a:p>
          <a:p>
            <a:pPr marL="0" indent="0">
              <a:lnSpc>
                <a:spcPct val="100000"/>
              </a:lnSpc>
              <a:spcBef>
                <a:spcPts val="0"/>
              </a:spcBef>
              <a:buNone/>
            </a:pPr>
            <a:r>
              <a:rPr sz="1300" b="0" i="0">
                <a:solidFill>
                  <a:srgbClr val="1F2933"/>
                </a:solidFill>
                <a:latin typeface="Courier New"/>
              </a:rPr>
              <a:t>M = sum(a_i a_i^T)            </a:t>
            </a:r>
            <a:r>
              <a:rPr sz="1300" b="0" i="0">
                <a:solidFill>
                  <a:srgbClr val="2E7D4F"/>
                </a:solidFill>
                <a:latin typeface="Courier New"/>
              </a:rPr>
              <a:t>// enabled only</a:t>
            </a:r>
          </a:p>
          <a:p>
            <a:pPr marL="0" indent="0">
              <a:lnSpc>
                <a:spcPct val="100000"/>
              </a:lnSpc>
              <a:spcBef>
                <a:spcPts val="0"/>
              </a:spcBef>
              <a:buNone/>
            </a:pPr>
            <a:r>
              <a:rPr sz="1300" b="0" i="0">
                <a:solidFill>
                  <a:srgbClr val="1F2933"/>
                </a:solidFill>
                <a:latin typeface="Courier New"/>
              </a:rPr>
              <a:t>y = inverse(M) * tau;</a:t>
            </a:r>
          </a:p>
          <a:p>
            <a:pPr marL="0" indent="0">
              <a:lnSpc>
                <a:spcPct val="100000"/>
              </a:lnSpc>
              <a:spcBef>
                <a:spcPts val="0"/>
              </a:spcBef>
              <a:buNone/>
            </a:pPr>
            <a:r>
              <a:rPr sz="1300" b="0" i="0">
                <a:solidFill>
                  <a:srgbClr val="1F2933"/>
                </a:solidFill>
                <a:latin typeface="Courier New"/>
              </a:rPr>
              <a:t>u_i = -(a_i . y);             </a:t>
            </a:r>
            <a:r>
              <a:rPr sz="1300" b="0" i="0">
                <a:solidFill>
                  <a:srgbClr val="2E7D4F"/>
                </a:solidFill>
                <a:latin typeface="Courier New"/>
              </a:rPr>
              <a:t>// wheel torques</a:t>
            </a:r>
          </a:p>
          <a:p>
            <a:pPr marL="0" indent="0">
              <a:lnSpc>
                <a:spcPct val="100000"/>
              </a:lnSpc>
              <a:spcBef>
                <a:spcPts val="0"/>
              </a:spcBef>
              <a:buNone/>
            </a:pPr>
            <a:r>
              <a:rPr sz="1300" b="0" i="0">
                <a:solidFill>
                  <a:srgbClr val="1F2933"/>
                </a:solidFill>
                <a:latin typeface="Courier New"/>
              </a:rPr>
              <a:t> </a:t>
            </a:r>
          </a:p>
          <a:p>
            <a:pPr marL="0" indent="0">
              <a:lnSpc>
                <a:spcPct val="100000"/>
              </a:lnSpc>
              <a:spcBef>
                <a:spcPts val="0"/>
              </a:spcBef>
              <a:buNone/>
            </a:pPr>
            <a:r>
              <a:rPr sz="1300" b="0" i="0">
                <a:solidFill>
                  <a:srgbClr val="2E7D4F"/>
                </a:solidFill>
                <a:latin typeface="Courier New"/>
              </a:rPr>
              <a:t>// null mode n = [+1,-1,+1,-1]: no body torque</a:t>
            </a:r>
          </a:p>
          <a:p>
            <a:pPr marL="0" indent="0">
              <a:lnSpc>
                <a:spcPct val="100000"/>
              </a:lnSpc>
              <a:spcBef>
                <a:spcPts val="0"/>
              </a:spcBef>
              <a:buNone/>
            </a:pPr>
            <a:r>
              <a:rPr sz="1300" b="0" i="0">
                <a:solidFill>
                  <a:srgbClr val="1F2933"/>
                </a:solidFill>
                <a:latin typeface="Courier New"/>
              </a:rPr>
              <a:t>u_i += J * k * (bias - s_null) * n_i;</a:t>
            </a:r>
          </a:p>
        </p:txBody>
      </p:sp>
      <p:sp>
        <p:nvSpPr>
          <p:cNvPr id="94" name="TextBox 93"/>
          <p:cNvSpPr txBox="1"/>
          <p:nvPr/>
        </p:nvSpPr>
        <p:spPr>
          <a:xfrm>
            <a:off x="274320" y="3943604"/>
            <a:ext cx="5120640" cy="274320"/>
          </a:xfrm>
          <a:prstGeom prst="rect">
            <a:avLst/>
          </a:prstGeom>
          <a:noFill/>
        </p:spPr>
        <p:txBody>
          <a:bodyPr wrap="square" anchor="t" lIns="18288" rIns="18288" tIns="18288" bIns="18288">
            <a:spAutoFit/>
          </a:bodyPr>
          <a:lstStyle/>
          <a:p>
            <a:pPr marL="0" indent="0">
              <a:lnSpc>
                <a:spcPct val="95000"/>
              </a:lnSpc>
              <a:spcBef>
                <a:spcPts val="400"/>
              </a:spcBef>
              <a:buNone/>
            </a:pPr>
            <a:r>
              <a:rPr sz="1100" b="0" i="1">
                <a:solidFill>
                  <a:srgbClr val="616E7C"/>
                </a:solidFill>
                <a:latin typeface="Quattrocento Sans"/>
              </a:rPr>
              <a:t>Excerpts, simplified from attitude_ctrl.cpp, wheel_geometry.h, null_bias.cpp</a:t>
            </a:r>
          </a:p>
        </p:txBody>
      </p:sp>
      <p:sp>
        <p:nvSpPr>
          <p:cNvPr id="95" name="TextBox 94"/>
          <p:cNvSpPr txBox="1"/>
          <p:nvPr/>
        </p:nvSpPr>
        <p:spPr>
          <a:xfrm>
            <a:off x="5577840" y="914400"/>
            <a:ext cx="3291840" cy="5394960"/>
          </a:xfrm>
          <a:prstGeom prst="rect">
            <a:avLst/>
          </a:prstGeom>
          <a:noFill/>
        </p:spPr>
        <p:txBody>
          <a:bodyPr wrap="square" anchor="t" lIns="73152" rIns="73152" tIns="73152" bIns="73152">
            <a:spAutoFit/>
          </a:bodyPr>
          <a:lstStyle/>
          <a:p>
            <a:pPr marL="300000" indent="-228600">
              <a:lnSpc>
                <a:spcPct val="95000"/>
              </a:lnSpc>
              <a:spcBef>
                <a:spcPts val="600"/>
              </a:spcBef>
              <a:buChar char="•"/>
            </a:pPr>
            <a:r>
              <a:rPr sz="1350" b="1" i="0">
                <a:solidFill>
                  <a:srgbClr val="1F2933"/>
                </a:solidFill>
                <a:latin typeface="Quattrocento Sans"/>
              </a:rPr>
              <a:t>τ = −Kp θe − Kd(ω − ω_ref) + Iα_ref + ω × (Iω + h_w)</a:t>
            </a:r>
          </a:p>
          <a:p>
            <a:pPr marL="300000" indent="-228600">
              <a:lnSpc>
                <a:spcPct val="95000"/>
              </a:lnSpc>
              <a:spcBef>
                <a:spcPts val="600"/>
              </a:spcBef>
              <a:buChar char="•"/>
            </a:pPr>
            <a:r>
              <a:rPr sz="1350" b="1" i="0">
                <a:solidFill>
                  <a:srgbClr val="1F2933"/>
                </a:solidFill>
                <a:latin typeface="Quattrocento Sans"/>
              </a:rPr>
              <a:t>Kp = Iωn², Kd = 2ζIωn: </a:t>
            </a:r>
            <a:r>
              <a:rPr sz="1350" b="0" i="0">
                <a:solidFill>
                  <a:srgbClr val="1F2933"/>
                </a:solidFill>
                <a:latin typeface="Quattrocento Sans"/>
              </a:rPr>
              <a:t>ωn = 2 rad/s, ζ = 0.9 → about 1.5 s rise, no overshoot</a:t>
            </a:r>
          </a:p>
          <a:p>
            <a:pPr marL="300000" indent="-228600">
              <a:lnSpc>
                <a:spcPct val="95000"/>
              </a:lnSpc>
              <a:spcBef>
                <a:spcPts val="600"/>
              </a:spcBef>
              <a:buChar char="•"/>
            </a:pPr>
            <a:r>
              <a:rPr sz="1350" b="1" i="0">
                <a:solidFill>
                  <a:srgbClr val="1F2933"/>
                </a:solidFill>
                <a:latin typeface="Quattrocento Sans"/>
              </a:rPr>
              <a:t>u = −D⁺τ: </a:t>
            </a:r>
            <a:r>
              <a:rPr sz="1350" b="0" i="0">
                <a:solidFill>
                  <a:srgbClr val="1F2933"/>
                </a:solidFill>
                <a:latin typeface="Quattrocento Sans"/>
              </a:rPr>
              <a:t>least total wheel torque; any 3 of the 4 pyramid wheels still span all 3 axes (Req. 3)</a:t>
            </a:r>
          </a:p>
          <a:p>
            <a:pPr marL="300000" indent="-228600">
              <a:lnSpc>
                <a:spcPct val="95000"/>
              </a:lnSpc>
              <a:spcBef>
                <a:spcPts val="600"/>
              </a:spcBef>
              <a:buChar char="•"/>
            </a:pPr>
            <a:r>
              <a:rPr sz="1350" b="1" i="0">
                <a:solidFill>
                  <a:srgbClr val="1F2933"/>
                </a:solidFill>
                <a:latin typeface="Quattrocento Sans"/>
              </a:rPr>
              <a:t>Null mode: </a:t>
            </a:r>
            <a:r>
              <a:rPr sz="1350" b="0" i="0">
                <a:solidFill>
                  <a:srgbClr val="1F2933"/>
                </a:solidFill>
                <a:latin typeface="Quattrocento Sans"/>
              </a:rPr>
              <a:t>keeps every wheel ≥ 100 rpm from zero, so the magnetometer aid stays usable during holds</a:t>
            </a:r>
          </a:p>
          <a:p>
            <a:pPr marL="300000" indent="-228600">
              <a:lnSpc>
                <a:spcPct val="95000"/>
              </a:lnSpc>
              <a:spcBef>
                <a:spcPts val="600"/>
              </a:spcBef>
              <a:buChar char="•"/>
            </a:pPr>
            <a:r>
              <a:rPr sz="1350" b="1" i="0">
                <a:solidFill>
                  <a:srgbClr val="1F2933"/>
                </a:solidFill>
                <a:latin typeface="Quattrocento Sans"/>
              </a:rPr>
              <a:t>Tunable live: </a:t>
            </a:r>
            <a:r>
              <a:rPr sz="1350" b="0" i="0">
                <a:solidFill>
                  <a:srgbClr val="1F2933"/>
                </a:solidFill>
                <a:latin typeface="Quattrocento Sans"/>
              </a:rPr>
              <a:t>SET ATT_BW / ATT_ZETA / IZZ over the radio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Code: Wheel-Failure Detection</a:t>
            </a:r>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92" name="Rounded Rectangle 91"/>
          <p:cNvSpPr/>
          <p:nvPr/>
        </p:nvSpPr>
        <p:spPr>
          <a:xfrm>
            <a:off x="274320" y="914400"/>
            <a:ext cx="5120640" cy="2612136"/>
          </a:xfrm>
          <a:prstGeom prst="roundRect">
            <a:avLst>
              <a:gd name="adj" fmla="val 3000"/>
            </a:avLst>
          </a:prstGeom>
          <a:solidFill>
            <a:srgbClr val="F3F4F6"/>
          </a:solidFill>
          <a:ln w="15875">
            <a:solidFill>
              <a:srgbClr val="C9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320040" y="960120"/>
            <a:ext cx="5029200" cy="2520695"/>
          </a:xfrm>
          <a:prstGeom prst="rect">
            <a:avLst/>
          </a:prstGeom>
          <a:noFill/>
        </p:spPr>
        <p:txBody>
          <a:bodyPr wrap="square" anchor="t" tIns="91440" bIns="91440">
            <a:spAutoFit/>
          </a:bodyPr>
          <a:lstStyle/>
          <a:p>
            <a:pPr marL="0" indent="0">
              <a:lnSpc>
                <a:spcPct val="100000"/>
              </a:lnSpc>
              <a:spcBef>
                <a:spcPts val="0"/>
              </a:spcBef>
              <a:buNone/>
            </a:pPr>
            <a:r>
              <a:rPr sz="1300" b="0" i="0">
                <a:solidFill>
                  <a:srgbClr val="2E7D4F"/>
                </a:solidFill>
                <a:latin typeface="Courier New"/>
              </a:rPr>
              <a:t>// wheel_fault.cpp: every 0.1 s, per wheel</a:t>
            </a:r>
          </a:p>
          <a:p>
            <a:pPr marL="0" indent="0">
              <a:lnSpc>
                <a:spcPct val="100000"/>
              </a:lnSpc>
              <a:spcBef>
                <a:spcPts val="0"/>
              </a:spcBef>
              <a:buNone/>
            </a:pPr>
            <a:r>
              <a:rPr sz="1300" b="0" i="0">
                <a:solidFill>
                  <a:srgbClr val="1F2933"/>
                </a:solidFill>
                <a:latin typeface="Courier New"/>
              </a:rPr>
              <a:t>effort = duty - speed / 160;  </a:t>
            </a:r>
            <a:r>
              <a:rPr sz="1300" b="0" i="0">
                <a:solidFill>
                  <a:srgbClr val="2E7D4F"/>
                </a:solidFill>
                <a:latin typeface="Courier New"/>
              </a:rPr>
              <a:t>// ~ I / I_stall</a:t>
            </a:r>
          </a:p>
          <a:p>
            <a:pPr marL="0" indent="0">
              <a:lnSpc>
                <a:spcPct val="100000"/>
              </a:lnSpc>
              <a:spcBef>
                <a:spcPts val="0"/>
              </a:spcBef>
              <a:buNone/>
            </a:pPr>
            <a:r>
              <a:rPr sz="1300" b="0" i="0">
                <a:solidFill>
                  <a:srgbClr val="1F2933"/>
                </a:solidFill>
                <a:latin typeface="Courier New"/>
              </a:rPr>
              <a:t>if (|mean(effort)| &gt;= 0.2) {  </a:t>
            </a:r>
            <a:r>
              <a:rPr sz="1300" b="0" i="0">
                <a:solidFill>
                  <a:srgbClr val="2E7D4F"/>
                </a:solidFill>
                <a:latin typeface="Courier New"/>
              </a:rPr>
              <a:t>// driven hard</a:t>
            </a:r>
          </a:p>
          <a:p>
            <a:pPr marL="0" indent="0">
              <a:lnSpc>
                <a:spcPct val="100000"/>
              </a:lnSpc>
              <a:spcBef>
                <a:spcPts val="0"/>
              </a:spcBef>
              <a:buNone/>
            </a:pPr>
            <a:r>
              <a:rPr sz="1300" b="0" i="0">
                <a:solidFill>
                  <a:srgbClr val="1F2933"/>
                </a:solidFill>
                <a:latin typeface="Courier New"/>
              </a:rPr>
              <a:t>  predicted = 800 * sum(effort * dt);</a:t>
            </a:r>
          </a:p>
          <a:p>
            <a:pPr marL="0" indent="0">
              <a:lnSpc>
                <a:spcPct val="100000"/>
              </a:lnSpc>
              <a:spcBef>
                <a:spcPts val="0"/>
              </a:spcBef>
              <a:buNone/>
            </a:pPr>
            <a:r>
              <a:rPr sz="1300" b="0" i="0">
                <a:solidFill>
                  <a:srgbClr val="2E7D4F"/>
                </a:solidFill>
                <a:latin typeface="Courier New"/>
              </a:rPr>
              <a:t>                              // rad/s to gain</a:t>
            </a:r>
          </a:p>
          <a:p>
            <a:pPr marL="0" indent="0">
              <a:lnSpc>
                <a:spcPct val="100000"/>
              </a:lnSpc>
              <a:spcBef>
                <a:spcPts val="0"/>
              </a:spcBef>
              <a:buNone/>
            </a:pPr>
            <a:r>
              <a:rPr sz="1300" b="0" i="0">
                <a:solidFill>
                  <a:srgbClr val="1F2933"/>
                </a:solidFill>
                <a:latin typeface="Courier New"/>
              </a:rPr>
              <a:t>  gained = (speed - speed0) * sign(effort);</a:t>
            </a:r>
          </a:p>
          <a:p>
            <a:pPr marL="0" indent="0">
              <a:lnSpc>
                <a:spcPct val="100000"/>
              </a:lnSpc>
              <a:spcBef>
                <a:spcPts val="0"/>
              </a:spcBef>
              <a:buNone/>
            </a:pPr>
            <a:r>
              <a:rPr sz="1300" b="0" i="0">
                <a:solidFill>
                  <a:srgbClr val="1F2933"/>
                </a:solidFill>
                <a:latin typeface="Courier New"/>
              </a:rPr>
              <a:t>  bad = gained &lt; 0.25 * |predicted|;</a:t>
            </a:r>
          </a:p>
          <a:p>
            <a:pPr marL="0" indent="0">
              <a:lnSpc>
                <a:spcPct val="100000"/>
              </a:lnSpc>
              <a:spcBef>
                <a:spcPts val="0"/>
              </a:spcBef>
              <a:buNone/>
            </a:pPr>
            <a:r>
              <a:rPr sz="1300" b="0" i="0">
                <a:solidFill>
                  <a:srgbClr val="1F2933"/>
                </a:solidFill>
                <a:latin typeface="Courier New"/>
              </a:rPr>
              <a:t>}</a:t>
            </a:r>
          </a:p>
          <a:p>
            <a:pPr marL="0" indent="0">
              <a:lnSpc>
                <a:spcPct val="100000"/>
              </a:lnSpc>
              <a:spcBef>
                <a:spcPts val="0"/>
              </a:spcBef>
              <a:buNone/>
            </a:pPr>
            <a:r>
              <a:rPr sz="1300" b="0" i="0">
                <a:solidFill>
                  <a:srgbClr val="1F2933"/>
                </a:solidFill>
                <a:latin typeface="Courier New"/>
              </a:rPr>
              <a:t>if (bad for 0.2 s) {          </a:t>
            </a:r>
            <a:r>
              <a:rPr sz="1300" b="0" i="0">
                <a:solidFill>
                  <a:srgbClr val="2E7D4F"/>
                </a:solidFill>
                <a:latin typeface="Courier New"/>
              </a:rPr>
              <a:t>// 2 blocks</a:t>
            </a:r>
          </a:p>
          <a:p>
            <a:pPr marL="0" indent="0">
              <a:lnSpc>
                <a:spcPct val="100000"/>
              </a:lnSpc>
              <a:spcBef>
                <a:spcPts val="0"/>
              </a:spcBef>
              <a:buNone/>
            </a:pPr>
            <a:r>
              <a:rPr sz="1300" b="0" i="0">
                <a:solidFill>
                  <a:srgbClr val="1F2933"/>
                </a:solidFill>
                <a:latin typeface="Courier New"/>
              </a:rPr>
              <a:t>  wheelEnabled[i] = false;    </a:t>
            </a:r>
            <a:r>
              <a:rPr sz="1300" b="0" i="0">
                <a:solidFill>
                  <a:srgbClr val="2E7D4F"/>
                </a:solidFill>
                <a:latin typeface="Courier New"/>
              </a:rPr>
              <a:t>// use 3 wheels</a:t>
            </a:r>
          </a:p>
          <a:p>
            <a:pPr marL="0" indent="0">
              <a:lnSpc>
                <a:spcPct val="100000"/>
              </a:lnSpc>
              <a:spcBef>
                <a:spcPts val="0"/>
              </a:spcBef>
              <a:buNone/>
            </a:pPr>
            <a:r>
              <a:rPr sz="1300" b="0" i="0">
                <a:solidFill>
                  <a:srgbClr val="1F2933"/>
                </a:solidFill>
                <a:latin typeface="Courier New"/>
              </a:rPr>
              <a:t>  wheels[i].coast();          </a:t>
            </a:r>
            <a:r>
              <a:rPr sz="1300" b="0" i="0">
                <a:solidFill>
                  <a:srgbClr val="2E7D4F"/>
                </a:solidFill>
                <a:latin typeface="Courier New"/>
              </a:rPr>
              <a:t>// zero current</a:t>
            </a:r>
          </a:p>
          <a:p>
            <a:pPr marL="0" indent="0">
              <a:lnSpc>
                <a:spcPct val="100000"/>
              </a:lnSpc>
              <a:spcBef>
                <a:spcPts val="0"/>
              </a:spcBef>
              <a:buNone/>
            </a:pPr>
            <a:r>
              <a:rPr sz="1300" b="0" i="0">
                <a:solidFill>
                  <a:srgbClr val="1F2933"/>
                </a:solidFill>
                <a:latin typeface="Courier New"/>
              </a:rPr>
              <a:t>}</a:t>
            </a:r>
          </a:p>
        </p:txBody>
      </p:sp>
      <p:sp>
        <p:nvSpPr>
          <p:cNvPr id="94" name="TextBox 93"/>
          <p:cNvSpPr txBox="1"/>
          <p:nvPr/>
        </p:nvSpPr>
        <p:spPr>
          <a:xfrm>
            <a:off x="274320" y="3553967"/>
            <a:ext cx="5120640" cy="274320"/>
          </a:xfrm>
          <a:prstGeom prst="rect">
            <a:avLst/>
          </a:prstGeom>
          <a:noFill/>
        </p:spPr>
        <p:txBody>
          <a:bodyPr wrap="square" anchor="t" lIns="18288" rIns="18288" tIns="18288" bIns="18288">
            <a:spAutoFit/>
          </a:bodyPr>
          <a:lstStyle/>
          <a:p>
            <a:pPr marL="0" indent="0">
              <a:lnSpc>
                <a:spcPct val="95000"/>
              </a:lnSpc>
              <a:spcBef>
                <a:spcPts val="400"/>
              </a:spcBef>
              <a:buNone/>
            </a:pPr>
            <a:r>
              <a:rPr sz="1100" b="0" i="1">
                <a:solidFill>
                  <a:srgbClr val="616E7C"/>
                </a:solidFill>
                <a:latin typeface="Quattrocento Sans"/>
              </a:rPr>
              <a:t>Excerpt, simplified from wheel_fault.cpp</a:t>
            </a:r>
          </a:p>
        </p:txBody>
      </p:sp>
      <p:sp>
        <p:nvSpPr>
          <p:cNvPr id="95" name="TextBox 94"/>
          <p:cNvSpPr txBox="1"/>
          <p:nvPr/>
        </p:nvSpPr>
        <p:spPr>
          <a:xfrm>
            <a:off x="5577840" y="914400"/>
            <a:ext cx="3291840" cy="3566160"/>
          </a:xfrm>
          <a:prstGeom prst="rect">
            <a:avLst/>
          </a:prstGeom>
          <a:noFill/>
        </p:spPr>
        <p:txBody>
          <a:bodyPr wrap="square" anchor="t" lIns="73152" rIns="73152" tIns="73152" bIns="73152">
            <a:spAutoFit/>
          </a:bodyPr>
          <a:lstStyle/>
          <a:p>
            <a:pPr marL="300000" indent="-228600">
              <a:lnSpc>
                <a:spcPct val="95000"/>
              </a:lnSpc>
              <a:spcBef>
                <a:spcPts val="600"/>
              </a:spcBef>
              <a:buChar char="•"/>
            </a:pPr>
            <a:r>
              <a:rPr sz="1350" b="1" i="0">
                <a:solidFill>
                  <a:srgbClr val="1F2933"/>
                </a:solidFill>
                <a:latin typeface="Quattrocento Sans"/>
              </a:rPr>
              <a:t>DC motor: </a:t>
            </a:r>
            <a:r>
              <a:rPr sz="1350" b="0" i="0">
                <a:solidFill>
                  <a:srgbClr val="1F2933"/>
                </a:solidFill>
                <a:latin typeface="Quattrocento Sans"/>
              </a:rPr>
              <a:t>current ∝ V − kₑω, so effort = duty − ω/ω_free estimates it without a current sensor</a:t>
            </a:r>
          </a:p>
          <a:p>
            <a:pPr marL="300000" indent="-228600">
              <a:lnSpc>
                <a:spcPct val="95000"/>
              </a:lnSpc>
              <a:spcBef>
                <a:spcPts val="600"/>
              </a:spcBef>
              <a:buChar char="•"/>
            </a:pPr>
            <a:r>
              <a:rPr sz="1350" b="1" i="0">
                <a:solidFill>
                  <a:srgbClr val="1F2933"/>
                </a:solidFill>
                <a:latin typeface="Quattrocento Sans"/>
              </a:rPr>
              <a:t>Healthy: </a:t>
            </a:r>
            <a:r>
              <a:rPr sz="1350" b="0" i="0">
                <a:solidFill>
                  <a:srgbClr val="1F2933"/>
                </a:solidFill>
                <a:latin typeface="Quattrocento Sans"/>
              </a:rPr>
              <a:t>J ω̇ ∝ effort → a predicted speed gain; a dead motor gains ~0</a:t>
            </a:r>
          </a:p>
          <a:p>
            <a:pPr marL="300000" indent="-228600">
              <a:lnSpc>
                <a:spcPct val="95000"/>
              </a:lnSpc>
              <a:spcBef>
                <a:spcPts val="600"/>
              </a:spcBef>
              <a:buChar char="•"/>
            </a:pPr>
            <a:r>
              <a:rPr sz="1350" b="1" i="0">
                <a:solidFill>
                  <a:srgbClr val="1F2933"/>
                </a:solidFill>
                <a:latin typeface="Quattrocento Sans"/>
              </a:rPr>
              <a:t>Coast, not brake: </a:t>
            </a:r>
            <a:r>
              <a:rPr sz="1350" b="0" i="0">
                <a:solidFill>
                  <a:srgbClr val="1F2933"/>
                </a:solidFill>
                <a:latin typeface="Quattrocento Sans"/>
              </a:rPr>
              <a:t>braking would dump the wheel’s momentum into the table</a:t>
            </a:r>
          </a:p>
          <a:p>
            <a:pPr marL="300000" indent="-228600">
              <a:lnSpc>
                <a:spcPct val="95000"/>
              </a:lnSpc>
              <a:spcBef>
                <a:spcPts val="600"/>
              </a:spcBef>
              <a:buChar char="•"/>
            </a:pPr>
            <a:r>
              <a:rPr sz="1350" b="1" i="0">
                <a:solidFill>
                  <a:srgbClr val="1F2933"/>
                </a:solidFill>
                <a:latin typeface="Quattrocento Sans"/>
              </a:rPr>
              <a:t>FAULT TEST: </a:t>
            </a:r>
            <a:r>
              <a:rPr sz="1350" b="0" i="0">
                <a:solidFill>
                  <a:srgbClr val="1F2933"/>
                </a:solidFill>
                <a:latin typeface="Quattrocento Sans"/>
              </a:rPr>
              <a:t>cuts a motor without telling the controller; graded on the Teensy</a:t>
            </a:r>
          </a:p>
        </p:txBody>
      </p:sp>
      <p:sp>
        <p:nvSpPr>
          <p:cNvPr id="96" name="Rounded Rectangle 95"/>
          <p:cNvSpPr/>
          <p:nvPr/>
        </p:nvSpPr>
        <p:spPr>
          <a:xfrm>
            <a:off x="274320" y="4846320"/>
            <a:ext cx="2468880" cy="11887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274320" y="4892040"/>
            <a:ext cx="2468880" cy="653796"/>
          </a:xfrm>
          <a:prstGeom prst="rect">
            <a:avLst/>
          </a:prstGeom>
          <a:noFill/>
        </p:spPr>
        <p:txBody>
          <a:bodyPr wrap="square" anchor="ctr" lIns="45720" rIns="45720">
            <a:spAutoFit/>
          </a:bodyPr>
          <a:lstStyle/>
          <a:p>
            <a:pPr marL="0" indent="0" algn="ctr">
              <a:lnSpc>
                <a:spcPct val="95000"/>
              </a:lnSpc>
              <a:spcBef>
                <a:spcPts val="400"/>
              </a:spcBef>
              <a:buNone/>
            </a:pPr>
            <a:r>
              <a:rPr sz="2400" b="1" i="0">
                <a:solidFill>
                  <a:srgbClr val="2F5D8A"/>
                </a:solidFill>
                <a:latin typeface="Quattrocento Sans"/>
              </a:rPr>
              <a:t>0.6–0.8 s</a:t>
            </a:r>
          </a:p>
        </p:txBody>
      </p:sp>
      <p:sp>
        <p:nvSpPr>
          <p:cNvPr id="98" name="TextBox 97"/>
          <p:cNvSpPr txBox="1"/>
          <p:nvPr/>
        </p:nvSpPr>
        <p:spPr>
          <a:xfrm>
            <a:off x="347472" y="5500116"/>
            <a:ext cx="2322576" cy="511149"/>
          </a:xfrm>
          <a:prstGeom prst="rect">
            <a:avLst/>
          </a:prstGeom>
          <a:noFill/>
        </p:spPr>
        <p:txBody>
          <a:bodyPr wrap="square" anchor="t" lIns="27432" rIns="27432" tIns="27432" bIns="27432">
            <a:spAutoFit/>
          </a:bodyPr>
          <a:lstStyle/>
          <a:p>
            <a:pPr marL="0" indent="0" algn="ctr">
              <a:lnSpc>
                <a:spcPct val="95000"/>
              </a:lnSpc>
              <a:spcBef>
                <a:spcPts val="400"/>
              </a:spcBef>
              <a:buNone/>
            </a:pPr>
            <a:r>
              <a:rPr sz="1250" b="0" i="0">
                <a:solidFill>
                  <a:srgbClr val="1F2933"/>
                </a:solidFill>
                <a:latin typeface="Quattrocento Sans"/>
              </a:rPr>
              <a:t>to detect a dead motor (simulation)</a:t>
            </a:r>
          </a:p>
        </p:txBody>
      </p:sp>
      <p:sp>
        <p:nvSpPr>
          <p:cNvPr id="99" name="Rounded Rectangle 98"/>
          <p:cNvSpPr/>
          <p:nvPr/>
        </p:nvSpPr>
        <p:spPr>
          <a:xfrm>
            <a:off x="2926080" y="4846320"/>
            <a:ext cx="2468880" cy="11887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2926080" y="4892040"/>
            <a:ext cx="2468880" cy="653796"/>
          </a:xfrm>
          <a:prstGeom prst="rect">
            <a:avLst/>
          </a:prstGeom>
          <a:noFill/>
        </p:spPr>
        <p:txBody>
          <a:bodyPr wrap="square" anchor="ctr" lIns="45720" rIns="45720">
            <a:spAutoFit/>
          </a:bodyPr>
          <a:lstStyle/>
          <a:p>
            <a:pPr marL="0" indent="0" algn="ctr">
              <a:lnSpc>
                <a:spcPct val="95000"/>
              </a:lnSpc>
              <a:spcBef>
                <a:spcPts val="400"/>
              </a:spcBef>
              <a:buNone/>
            </a:pPr>
            <a:r>
              <a:rPr sz="2400" b="1" i="0">
                <a:solidFill>
                  <a:srgbClr val="2E7D4F"/>
                </a:solidFill>
                <a:latin typeface="Quattrocento Sans"/>
              </a:rPr>
              <a:t>0</a:t>
            </a:r>
          </a:p>
        </p:txBody>
      </p:sp>
      <p:sp>
        <p:nvSpPr>
          <p:cNvPr id="101" name="TextBox 100"/>
          <p:cNvSpPr txBox="1"/>
          <p:nvPr/>
        </p:nvSpPr>
        <p:spPr>
          <a:xfrm>
            <a:off x="2999232" y="5500116"/>
            <a:ext cx="2322576" cy="511149"/>
          </a:xfrm>
          <a:prstGeom prst="rect">
            <a:avLst/>
          </a:prstGeom>
          <a:noFill/>
        </p:spPr>
        <p:txBody>
          <a:bodyPr wrap="square" anchor="t" lIns="27432" rIns="27432" tIns="27432" bIns="27432">
            <a:spAutoFit/>
          </a:bodyPr>
          <a:lstStyle/>
          <a:p>
            <a:pPr marL="0" indent="0" algn="ctr">
              <a:lnSpc>
                <a:spcPct val="95000"/>
              </a:lnSpc>
              <a:spcBef>
                <a:spcPts val="400"/>
              </a:spcBef>
              <a:buNone/>
            </a:pPr>
            <a:r>
              <a:rPr sz="1250" b="0" i="0">
                <a:solidFill>
                  <a:srgbClr val="1F2933"/>
                </a:solidFill>
                <a:latin typeface="Quattrocento Sans"/>
              </a:rPr>
              <a:t>false alarms in 4 healthy simulated runs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Simulation: Methods</a:t>
            </a:r>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92" name="Rounded Rectangle 91"/>
          <p:cNvSpPr/>
          <p:nvPr/>
        </p:nvSpPr>
        <p:spPr>
          <a:xfrm>
            <a:off x="274320" y="914400"/>
            <a:ext cx="2743200" cy="2606040"/>
          </a:xfrm>
          <a:prstGeom prst="roundRect">
            <a:avLst>
              <a:gd name="adj" fmla="val 5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365760" y="960120"/>
            <a:ext cx="2560320" cy="384048"/>
          </a:xfrm>
          <a:prstGeom prst="rect">
            <a:avLst/>
          </a:prstGeom>
          <a:noFill/>
        </p:spPr>
        <p:txBody>
          <a:bodyPr wrap="square" anchor="t" lIns="73152" rIns="73152" tIns="73152" bIns="73152">
            <a:spAutoFit/>
          </a:bodyPr>
          <a:lstStyle/>
          <a:p>
            <a:pPr marL="0" indent="0">
              <a:lnSpc>
                <a:spcPct val="95000"/>
              </a:lnSpc>
              <a:spcBef>
                <a:spcPts val="400"/>
              </a:spcBef>
              <a:buNone/>
            </a:pPr>
            <a:r>
              <a:rPr sz="1450" b="1" i="0">
                <a:solidFill>
                  <a:srgbClr val="2F5D8A"/>
                </a:solidFill>
                <a:latin typeface="Quattrocento Sans"/>
              </a:rPr>
              <a:t>Truth model (independent)</a:t>
            </a:r>
          </a:p>
        </p:txBody>
      </p:sp>
      <p:sp>
        <p:nvSpPr>
          <p:cNvPr id="94" name="TextBox 93"/>
          <p:cNvSpPr txBox="1"/>
          <p:nvPr/>
        </p:nvSpPr>
        <p:spPr>
          <a:xfrm>
            <a:off x="320040" y="1325880"/>
            <a:ext cx="2651760" cy="2148840"/>
          </a:xfrm>
          <a:prstGeom prst="rect">
            <a:avLst/>
          </a:prstGeom>
          <a:noFill/>
        </p:spPr>
        <p:txBody>
          <a:bodyPr wrap="square" anchor="t" lIns="73152" rIns="73152" tIns="73152" bIns="73152">
            <a:spAutoFit/>
          </a:bodyPr>
          <a:lstStyle/>
          <a:p>
            <a:pPr marL="300000" indent="-228600">
              <a:lnSpc>
                <a:spcPct val="95000"/>
              </a:lnSpc>
              <a:spcBef>
                <a:spcPts val="300"/>
              </a:spcBef>
              <a:buChar char="•"/>
            </a:pPr>
            <a:r>
              <a:rPr sz="1250" b="0" i="0">
                <a:solidFill>
                  <a:srgbClr val="1F2933"/>
                </a:solidFill>
                <a:latin typeface="Quattrocento Sans"/>
              </a:rPr>
              <a:t>Rigid table + 4 wheels, gyroscopic coupling</a:t>
            </a:r>
          </a:p>
          <a:p>
            <a:pPr marL="300000" indent="-228600">
              <a:lnSpc>
                <a:spcPct val="95000"/>
              </a:lnSpc>
              <a:spcBef>
                <a:spcPts val="300"/>
              </a:spcBef>
              <a:buChar char="•"/>
            </a:pPr>
            <a:r>
              <a:rPr sz="1250" b="0" i="0">
                <a:solidFill>
                  <a:srgbClr val="1F2933"/>
                </a:solidFill>
                <a:latin typeface="Quattrocento Sans"/>
              </a:rPr>
              <a:t>Motors: stall torque, back-EMF, friction, pack differences</a:t>
            </a:r>
          </a:p>
          <a:p>
            <a:pPr marL="300000" indent="-228600">
              <a:lnSpc>
                <a:spcPct val="95000"/>
              </a:lnSpc>
              <a:spcBef>
                <a:spcPts val="300"/>
              </a:spcBef>
              <a:buChar char="•"/>
            </a:pPr>
            <a:r>
              <a:rPr sz="1250" b="0" i="0">
                <a:solidFill>
                  <a:srgbClr val="1F2933"/>
                </a:solidFill>
                <a:latin typeface="Quattrocento Sans"/>
              </a:rPr>
              <a:t>Encoder counts, gyro noise</a:t>
            </a:r>
          </a:p>
          <a:p>
            <a:pPr marL="300000" indent="-228600">
              <a:lnSpc>
                <a:spcPct val="95000"/>
              </a:lnSpc>
              <a:spcBef>
                <a:spcPts val="300"/>
              </a:spcBef>
              <a:buChar char="•"/>
            </a:pPr>
            <a:r>
              <a:rPr sz="1250" b="0" i="0">
                <a:solidFill>
                  <a:srgbClr val="1F2933"/>
                </a:solidFill>
                <a:latin typeface="Quattrocento Sans"/>
              </a:rPr>
              <a:t>Gravity pendulum + yaw drag fitted to the table</a:t>
            </a:r>
          </a:p>
        </p:txBody>
      </p:sp>
      <p:sp>
        <p:nvSpPr>
          <p:cNvPr id="95" name="Rounded Rectangle 94"/>
          <p:cNvSpPr/>
          <p:nvPr/>
        </p:nvSpPr>
        <p:spPr>
          <a:xfrm>
            <a:off x="3182112" y="914400"/>
            <a:ext cx="2743200" cy="2606040"/>
          </a:xfrm>
          <a:prstGeom prst="roundRect">
            <a:avLst>
              <a:gd name="adj" fmla="val 5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3273552" y="960120"/>
            <a:ext cx="2560320" cy="384048"/>
          </a:xfrm>
          <a:prstGeom prst="rect">
            <a:avLst/>
          </a:prstGeom>
          <a:noFill/>
        </p:spPr>
        <p:txBody>
          <a:bodyPr wrap="square" anchor="t" lIns="73152" rIns="73152" tIns="73152" bIns="73152">
            <a:spAutoFit/>
          </a:bodyPr>
          <a:lstStyle/>
          <a:p>
            <a:pPr marL="0" indent="0">
              <a:lnSpc>
                <a:spcPct val="95000"/>
              </a:lnSpc>
              <a:spcBef>
                <a:spcPts val="400"/>
              </a:spcBef>
              <a:buNone/>
            </a:pPr>
            <a:r>
              <a:rPr sz="1450" b="1" i="0">
                <a:solidFill>
                  <a:srgbClr val="2F5D8A"/>
                </a:solidFill>
                <a:latin typeface="Quattrocento Sans"/>
              </a:rPr>
              <a:t>Firmware logic (ported)</a:t>
            </a:r>
          </a:p>
        </p:txBody>
      </p:sp>
      <p:sp>
        <p:nvSpPr>
          <p:cNvPr id="97" name="TextBox 96"/>
          <p:cNvSpPr txBox="1"/>
          <p:nvPr/>
        </p:nvSpPr>
        <p:spPr>
          <a:xfrm>
            <a:off x="3227832" y="1325880"/>
            <a:ext cx="2651760" cy="2148840"/>
          </a:xfrm>
          <a:prstGeom prst="rect">
            <a:avLst/>
          </a:prstGeom>
          <a:noFill/>
        </p:spPr>
        <p:txBody>
          <a:bodyPr wrap="square" anchor="t" lIns="73152" rIns="73152" tIns="73152" bIns="73152">
            <a:spAutoFit/>
          </a:bodyPr>
          <a:lstStyle/>
          <a:p>
            <a:pPr marL="300000" indent="-228600">
              <a:lnSpc>
                <a:spcPct val="95000"/>
              </a:lnSpc>
              <a:spcBef>
                <a:spcPts val="300"/>
              </a:spcBef>
              <a:buChar char="•"/>
            </a:pPr>
            <a:r>
              <a:rPr sz="1250" b="0" i="0">
                <a:solidFill>
                  <a:srgbClr val="1F2933"/>
                </a:solidFill>
                <a:latin typeface="Quattrocento Sans"/>
              </a:rPr>
              <a:t>MEKF and magnetometer gating</a:t>
            </a:r>
          </a:p>
          <a:p>
            <a:pPr marL="300000" indent="-228600">
              <a:lnSpc>
                <a:spcPct val="95000"/>
              </a:lnSpc>
              <a:spcBef>
                <a:spcPts val="300"/>
              </a:spcBef>
              <a:buChar char="•"/>
            </a:pPr>
            <a:r>
              <a:rPr sz="1250" b="0" i="0">
                <a:solidFill>
                  <a:srgbClr val="1F2933"/>
                </a:solidFill>
                <a:latin typeface="Quattrocento Sans"/>
              </a:rPr>
              <a:t>Quaternion PD, allocation, null mode</a:t>
            </a:r>
          </a:p>
          <a:p>
            <a:pPr marL="300000" indent="-228600">
              <a:lnSpc>
                <a:spcPct val="95000"/>
              </a:lnSpc>
              <a:spcBef>
                <a:spcPts val="300"/>
              </a:spcBef>
              <a:buChar char="•"/>
            </a:pPr>
            <a:r>
              <a:rPr sz="1250" b="0" i="0">
                <a:solidFill>
                  <a:srgbClr val="1F2933"/>
                </a:solidFill>
                <a:latin typeface="Quattrocento Sans"/>
              </a:rPr>
              <a:t>100 Hz wheel PI with current limit</a:t>
            </a:r>
          </a:p>
          <a:p>
            <a:pPr marL="300000" indent="-228600">
              <a:lnSpc>
                <a:spcPct val="95000"/>
              </a:lnSpc>
              <a:spcBef>
                <a:spcPts val="300"/>
              </a:spcBef>
              <a:buChar char="•"/>
            </a:pPr>
            <a:r>
              <a:rPr sz="1250" b="0" i="0">
                <a:solidFill>
                  <a:srgbClr val="1F2933"/>
                </a:solidFill>
                <a:latin typeface="Quattrocento Sans"/>
              </a:rPr>
              <a:t>Fault detector and the on-board test graders</a:t>
            </a:r>
          </a:p>
        </p:txBody>
      </p:sp>
      <p:sp>
        <p:nvSpPr>
          <p:cNvPr id="98" name="Rounded Rectangle 97"/>
          <p:cNvSpPr/>
          <p:nvPr/>
        </p:nvSpPr>
        <p:spPr>
          <a:xfrm>
            <a:off x="6089904" y="914400"/>
            <a:ext cx="2743200" cy="2606040"/>
          </a:xfrm>
          <a:prstGeom prst="roundRect">
            <a:avLst>
              <a:gd name="adj" fmla="val 5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6181344" y="960120"/>
            <a:ext cx="2560320" cy="384048"/>
          </a:xfrm>
          <a:prstGeom prst="rect">
            <a:avLst/>
          </a:prstGeom>
          <a:noFill/>
        </p:spPr>
        <p:txBody>
          <a:bodyPr wrap="square" anchor="t" lIns="73152" rIns="73152" tIns="73152" bIns="73152">
            <a:spAutoFit/>
          </a:bodyPr>
          <a:lstStyle/>
          <a:p>
            <a:pPr marL="0" indent="0">
              <a:lnSpc>
                <a:spcPct val="95000"/>
              </a:lnSpc>
              <a:spcBef>
                <a:spcPts val="400"/>
              </a:spcBef>
              <a:buNone/>
            </a:pPr>
            <a:r>
              <a:rPr sz="1450" b="1" i="0">
                <a:solidFill>
                  <a:srgbClr val="2F5D8A"/>
                </a:solidFill>
                <a:latin typeface="Quattrocento Sans"/>
              </a:rPr>
              <a:t>Test cases</a:t>
            </a:r>
          </a:p>
        </p:txBody>
      </p:sp>
      <p:sp>
        <p:nvSpPr>
          <p:cNvPr id="100" name="TextBox 99"/>
          <p:cNvSpPr txBox="1"/>
          <p:nvPr/>
        </p:nvSpPr>
        <p:spPr>
          <a:xfrm>
            <a:off x="6135624" y="1325880"/>
            <a:ext cx="2651760" cy="2148840"/>
          </a:xfrm>
          <a:prstGeom prst="rect">
            <a:avLst/>
          </a:prstGeom>
          <a:noFill/>
        </p:spPr>
        <p:txBody>
          <a:bodyPr wrap="square" anchor="t" lIns="73152" rIns="73152" tIns="73152" bIns="73152">
            <a:spAutoFit/>
          </a:bodyPr>
          <a:lstStyle/>
          <a:p>
            <a:pPr marL="300000" indent="-228600">
              <a:lnSpc>
                <a:spcPct val="95000"/>
              </a:lnSpc>
              <a:spcBef>
                <a:spcPts val="300"/>
              </a:spcBef>
              <a:buChar char="•"/>
            </a:pPr>
            <a:r>
              <a:rPr sz="1250" b="0" i="0">
                <a:solidFill>
                  <a:srgbClr val="1F2933"/>
                </a:solidFill>
                <a:latin typeface="Quattrocento Sans"/>
              </a:rPr>
              <a:t>Balanced vs today’s pendulous table</a:t>
            </a:r>
          </a:p>
          <a:p>
            <a:pPr marL="300000" indent="-228600">
              <a:lnSpc>
                <a:spcPct val="95000"/>
              </a:lnSpc>
              <a:spcBef>
                <a:spcPts val="300"/>
              </a:spcBef>
              <a:buChar char="•"/>
            </a:pPr>
            <a:r>
              <a:rPr sz="1250" b="0" i="0">
                <a:solidFill>
                  <a:srgbClr val="1F2933"/>
                </a:solidFill>
                <a:latin typeface="Quattrocento Sans"/>
              </a:rPr>
              <a:t>Each wheel failing; mid-slew and mid-hold</a:t>
            </a:r>
          </a:p>
          <a:p>
            <a:pPr marL="300000" indent="-228600">
              <a:lnSpc>
                <a:spcPct val="95000"/>
              </a:lnSpc>
              <a:spcBef>
                <a:spcPts val="300"/>
              </a:spcBef>
              <a:buChar char="•"/>
            </a:pPr>
            <a:r>
              <a:rPr sz="1250" b="0" i="0">
                <a:solidFill>
                  <a:srgbClr val="1F2933"/>
                </a:solidFill>
                <a:latin typeface="Quattrocento Sans"/>
              </a:rPr>
              <a:t>Healthy runs to count false alarms</a:t>
            </a:r>
          </a:p>
          <a:p>
            <a:pPr marL="300000" indent="-228600">
              <a:lnSpc>
                <a:spcPct val="95000"/>
              </a:lnSpc>
              <a:spcBef>
                <a:spcPts val="300"/>
              </a:spcBef>
              <a:buChar char="•"/>
            </a:pPr>
            <a:r>
              <a:rPr sz="1250" b="0" i="0">
                <a:solidFill>
                  <a:srgbClr val="1F2933"/>
                </a:solidFill>
                <a:latin typeface="Quattrocento Sans"/>
              </a:rPr>
              <a:t>Pass/fail by the same rules as on the table</a:t>
            </a:r>
          </a:p>
        </p:txBody>
      </p:sp>
      <p:sp>
        <p:nvSpPr>
          <p:cNvPr id="101" name="Takeaway"/>
          <p:cNvSpPr txBox="1"/>
          <p:nvPr/>
        </p:nvSpPr>
        <p:spPr>
          <a:xfrm>
            <a:off x="274320" y="3657600"/>
            <a:ext cx="8595360" cy="402336"/>
          </a:xfrm>
          <a:prstGeom prst="rect">
            <a:avLst/>
          </a:prstGeom>
          <a:solidFill>
            <a:srgbClr val="E8F3EC"/>
          </a:solidFill>
        </p:spPr>
        <p:txBody>
          <a:bodyPr wrap="square" anchor="ctr" tIns="91440" bIns="91440">
            <a:spAutoFit/>
          </a:bodyPr>
          <a:lstStyle/>
          <a:p>
            <a:pPr marL="0" indent="0">
              <a:lnSpc>
                <a:spcPct val="95000"/>
              </a:lnSpc>
              <a:spcBef>
                <a:spcPts val="400"/>
              </a:spcBef>
              <a:buNone/>
            </a:pPr>
            <a:r>
              <a:rPr sz="1500" b="1" i="0">
                <a:solidFill>
                  <a:srgbClr val="2E7D4F"/>
                </a:solidFill>
                <a:latin typeface="Quattrocento Sans"/>
              </a:rPr>
              <a:t>Takeaway: </a:t>
            </a:r>
            <a:r>
              <a:rPr sz="1500" b="1" i="0">
                <a:solidFill>
                  <a:srgbClr val="1F2933"/>
                </a:solidFill>
                <a:latin typeface="Quattrocento Sans"/>
              </a:rPr>
              <a:t>Estimator vs truth (3-axis motion): roll/pitch error &lt; 0.1°, yaw inside its 1σ band</a:t>
            </a:r>
          </a:p>
        </p:txBody>
      </p:sp>
      <p:pic>
        <p:nvPicPr>
          <p:cNvPr id="102" name="Picture 101" descr="sim1_ekf_verification.png"/>
          <p:cNvPicPr>
            <a:picLocks noChangeAspect="1"/>
          </p:cNvPicPr>
          <p:nvPr/>
        </p:nvPicPr>
        <p:blipFill>
          <a:blip r:embed="rId3"/>
          <a:stretch>
            <a:fillRect/>
          </a:stretch>
        </p:blipFill>
        <p:spPr>
          <a:xfrm>
            <a:off x="1389163" y="4114800"/>
            <a:ext cx="6365673" cy="224028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Simulation: Wheel Failure (Req. 3)</a:t>
            </a:r>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92" name="Takeaway"/>
          <p:cNvSpPr txBox="1"/>
          <p:nvPr/>
        </p:nvSpPr>
        <p:spPr>
          <a:xfrm>
            <a:off x="274320" y="914400"/>
            <a:ext cx="8595360" cy="402336"/>
          </a:xfrm>
          <a:prstGeom prst="rect">
            <a:avLst/>
          </a:prstGeom>
          <a:solidFill>
            <a:srgbClr val="E8F3EC"/>
          </a:solidFill>
        </p:spPr>
        <p:txBody>
          <a:bodyPr wrap="square" anchor="ctr" tIns="91440" bIns="91440">
            <a:spAutoFit/>
          </a:bodyPr>
          <a:lstStyle/>
          <a:p>
            <a:pPr marL="0" indent="0">
              <a:lnSpc>
                <a:spcPct val="95000"/>
              </a:lnSpc>
              <a:spcBef>
                <a:spcPts val="400"/>
              </a:spcBef>
              <a:buNone/>
            </a:pPr>
            <a:r>
              <a:rPr sz="1500" b="1" i="0">
                <a:solidFill>
                  <a:srgbClr val="2E7D4F"/>
                </a:solidFill>
                <a:latin typeface="Quattrocento Sans"/>
              </a:rPr>
              <a:t>Takeaway: </a:t>
            </a:r>
            <a:r>
              <a:rPr sz="1500" b="1" i="0">
                <a:solidFill>
                  <a:srgbClr val="1F2933"/>
                </a:solidFill>
                <a:latin typeface="Quattrocento Sans"/>
              </a:rPr>
              <a:t>A motor dying mid-hold is caught in &lt; 1 s and the other 3 wheels hold ±1°</a:t>
            </a:r>
          </a:p>
        </p:txBody>
      </p:sp>
      <p:pic>
        <p:nvPicPr>
          <p:cNvPr id="93" name="Picture 92" descr="sim9_fault_level.png"/>
          <p:cNvPicPr>
            <a:picLocks noChangeAspect="1"/>
          </p:cNvPicPr>
          <p:nvPr/>
        </p:nvPicPr>
        <p:blipFill>
          <a:blip r:embed="rId3"/>
          <a:stretch>
            <a:fillRect/>
          </a:stretch>
        </p:blipFill>
        <p:spPr>
          <a:xfrm>
            <a:off x="274320" y="1417320"/>
            <a:ext cx="5577840" cy="3700096"/>
          </a:xfrm>
          <a:prstGeom prst="rect">
            <a:avLst/>
          </a:prstGeom>
        </p:spPr>
      </p:pic>
      <p:sp>
        <p:nvSpPr>
          <p:cNvPr id="94" name="Rounded Rectangle 93"/>
          <p:cNvSpPr/>
          <p:nvPr/>
        </p:nvSpPr>
        <p:spPr>
          <a:xfrm>
            <a:off x="6035040" y="1463040"/>
            <a:ext cx="2834640" cy="10972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6035040" y="1508760"/>
            <a:ext cx="2834640" cy="603504"/>
          </a:xfrm>
          <a:prstGeom prst="rect">
            <a:avLst/>
          </a:prstGeom>
          <a:noFill/>
        </p:spPr>
        <p:txBody>
          <a:bodyPr wrap="square" anchor="ctr" lIns="45720" rIns="45720">
            <a:spAutoFit/>
          </a:bodyPr>
          <a:lstStyle/>
          <a:p>
            <a:pPr marL="0" indent="0" algn="ctr">
              <a:lnSpc>
                <a:spcPct val="95000"/>
              </a:lnSpc>
              <a:spcBef>
                <a:spcPts val="400"/>
              </a:spcBef>
              <a:buNone/>
            </a:pPr>
            <a:r>
              <a:rPr sz="2600" b="1" i="0">
                <a:solidFill>
                  <a:srgbClr val="2E7D4F"/>
                </a:solidFill>
                <a:latin typeface="Quattrocento Sans"/>
              </a:rPr>
              <a:t>9 / 9</a:t>
            </a:r>
          </a:p>
        </p:txBody>
      </p:sp>
      <p:sp>
        <p:nvSpPr>
          <p:cNvPr id="96" name="TextBox 95"/>
          <p:cNvSpPr txBox="1"/>
          <p:nvPr/>
        </p:nvSpPr>
        <p:spPr>
          <a:xfrm>
            <a:off x="6108192" y="2066544"/>
            <a:ext cx="2688336" cy="471830"/>
          </a:xfrm>
          <a:prstGeom prst="rect">
            <a:avLst/>
          </a:prstGeom>
          <a:noFill/>
        </p:spPr>
        <p:txBody>
          <a:bodyPr wrap="square" anchor="t" lIns="27432" rIns="27432" tIns="27432" bIns="27432">
            <a:spAutoFit/>
          </a:bodyPr>
          <a:lstStyle/>
          <a:p>
            <a:pPr marL="0" indent="0" algn="ctr">
              <a:lnSpc>
                <a:spcPct val="95000"/>
              </a:lnSpc>
              <a:spcBef>
                <a:spcPts val="400"/>
              </a:spcBef>
              <a:buNone/>
            </a:pPr>
            <a:r>
              <a:rPr sz="1250" b="0" i="0">
                <a:solidFill>
                  <a:srgbClr val="1F2933"/>
                </a:solidFill>
                <a:latin typeface="Quattrocento Sans"/>
              </a:rPr>
              <a:t>graded runs PASS</a:t>
            </a:r>
          </a:p>
        </p:txBody>
      </p:sp>
      <p:sp>
        <p:nvSpPr>
          <p:cNvPr id="97" name="Rounded Rectangle 96"/>
          <p:cNvSpPr/>
          <p:nvPr/>
        </p:nvSpPr>
        <p:spPr>
          <a:xfrm>
            <a:off x="6035040" y="2679192"/>
            <a:ext cx="2834640" cy="10972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6035040" y="2724912"/>
            <a:ext cx="2834640" cy="603504"/>
          </a:xfrm>
          <a:prstGeom prst="rect">
            <a:avLst/>
          </a:prstGeom>
          <a:noFill/>
        </p:spPr>
        <p:txBody>
          <a:bodyPr wrap="square" anchor="ctr" lIns="45720" rIns="45720">
            <a:spAutoFit/>
          </a:bodyPr>
          <a:lstStyle/>
          <a:p>
            <a:pPr marL="0" indent="0" algn="ctr">
              <a:lnSpc>
                <a:spcPct val="95000"/>
              </a:lnSpc>
              <a:spcBef>
                <a:spcPts val="400"/>
              </a:spcBef>
              <a:buNone/>
            </a:pPr>
            <a:r>
              <a:rPr sz="2600" b="1" i="0">
                <a:solidFill>
                  <a:srgbClr val="2F5D8A"/>
                </a:solidFill>
                <a:latin typeface="Quattrocento Sans"/>
              </a:rPr>
              <a:t>0.6–0.8 s</a:t>
            </a:r>
          </a:p>
        </p:txBody>
      </p:sp>
      <p:sp>
        <p:nvSpPr>
          <p:cNvPr id="99" name="TextBox 98"/>
          <p:cNvSpPr txBox="1"/>
          <p:nvPr/>
        </p:nvSpPr>
        <p:spPr>
          <a:xfrm>
            <a:off x="6108192" y="3282696"/>
            <a:ext cx="2688336" cy="471830"/>
          </a:xfrm>
          <a:prstGeom prst="rect">
            <a:avLst/>
          </a:prstGeom>
          <a:noFill/>
        </p:spPr>
        <p:txBody>
          <a:bodyPr wrap="square" anchor="t" lIns="27432" rIns="27432" tIns="27432" bIns="27432">
            <a:spAutoFit/>
          </a:bodyPr>
          <a:lstStyle/>
          <a:p>
            <a:pPr marL="0" indent="0" algn="ctr">
              <a:lnSpc>
                <a:spcPct val="95000"/>
              </a:lnSpc>
              <a:spcBef>
                <a:spcPts val="400"/>
              </a:spcBef>
              <a:buNone/>
            </a:pPr>
            <a:r>
              <a:rPr sz="1250" b="0" i="0">
                <a:solidFill>
                  <a:srgbClr val="1F2933"/>
                </a:solidFill>
                <a:latin typeface="Quattrocento Sans"/>
              </a:rPr>
              <a:t>to detect the dead motor</a:t>
            </a:r>
          </a:p>
        </p:txBody>
      </p:sp>
      <p:sp>
        <p:nvSpPr>
          <p:cNvPr id="100" name="Rounded Rectangle 99"/>
          <p:cNvSpPr/>
          <p:nvPr/>
        </p:nvSpPr>
        <p:spPr>
          <a:xfrm>
            <a:off x="6035040" y="3895344"/>
            <a:ext cx="2834640" cy="10972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6035040" y="3941063"/>
            <a:ext cx="2834640" cy="603504"/>
          </a:xfrm>
          <a:prstGeom prst="rect">
            <a:avLst/>
          </a:prstGeom>
          <a:noFill/>
        </p:spPr>
        <p:txBody>
          <a:bodyPr wrap="square" anchor="ctr" lIns="45720" rIns="45720">
            <a:spAutoFit/>
          </a:bodyPr>
          <a:lstStyle/>
          <a:p>
            <a:pPr marL="0" indent="0" algn="ctr">
              <a:lnSpc>
                <a:spcPct val="95000"/>
              </a:lnSpc>
              <a:spcBef>
                <a:spcPts val="400"/>
              </a:spcBef>
              <a:buNone/>
            </a:pPr>
            <a:r>
              <a:rPr sz="2600" b="1" i="0">
                <a:solidFill>
                  <a:srgbClr val="2F5D8A"/>
                </a:solidFill>
                <a:latin typeface="Quattrocento Sans"/>
              </a:rPr>
              <a:t>≤ 1.0°</a:t>
            </a:r>
          </a:p>
        </p:txBody>
      </p:sp>
      <p:sp>
        <p:nvSpPr>
          <p:cNvPr id="102" name="TextBox 101"/>
          <p:cNvSpPr txBox="1"/>
          <p:nvPr/>
        </p:nvSpPr>
        <p:spPr>
          <a:xfrm>
            <a:off x="6108192" y="4498848"/>
            <a:ext cx="2688336" cy="471830"/>
          </a:xfrm>
          <a:prstGeom prst="rect">
            <a:avLst/>
          </a:prstGeom>
          <a:noFill/>
        </p:spPr>
        <p:txBody>
          <a:bodyPr wrap="square" anchor="t" lIns="27432" rIns="27432" tIns="27432" bIns="27432">
            <a:spAutoFit/>
          </a:bodyPr>
          <a:lstStyle/>
          <a:p>
            <a:pPr marL="0" indent="0" algn="ctr">
              <a:lnSpc>
                <a:spcPct val="95000"/>
              </a:lnSpc>
              <a:spcBef>
                <a:spcPts val="400"/>
              </a:spcBef>
              <a:buNone/>
            </a:pPr>
            <a:r>
              <a:rPr sz="1250" b="0" i="0">
                <a:solidFill>
                  <a:srgbClr val="1F2933"/>
                </a:solidFill>
                <a:latin typeface="Quattrocento Sans"/>
              </a:rPr>
              <a:t>peak error while recovering</a:t>
            </a:r>
          </a:p>
        </p:txBody>
      </p:sp>
      <p:sp>
        <p:nvSpPr>
          <p:cNvPr id="103" name="Rounded Rectangle 102"/>
          <p:cNvSpPr/>
          <p:nvPr/>
        </p:nvSpPr>
        <p:spPr>
          <a:xfrm>
            <a:off x="6035040" y="5111496"/>
            <a:ext cx="2834640" cy="10972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6035040" y="5157216"/>
            <a:ext cx="2834640" cy="603504"/>
          </a:xfrm>
          <a:prstGeom prst="rect">
            <a:avLst/>
          </a:prstGeom>
          <a:noFill/>
        </p:spPr>
        <p:txBody>
          <a:bodyPr wrap="square" anchor="ctr" lIns="45720" rIns="45720">
            <a:spAutoFit/>
          </a:bodyPr>
          <a:lstStyle/>
          <a:p>
            <a:pPr marL="0" indent="0" algn="ctr">
              <a:lnSpc>
                <a:spcPct val="95000"/>
              </a:lnSpc>
              <a:spcBef>
                <a:spcPts val="400"/>
              </a:spcBef>
              <a:buNone/>
            </a:pPr>
            <a:r>
              <a:rPr sz="2600" b="1" i="0">
                <a:solidFill>
                  <a:srgbClr val="2E7D4F"/>
                </a:solidFill>
                <a:latin typeface="Quattrocento Sans"/>
              </a:rPr>
              <a:t>0</a:t>
            </a:r>
          </a:p>
        </p:txBody>
      </p:sp>
      <p:sp>
        <p:nvSpPr>
          <p:cNvPr id="105" name="TextBox 104"/>
          <p:cNvSpPr txBox="1"/>
          <p:nvPr/>
        </p:nvSpPr>
        <p:spPr>
          <a:xfrm>
            <a:off x="6108192" y="5715000"/>
            <a:ext cx="2688336" cy="471830"/>
          </a:xfrm>
          <a:prstGeom prst="rect">
            <a:avLst/>
          </a:prstGeom>
          <a:noFill/>
        </p:spPr>
        <p:txBody>
          <a:bodyPr wrap="square" anchor="t" lIns="27432" rIns="27432" tIns="27432" bIns="27432">
            <a:spAutoFit/>
          </a:bodyPr>
          <a:lstStyle/>
          <a:p>
            <a:pPr marL="0" indent="0" algn="ctr">
              <a:lnSpc>
                <a:spcPct val="95000"/>
              </a:lnSpc>
              <a:spcBef>
                <a:spcPts val="400"/>
              </a:spcBef>
              <a:buNone/>
            </a:pPr>
            <a:r>
              <a:rPr sz="1250" b="0" i="0">
                <a:solidFill>
                  <a:srgbClr val="1F2933"/>
                </a:solidFill>
                <a:latin typeface="Quattrocento Sans"/>
              </a:rPr>
              <a:t>false alarms in 4 healthy runs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Simulation: 4-Attitude Slew (Stretch)</a:t>
            </a:r>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92" name="Takeaway"/>
          <p:cNvSpPr txBox="1"/>
          <p:nvPr/>
        </p:nvSpPr>
        <p:spPr>
          <a:xfrm>
            <a:off x="274320" y="914400"/>
            <a:ext cx="8595360" cy="402336"/>
          </a:xfrm>
          <a:prstGeom prst="rect">
            <a:avLst/>
          </a:prstGeom>
          <a:solidFill>
            <a:srgbClr val="E8F3EC"/>
          </a:solidFill>
        </p:spPr>
        <p:txBody>
          <a:bodyPr wrap="square" anchor="ctr" tIns="91440" bIns="91440">
            <a:spAutoFit/>
          </a:bodyPr>
          <a:lstStyle/>
          <a:p>
            <a:pPr marL="0" indent="0">
              <a:lnSpc>
                <a:spcPct val="95000"/>
              </a:lnSpc>
              <a:spcBef>
                <a:spcPts val="400"/>
              </a:spcBef>
              <a:buNone/>
            </a:pPr>
            <a:r>
              <a:rPr sz="1500" b="1" i="0">
                <a:solidFill>
                  <a:srgbClr val="2E7D4F"/>
                </a:solidFill>
                <a:latin typeface="Quattrocento Sans"/>
              </a:rPr>
              <a:t>Takeaway: </a:t>
            </a:r>
            <a:r>
              <a:rPr sz="1500" b="1" i="0">
                <a:solidFill>
                  <a:srgbClr val="1F2933"/>
                </a:solidFill>
                <a:latin typeface="Quattrocento Sans"/>
              </a:rPr>
              <a:t>The slew logic meets ±1° on a balanced table; today’s balance is the blocker</a:t>
            </a:r>
          </a:p>
        </p:txBody>
      </p:sp>
      <p:pic>
        <p:nvPicPr>
          <p:cNvPr id="93" name="Picture 92" descr="sim7_slew_test.png"/>
          <p:cNvPicPr>
            <a:picLocks noChangeAspect="1"/>
          </p:cNvPicPr>
          <p:nvPr/>
        </p:nvPicPr>
        <p:blipFill>
          <a:blip r:embed="rId3"/>
          <a:stretch>
            <a:fillRect/>
          </a:stretch>
        </p:blipFill>
        <p:spPr>
          <a:xfrm>
            <a:off x="274320" y="1417320"/>
            <a:ext cx="5577840" cy="4049738"/>
          </a:xfrm>
          <a:prstGeom prst="rect">
            <a:avLst/>
          </a:prstGeom>
        </p:spPr>
      </p:pic>
      <p:sp>
        <p:nvSpPr>
          <p:cNvPr id="94" name="Rounded Rectangle 93"/>
          <p:cNvSpPr/>
          <p:nvPr/>
        </p:nvSpPr>
        <p:spPr>
          <a:xfrm>
            <a:off x="6035040" y="1463040"/>
            <a:ext cx="2834640" cy="10972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6035040" y="1508760"/>
            <a:ext cx="2834640" cy="603504"/>
          </a:xfrm>
          <a:prstGeom prst="rect">
            <a:avLst/>
          </a:prstGeom>
          <a:noFill/>
        </p:spPr>
        <p:txBody>
          <a:bodyPr wrap="square" anchor="ctr" lIns="45720" rIns="45720">
            <a:spAutoFit/>
          </a:bodyPr>
          <a:lstStyle/>
          <a:p>
            <a:pPr marL="0" indent="0" algn="ctr">
              <a:lnSpc>
                <a:spcPct val="95000"/>
              </a:lnSpc>
              <a:spcBef>
                <a:spcPts val="400"/>
              </a:spcBef>
              <a:buNone/>
            </a:pPr>
            <a:r>
              <a:rPr sz="2600" b="1" i="0">
                <a:solidFill>
                  <a:srgbClr val="2E7D4F"/>
                </a:solidFill>
                <a:latin typeface="Quattrocento Sans"/>
              </a:rPr>
              <a:t>4 / 4</a:t>
            </a:r>
          </a:p>
        </p:txBody>
      </p:sp>
      <p:sp>
        <p:nvSpPr>
          <p:cNvPr id="96" name="TextBox 95"/>
          <p:cNvSpPr txBox="1"/>
          <p:nvPr/>
        </p:nvSpPr>
        <p:spPr>
          <a:xfrm>
            <a:off x="6108192" y="2066544"/>
            <a:ext cx="2688336" cy="471830"/>
          </a:xfrm>
          <a:prstGeom prst="rect">
            <a:avLst/>
          </a:prstGeom>
          <a:noFill/>
        </p:spPr>
        <p:txBody>
          <a:bodyPr wrap="square" anchor="t" lIns="27432" rIns="27432" tIns="27432" bIns="27432">
            <a:spAutoFit/>
          </a:bodyPr>
          <a:lstStyle/>
          <a:p>
            <a:pPr marL="0" indent="0" algn="ctr">
              <a:lnSpc>
                <a:spcPct val="95000"/>
              </a:lnSpc>
              <a:spcBef>
                <a:spcPts val="400"/>
              </a:spcBef>
              <a:buNone/>
            </a:pPr>
            <a:r>
              <a:rPr sz="1250" b="0" i="0">
                <a:solidFill>
                  <a:srgbClr val="1F2933"/>
                </a:solidFill>
                <a:latin typeface="Quattrocento Sans"/>
              </a:rPr>
              <a:t>targets PASS, balanced table (max err 0.08°)</a:t>
            </a:r>
          </a:p>
        </p:txBody>
      </p:sp>
      <p:sp>
        <p:nvSpPr>
          <p:cNvPr id="97" name="Rounded Rectangle 96"/>
          <p:cNvSpPr/>
          <p:nvPr/>
        </p:nvSpPr>
        <p:spPr>
          <a:xfrm>
            <a:off x="6035040" y="2679192"/>
            <a:ext cx="2834640" cy="10972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6035040" y="2724912"/>
            <a:ext cx="2834640" cy="603504"/>
          </a:xfrm>
          <a:prstGeom prst="rect">
            <a:avLst/>
          </a:prstGeom>
          <a:noFill/>
        </p:spPr>
        <p:txBody>
          <a:bodyPr wrap="square" anchor="ctr" lIns="45720" rIns="45720">
            <a:spAutoFit/>
          </a:bodyPr>
          <a:lstStyle/>
          <a:p>
            <a:pPr marL="0" indent="0" algn="ctr">
              <a:lnSpc>
                <a:spcPct val="95000"/>
              </a:lnSpc>
              <a:spcBef>
                <a:spcPts val="400"/>
              </a:spcBef>
              <a:buNone/>
            </a:pPr>
            <a:r>
              <a:rPr sz="2600" b="1" i="0">
                <a:solidFill>
                  <a:srgbClr val="9C2F25"/>
                </a:solidFill>
                <a:latin typeface="Quattrocento Sans"/>
              </a:rPr>
              <a:t>4.9 s</a:t>
            </a:r>
          </a:p>
        </p:txBody>
      </p:sp>
      <p:sp>
        <p:nvSpPr>
          <p:cNvPr id="99" name="TextBox 98"/>
          <p:cNvSpPr txBox="1"/>
          <p:nvPr/>
        </p:nvSpPr>
        <p:spPr>
          <a:xfrm>
            <a:off x="6108192" y="3282696"/>
            <a:ext cx="2688336" cy="471830"/>
          </a:xfrm>
          <a:prstGeom prst="rect">
            <a:avLst/>
          </a:prstGeom>
          <a:noFill/>
        </p:spPr>
        <p:txBody>
          <a:bodyPr wrap="square" anchor="t" lIns="27432" rIns="27432" tIns="27432" bIns="27432">
            <a:spAutoFit/>
          </a:bodyPr>
          <a:lstStyle/>
          <a:p>
            <a:pPr marL="0" indent="0" algn="ctr">
              <a:lnSpc>
                <a:spcPct val="95000"/>
              </a:lnSpc>
              <a:spcBef>
                <a:spcPts val="400"/>
              </a:spcBef>
              <a:buNone/>
            </a:pPr>
            <a:r>
              <a:rPr sz="1250" b="0" i="0">
                <a:solidFill>
                  <a:srgbClr val="1F2933"/>
                </a:solidFill>
                <a:latin typeface="Quattrocento Sans"/>
              </a:rPr>
              <a:t>until a wheel saturates on today’s table</a:t>
            </a:r>
          </a:p>
        </p:txBody>
      </p:sp>
      <p:sp>
        <p:nvSpPr>
          <p:cNvPr id="100" name="Rounded Rectangle 99"/>
          <p:cNvSpPr/>
          <p:nvPr/>
        </p:nvSpPr>
        <p:spPr>
          <a:xfrm>
            <a:off x="6035040" y="3895344"/>
            <a:ext cx="2834640" cy="10972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6035040" y="3941063"/>
            <a:ext cx="2834640" cy="603504"/>
          </a:xfrm>
          <a:prstGeom prst="rect">
            <a:avLst/>
          </a:prstGeom>
          <a:noFill/>
        </p:spPr>
        <p:txBody>
          <a:bodyPr wrap="square" anchor="ctr" lIns="45720" rIns="45720">
            <a:spAutoFit/>
          </a:bodyPr>
          <a:lstStyle/>
          <a:p>
            <a:pPr marL="0" indent="0" algn="ctr">
              <a:lnSpc>
                <a:spcPct val="95000"/>
              </a:lnSpc>
              <a:spcBef>
                <a:spcPts val="400"/>
              </a:spcBef>
              <a:buNone/>
            </a:pPr>
            <a:r>
              <a:rPr sz="2600" b="1" i="0">
                <a:solidFill>
                  <a:srgbClr val="B7790F"/>
                </a:solidFill>
                <a:latin typeface="Quattrocento Sans"/>
              </a:rPr>
              <a:t>≥ 55 s</a:t>
            </a:r>
          </a:p>
        </p:txBody>
      </p:sp>
      <p:sp>
        <p:nvSpPr>
          <p:cNvPr id="102" name="TextBox 101"/>
          <p:cNvSpPr txBox="1"/>
          <p:nvPr/>
        </p:nvSpPr>
        <p:spPr>
          <a:xfrm>
            <a:off x="6108192" y="4498848"/>
            <a:ext cx="2688336" cy="471830"/>
          </a:xfrm>
          <a:prstGeom prst="rect">
            <a:avLst/>
          </a:prstGeom>
          <a:noFill/>
        </p:spPr>
        <p:txBody>
          <a:bodyPr wrap="square" anchor="t" lIns="27432" rIns="27432" tIns="27432" bIns="27432">
            <a:spAutoFit/>
          </a:bodyPr>
          <a:lstStyle/>
          <a:p>
            <a:pPr marL="0" indent="0" algn="ctr">
              <a:lnSpc>
                <a:spcPct val="95000"/>
              </a:lnSpc>
              <a:spcBef>
                <a:spcPts val="400"/>
              </a:spcBef>
              <a:buNone/>
            </a:pPr>
            <a:r>
              <a:rPr sz="1250" b="0" i="0">
                <a:solidFill>
                  <a:srgbClr val="1F2933"/>
                </a:solidFill>
                <a:latin typeface="Quattrocento Sans"/>
              </a:rPr>
              <a:t>swing period needed (today 3.3 s)</a:t>
            </a:r>
          </a:p>
        </p:txBody>
      </p:sp>
      <p:sp>
        <p:nvSpPr>
          <p:cNvPr id="103" name="Rounded Rectangle 102"/>
          <p:cNvSpPr/>
          <p:nvPr/>
        </p:nvSpPr>
        <p:spPr>
          <a:xfrm>
            <a:off x="6035040" y="5111496"/>
            <a:ext cx="2834640" cy="10972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6035040" y="5157216"/>
            <a:ext cx="2834640" cy="603504"/>
          </a:xfrm>
          <a:prstGeom prst="rect">
            <a:avLst/>
          </a:prstGeom>
          <a:noFill/>
        </p:spPr>
        <p:txBody>
          <a:bodyPr wrap="square" anchor="ctr" lIns="45720" rIns="45720">
            <a:spAutoFit/>
          </a:bodyPr>
          <a:lstStyle/>
          <a:p>
            <a:pPr marL="0" indent="0" algn="ctr">
              <a:lnSpc>
                <a:spcPct val="95000"/>
              </a:lnSpc>
              <a:spcBef>
                <a:spcPts val="400"/>
              </a:spcBef>
              <a:buNone/>
            </a:pPr>
            <a:r>
              <a:rPr sz="2600" b="1" i="0">
                <a:solidFill>
                  <a:srgbClr val="2E7D4F"/>
                </a:solidFill>
                <a:latin typeface="Quattrocento Sans"/>
              </a:rPr>
              <a:t>4 / 4</a:t>
            </a:r>
          </a:p>
        </p:txBody>
      </p:sp>
      <p:sp>
        <p:nvSpPr>
          <p:cNvPr id="105" name="TextBox 104"/>
          <p:cNvSpPr txBox="1"/>
          <p:nvPr/>
        </p:nvSpPr>
        <p:spPr>
          <a:xfrm>
            <a:off x="6108192" y="5715000"/>
            <a:ext cx="2688336" cy="471830"/>
          </a:xfrm>
          <a:prstGeom prst="rect">
            <a:avLst/>
          </a:prstGeom>
          <a:noFill/>
        </p:spPr>
        <p:txBody>
          <a:bodyPr wrap="square" anchor="t" lIns="27432" rIns="27432" tIns="27432" bIns="27432">
            <a:spAutoFit/>
          </a:bodyPr>
          <a:lstStyle/>
          <a:p>
            <a:pPr marL="0" indent="0" algn="ctr">
              <a:lnSpc>
                <a:spcPct val="95000"/>
              </a:lnSpc>
              <a:spcBef>
                <a:spcPts val="400"/>
              </a:spcBef>
              <a:buNone/>
            </a:pPr>
            <a:r>
              <a:rPr sz="1250" b="0" i="0">
                <a:solidFill>
                  <a:srgbClr val="1F2933"/>
                </a:solidFill>
                <a:latin typeface="Quattrocento Sans"/>
              </a:rPr>
              <a:t>yaw-only targets pass at today’s rest tilt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Magnetometer Yaw Aid (MAG TEST)</a:t>
            </a:r>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92" name="Takeaway"/>
          <p:cNvSpPr txBox="1"/>
          <p:nvPr/>
        </p:nvSpPr>
        <p:spPr>
          <a:xfrm>
            <a:off x="274320" y="914400"/>
            <a:ext cx="8595360" cy="402336"/>
          </a:xfrm>
          <a:prstGeom prst="rect">
            <a:avLst/>
          </a:prstGeom>
          <a:solidFill>
            <a:srgbClr val="E8F3EC"/>
          </a:solidFill>
        </p:spPr>
        <p:txBody>
          <a:bodyPr wrap="square" anchor="ctr" tIns="91440" bIns="91440">
            <a:spAutoFit/>
          </a:bodyPr>
          <a:lstStyle/>
          <a:p>
            <a:pPr marL="0" indent="0">
              <a:lnSpc>
                <a:spcPct val="95000"/>
              </a:lnSpc>
              <a:spcBef>
                <a:spcPts val="400"/>
              </a:spcBef>
              <a:buNone/>
            </a:pPr>
            <a:r>
              <a:rPr sz="1500" b="1" i="0">
                <a:solidFill>
                  <a:srgbClr val="2E7D4F"/>
                </a:solidFill>
                <a:latin typeface="Quattrocento Sans"/>
              </a:rPr>
              <a:t>Takeaway: </a:t>
            </a:r>
            <a:r>
              <a:rPr sz="1500" b="1" i="0">
                <a:solidFill>
                  <a:srgbClr val="1F2933"/>
                </a:solidFill>
                <a:latin typeface="Quattrocento Sans"/>
              </a:rPr>
              <a:t>Aid kept yaw within ±1° on 36/37 steps; gyro alone drifted 6 °/h</a:t>
            </a:r>
          </a:p>
        </p:txBody>
      </p:sp>
      <p:pic>
        <p:nvPicPr>
          <p:cNvPr id="93" name="Picture 92" descr="fig9_magtest.png"/>
          <p:cNvPicPr>
            <a:picLocks noChangeAspect="1"/>
          </p:cNvPicPr>
          <p:nvPr/>
        </p:nvPicPr>
        <p:blipFill>
          <a:blip r:embed="rId3"/>
          <a:stretch>
            <a:fillRect/>
          </a:stretch>
        </p:blipFill>
        <p:spPr>
          <a:xfrm>
            <a:off x="423862" y="1417320"/>
            <a:ext cx="8296274" cy="3063240"/>
          </a:xfrm>
          <a:prstGeom prst="rect">
            <a:avLst/>
          </a:prstGeom>
        </p:spPr>
      </p:pic>
      <p:sp>
        <p:nvSpPr>
          <p:cNvPr id="94" name="MCEN"/>
          <p:cNvSpPr txBox="1"/>
          <p:nvPr/>
        </p:nvSpPr>
        <p:spPr>
          <a:xfrm>
            <a:off x="274320" y="4553712"/>
            <a:ext cx="8595360" cy="1801367"/>
          </a:xfrm>
          <a:prstGeom prst="rect">
            <a:avLst/>
          </a:prstGeom>
          <a:noFill/>
        </p:spPr>
        <p:txBody>
          <a:bodyPr wrap="square" anchor="t" lIns="73152" rIns="73152" tIns="73152" bIns="73152">
            <a:spAutoFit/>
          </a:bodyPr>
          <a:lstStyle/>
          <a:p>
            <a:pPr marL="0" indent="0">
              <a:lnSpc>
                <a:spcPct val="95000"/>
              </a:lnSpc>
              <a:spcBef>
                <a:spcPts val="400"/>
              </a:spcBef>
              <a:buNone/>
            </a:pPr>
            <a:r>
              <a:rPr sz="1400" b="1" i="0">
                <a:solidFill>
                  <a:srgbClr val="1F2933"/>
                </a:solidFill>
                <a:latin typeface="Quattrocento Sans"/>
              </a:rPr>
              <a:t>MEASURE: </a:t>
            </a:r>
            <a:r>
              <a:rPr sz="1400" b="0" i="0">
                <a:solidFill>
                  <a:srgbClr val="1F2933"/>
                </a:solidFill>
                <a:latin typeface="Quattrocento Sans"/>
              </a:rPr>
              <a:t>37 graded steps, 57 min, fixed table: stopped, 14 wheel direction patterns, ±10° kicks, 30 min drift run; graded on the Teensy.</a:t>
            </a:r>
          </a:p>
          <a:p>
            <a:pPr marL="0" indent="0">
              <a:lnSpc>
                <a:spcPct val="95000"/>
              </a:lnSpc>
              <a:spcBef>
                <a:spcPts val="400"/>
              </a:spcBef>
              <a:buNone/>
            </a:pPr>
            <a:r>
              <a:rPr sz="1400" b="1" i="0">
                <a:solidFill>
                  <a:srgbClr val="1F2933"/>
                </a:solidFill>
                <a:latin typeface="Quattrocento Sans"/>
              </a:rPr>
              <a:t>COMPARE: </a:t>
            </a:r>
            <a:r>
              <a:rPr sz="1400" b="0" i="0">
                <a:solidFill>
                  <a:srgbClr val="1F2933"/>
                </a:solidFill>
                <a:latin typeface="Quattrocento Sans"/>
              </a:rPr>
              <a:t>Requirement ±1° (the true heading is 0). Gyro alone (replay, aid off): 5.7 °/h even after warm-up.</a:t>
            </a:r>
          </a:p>
          <a:p>
            <a:pPr marL="0" indent="0">
              <a:lnSpc>
                <a:spcPct val="95000"/>
              </a:lnSpc>
              <a:spcBef>
                <a:spcPts val="400"/>
              </a:spcBef>
              <a:buNone/>
            </a:pPr>
            <a:r>
              <a:rPr sz="1400" b="1" i="0">
                <a:solidFill>
                  <a:srgbClr val="1F2933"/>
                </a:solidFill>
                <a:latin typeface="Quattrocento Sans"/>
              </a:rPr>
              <a:t>EXPLAIN: </a:t>
            </a:r>
            <a:r>
              <a:rPr sz="1400" b="0" i="0">
                <a:solidFill>
                  <a:srgbClr val="1F2933"/>
                </a:solidFill>
                <a:latin typeface="Quattrocento Sans"/>
              </a:rPr>
              <a:t>36/37 PASS; step 36 (all wheels 300 rpm) reached 1.02°. Cause: each new wheel pattern was learned at the current yaw error. Replayed with prediction: 37/37, worst 0.77°.</a:t>
            </a:r>
          </a:p>
          <a:p>
            <a:pPr marL="0" indent="0">
              <a:lnSpc>
                <a:spcPct val="95000"/>
              </a:lnSpc>
              <a:spcBef>
                <a:spcPts val="400"/>
              </a:spcBef>
              <a:buNone/>
            </a:pPr>
            <a:r>
              <a:rPr sz="1400" b="1" i="0">
                <a:solidFill>
                  <a:srgbClr val="1F2933"/>
                </a:solidFill>
                <a:latin typeface="Quattrocento Sans"/>
              </a:rPr>
              <a:t>NEXT: </a:t>
            </a:r>
            <a:r>
              <a:rPr sz="1400" b="0" i="0">
                <a:solidFill>
                  <a:srgbClr val="1F2933"/>
                </a:solidFill>
                <a:latin typeface="Quattrocento Sans"/>
              </a:rPr>
              <a:t>Upload the predicting firmware; repeat on the floating table with the wheel bias; hard-iron fit before yaw slews.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DEMO LEVEL Hold</a:t>
            </a:r>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92" name="Takeaway"/>
          <p:cNvSpPr txBox="1"/>
          <p:nvPr/>
        </p:nvSpPr>
        <p:spPr>
          <a:xfrm>
            <a:off x="274320" y="914400"/>
            <a:ext cx="8595360" cy="402336"/>
          </a:xfrm>
          <a:prstGeom prst="rect">
            <a:avLst/>
          </a:prstGeom>
          <a:solidFill>
            <a:srgbClr val="E8F3EC"/>
          </a:solidFill>
        </p:spPr>
        <p:txBody>
          <a:bodyPr wrap="square" anchor="ctr" tIns="91440" bIns="91440">
            <a:spAutoFit/>
          </a:bodyPr>
          <a:lstStyle/>
          <a:p>
            <a:pPr marL="0" indent="0">
              <a:lnSpc>
                <a:spcPct val="95000"/>
              </a:lnSpc>
              <a:spcBef>
                <a:spcPts val="400"/>
              </a:spcBef>
              <a:buNone/>
            </a:pPr>
            <a:r>
              <a:rPr sz="1500" b="1" i="0">
                <a:solidFill>
                  <a:srgbClr val="2E7D4F"/>
                </a:solidFill>
                <a:latin typeface="Quattrocento Sans"/>
              </a:rPr>
              <a:t>Takeaway: </a:t>
            </a:r>
            <a:r>
              <a:rPr sz="1500" b="1" i="0">
                <a:solidFill>
                  <a:srgbClr val="1F2933"/>
                </a:solidFill>
                <a:latin typeface="Quattrocento Sans"/>
              </a:rPr>
              <a:t>After the roll trim the table levels in 5–6 s and holds steady until gravity fills a wheel</a:t>
            </a:r>
          </a:p>
        </p:txBody>
      </p:sp>
      <p:pic>
        <p:nvPicPr>
          <p:cNvPr id="93" name="Picture 92" descr="fig7_demo_level.png"/>
          <p:cNvPicPr>
            <a:picLocks noChangeAspect="1"/>
          </p:cNvPicPr>
          <p:nvPr/>
        </p:nvPicPr>
        <p:blipFill>
          <a:blip r:embed="rId3"/>
          <a:stretch>
            <a:fillRect/>
          </a:stretch>
        </p:blipFill>
        <p:spPr>
          <a:xfrm>
            <a:off x="1518402" y="1417320"/>
            <a:ext cx="6107194" cy="3063240"/>
          </a:xfrm>
          <a:prstGeom prst="rect">
            <a:avLst/>
          </a:prstGeom>
        </p:spPr>
      </p:pic>
      <p:sp>
        <p:nvSpPr>
          <p:cNvPr id="94" name="MCEN"/>
          <p:cNvSpPr txBox="1"/>
          <p:nvPr/>
        </p:nvSpPr>
        <p:spPr>
          <a:xfrm>
            <a:off x="274320" y="4553712"/>
            <a:ext cx="8595360" cy="1801367"/>
          </a:xfrm>
          <a:prstGeom prst="rect">
            <a:avLst/>
          </a:prstGeom>
          <a:noFill/>
        </p:spPr>
        <p:txBody>
          <a:bodyPr wrap="square" anchor="t" lIns="73152" rIns="73152" tIns="73152" bIns="73152">
            <a:spAutoFit/>
          </a:bodyPr>
          <a:lstStyle/>
          <a:p>
            <a:pPr marL="0" indent="0">
              <a:lnSpc>
                <a:spcPct val="95000"/>
              </a:lnSpc>
              <a:spcBef>
                <a:spcPts val="400"/>
              </a:spcBef>
              <a:buNone/>
            </a:pPr>
            <a:r>
              <a:rPr sz="1400" b="1" i="0">
                <a:solidFill>
                  <a:srgbClr val="1F2933"/>
                </a:solidFill>
                <a:latin typeface="Quattrocento Sans"/>
              </a:rPr>
              <a:t>MEASURE: </a:t>
            </a:r>
            <a:r>
              <a:rPr sz="1400" b="0" i="0">
                <a:solidFill>
                  <a:srgbClr val="1F2933"/>
                </a:solidFill>
                <a:latin typeface="Quattrocento Sans"/>
              </a:rPr>
              <a:t>Five DEMO LEVEL runs after the roll trim (DEMO_0003): level, then hold until a wheel limit.</a:t>
            </a:r>
          </a:p>
          <a:p>
            <a:pPr marL="0" indent="0">
              <a:lnSpc>
                <a:spcPct val="95000"/>
              </a:lnSpc>
              <a:spcBef>
                <a:spcPts val="400"/>
              </a:spcBef>
              <a:buNone/>
            </a:pPr>
            <a:r>
              <a:rPr sz="1400" b="1" i="0">
                <a:solidFill>
                  <a:srgbClr val="1F2933"/>
                </a:solidFill>
                <a:latin typeface="Quattrocento Sans"/>
              </a:rPr>
              <a:t>COMPARE: </a:t>
            </a:r>
            <a:r>
              <a:rPr sz="1400" b="0" i="0">
                <a:solidFill>
                  <a:srgbClr val="1F2933"/>
                </a:solidFill>
                <a:latin typeface="Quattrocento Sans"/>
              </a:rPr>
              <a:t>Hold level without visible jitter; the limit is wheel momentum vs leftover gravity torque.</a:t>
            </a:r>
          </a:p>
          <a:p>
            <a:pPr marL="0" indent="0">
              <a:lnSpc>
                <a:spcPct val="95000"/>
              </a:lnSpc>
              <a:spcBef>
                <a:spcPts val="400"/>
              </a:spcBef>
              <a:buNone/>
            </a:pPr>
            <a:r>
              <a:rPr sz="1400" b="1" i="0">
                <a:solidFill>
                  <a:srgbClr val="1F2933"/>
                </a:solidFill>
                <a:latin typeface="Quattrocento Sans"/>
              </a:rPr>
              <a:t>EXPLAIN: </a:t>
            </a:r>
            <a:r>
              <a:rPr sz="1400" b="0" i="0">
                <a:solidFill>
                  <a:srgbClr val="1F2933"/>
                </a:solidFill>
                <a:latin typeface="Quattrocento Sans"/>
              </a:rPr>
              <a:t>Held roll/pitch σ ≤ 0.07°, heading within 0.5°, for 2–15.8 s; leftover 1.3–3.3 mN·m fills wheel B. Offset = torque / Kp (right).</a:t>
            </a:r>
          </a:p>
          <a:p>
            <a:pPr marL="0" indent="0">
              <a:lnSpc>
                <a:spcPct val="95000"/>
              </a:lnSpc>
              <a:spcBef>
                <a:spcPts val="400"/>
              </a:spcBef>
              <a:buNone/>
            </a:pPr>
            <a:r>
              <a:rPr sz="1400" b="1" i="0">
                <a:solidFill>
                  <a:srgbClr val="1F2933"/>
                </a:solidFill>
                <a:latin typeface="Quattrocento Sans"/>
              </a:rPr>
              <a:t>NEXT: </a:t>
            </a:r>
            <a:r>
              <a:rPr sz="1400" b="0" i="0">
                <a:solidFill>
                  <a:srgbClr val="1F2933"/>
                </a:solidFill>
                <a:latin typeface="Quattrocento Sans"/>
              </a:rPr>
              <a:t>DEMO LEVEL now holds the natural rest tilt (no steady torque); raise the CG ≈ 4.4 mm for the slews.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Flight Computer Failure (Unexpected)</a:t>
            </a:r>
          </a:p>
        </p:txBody>
      </p:sp>
      <p:sp>
        <p:nvSpPr>
          <p:cNvPr id="91" name="Google Shape;91;p3"/>
          <p:cNvSpPr txBox="1">
            <a:spLocks noGrp="1"/>
          </p:cNvSpPr>
          <p:nvPr>
            <p:ph type="sldNum" idx="12"/>
          </p:nvPr>
        </p:nvSpPr>
        <p:spPr>
          <a:xfrm>
            <a:off x="7040236" y="6465106"/>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92" name="Takeaway"/>
          <p:cNvSpPr txBox="1"/>
          <p:nvPr/>
        </p:nvSpPr>
        <p:spPr>
          <a:xfrm>
            <a:off x="274320" y="914400"/>
            <a:ext cx="8595360" cy="402336"/>
          </a:xfrm>
          <a:prstGeom prst="rect">
            <a:avLst/>
          </a:prstGeom>
          <a:solidFill>
            <a:srgbClr val="E8F3EC"/>
          </a:solidFill>
        </p:spPr>
        <p:txBody>
          <a:bodyPr wrap="square" anchor="ctr" tIns="91440" bIns="91440">
            <a:spAutoFit/>
          </a:bodyPr>
          <a:lstStyle/>
          <a:p>
            <a:pPr marL="0" indent="0">
              <a:lnSpc>
                <a:spcPct val="95000"/>
              </a:lnSpc>
              <a:spcBef>
                <a:spcPts val="400"/>
              </a:spcBef>
              <a:buNone/>
            </a:pPr>
            <a:r>
              <a:rPr sz="1500" b="1" i="0">
                <a:solidFill>
                  <a:srgbClr val="2E7D4F"/>
                </a:solidFill>
                <a:latin typeface="Quattrocento Sans"/>
              </a:rPr>
              <a:t>Takeaway: </a:t>
            </a:r>
            <a:r>
              <a:rPr sz="1500" b="1" i="0">
                <a:solidFill>
                  <a:srgbClr val="1F2933"/>
                </a:solidFill>
                <a:latin typeface="Quattrocento Sans"/>
              </a:rPr>
              <a:t>Teensy’s 3.3 V rail shorted; spare brought up, all 4 wheels re-verified in a day</a:t>
            </a:r>
          </a:p>
        </p:txBody>
      </p:sp>
      <p:pic>
        <p:nvPicPr>
          <p:cNvPr id="93" name="Picture 92" descr="fig8_motor_bringup.png"/>
          <p:cNvPicPr>
            <a:picLocks noChangeAspect="1"/>
          </p:cNvPicPr>
          <p:nvPr/>
        </p:nvPicPr>
        <p:blipFill>
          <a:blip r:embed="rId3"/>
          <a:stretch>
            <a:fillRect/>
          </a:stretch>
        </p:blipFill>
        <p:spPr>
          <a:xfrm>
            <a:off x="274320" y="1417320"/>
            <a:ext cx="8595360" cy="3010518"/>
          </a:xfrm>
          <a:prstGeom prst="rect">
            <a:avLst/>
          </a:prstGeom>
        </p:spPr>
      </p:pic>
      <p:sp>
        <p:nvSpPr>
          <p:cNvPr id="94" name="MCEN"/>
          <p:cNvSpPr txBox="1"/>
          <p:nvPr/>
        </p:nvSpPr>
        <p:spPr>
          <a:xfrm>
            <a:off x="274320" y="4500990"/>
            <a:ext cx="8595360" cy="1854090"/>
          </a:xfrm>
          <a:prstGeom prst="rect">
            <a:avLst/>
          </a:prstGeom>
          <a:noFill/>
        </p:spPr>
        <p:txBody>
          <a:bodyPr wrap="square" anchor="t" lIns="73152" rIns="73152" tIns="73152" bIns="73152">
            <a:spAutoFit/>
          </a:bodyPr>
          <a:lstStyle/>
          <a:p>
            <a:pPr marL="0" indent="0">
              <a:lnSpc>
                <a:spcPct val="95000"/>
              </a:lnSpc>
              <a:spcBef>
                <a:spcPts val="400"/>
              </a:spcBef>
              <a:buNone/>
            </a:pPr>
            <a:r>
              <a:rPr sz="1400" b="1" i="0">
                <a:solidFill>
                  <a:srgbClr val="1F2933"/>
                </a:solidFill>
                <a:latin typeface="Quattrocento Sans"/>
              </a:rPr>
              <a:t>MEASURE: </a:t>
            </a:r>
            <a:r>
              <a:rPr sz="1400" b="0" i="0">
                <a:solidFill>
                  <a:srgbClr val="1F2933"/>
                </a:solidFill>
                <a:latin typeface="Quattrocento Sans"/>
              </a:rPr>
              <a:t>Board dead after test 5 (no USB, no 3.3 V); then the spare, wheels re-tested at ±0.3 duty and from rest.</a:t>
            </a:r>
          </a:p>
          <a:p>
            <a:pPr marL="0" indent="0">
              <a:lnSpc>
                <a:spcPct val="95000"/>
              </a:lnSpc>
              <a:spcBef>
                <a:spcPts val="400"/>
              </a:spcBef>
              <a:buNone/>
            </a:pPr>
            <a:r>
              <a:rPr sz="1400" b="1" i="0">
                <a:solidFill>
                  <a:srgbClr val="1F2933"/>
                </a:solidFill>
                <a:latin typeface="Quattrocento Sans"/>
              </a:rPr>
              <a:t>COMPARE: </a:t>
            </a:r>
            <a:r>
              <a:rPr sz="1400" b="0" i="0">
                <a:solidFill>
                  <a:srgbClr val="1F2933"/>
                </a:solidFill>
                <a:latin typeface="Quattrocento Sans"/>
              </a:rPr>
              <a:t>Expected ≈ 45 rad/s at 0.3 duty and breakaway at 0.08–0.10 duty on every wheel.</a:t>
            </a:r>
          </a:p>
          <a:p>
            <a:pPr marL="0" indent="0">
              <a:lnSpc>
                <a:spcPct val="95000"/>
              </a:lnSpc>
              <a:spcBef>
                <a:spcPts val="400"/>
              </a:spcBef>
              <a:buNone/>
            </a:pPr>
            <a:r>
              <a:rPr sz="1400" b="1" i="0">
                <a:solidFill>
                  <a:srgbClr val="1F2933"/>
                </a:solidFill>
                <a:latin typeface="Quattrocento Sans"/>
              </a:rPr>
              <a:t>EXPLAIN: </a:t>
            </a:r>
            <a:r>
              <a:rPr sz="1400" b="0" i="0">
                <a:solidFill>
                  <a:srgbClr val="1F2933"/>
                </a:solidFill>
                <a:latin typeface="Quattrocento Sans"/>
              </a:rPr>
              <a:t>Old board’s 3.3 V rail: 0.8 Ω and hot, so it was shorted on the board; no wiring cause found. Wheels 44–47 rad/s; D’s encoder wire was loose.</a:t>
            </a:r>
          </a:p>
          <a:p>
            <a:pPr marL="0" indent="0">
              <a:lnSpc>
                <a:spcPct val="95000"/>
              </a:lnSpc>
              <a:spcBef>
                <a:spcPts val="400"/>
              </a:spcBef>
              <a:buNone/>
            </a:pPr>
            <a:r>
              <a:rPr sz="1400" b="1" i="0">
                <a:solidFill>
                  <a:srgbClr val="1F2933"/>
                </a:solidFill>
                <a:latin typeface="Quattrocento Sans"/>
              </a:rPr>
              <a:t>NEXT: </a:t>
            </a:r>
            <a:r>
              <a:rPr sz="1400" b="0" i="0">
                <a:solidFill>
                  <a:srgbClr val="1F2933"/>
                </a:solidFill>
                <a:latin typeface="Quattrocento Sans"/>
              </a:rPr>
              <a:t>Solder wheel D’s lead; separate the spare’s VIN–VUSB pads (until then, never USB and battery together).</a:t>
            </a: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TotalTime>
  <Words>2427</Words>
  <Application>Microsoft Office PowerPoint</Application>
  <PresentationFormat>On-screen Show (4:3)</PresentationFormat>
  <Paragraphs>201</Paragraphs>
  <Slides>19</Slides>
  <Notes>8</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Quattrocento Sans</vt:lpstr>
      <vt:lpstr>Arial</vt:lpstr>
      <vt:lpstr>Office Theme</vt:lpstr>
      <vt:lpstr>Lab 8: Final Presentation</vt:lpstr>
      <vt:lpstr>Overview/Objectives</vt:lpstr>
      <vt:lpstr>Requirements: Verification &amp; Status</vt:lpstr>
      <vt:lpstr>Theory: Estimation &amp; Control Loop</vt:lpstr>
      <vt:lpstr>Theory: Control Law &amp; Wheel Allocation</vt:lpstr>
      <vt:lpstr>Build Progress: Hardware</vt:lpstr>
      <vt:lpstr>Build Progress: Hardware</vt:lpstr>
      <vt:lpstr>Progress: Software Build &amp; Tests</vt:lpstr>
      <vt:lpstr>Data: Wheel Speed Control</vt:lpstr>
      <vt:lpstr>Data: Attitude Determination at Rest</vt:lpstr>
      <vt:lpstr>Data: IMU Data Integrity (Unexpected Result)</vt:lpstr>
      <vt:lpstr>Data: Magnetometer vs. Wheel Motors</vt:lpstr>
      <vt:lpstr>Data: First DEMO SPIN (Unsuccessful)</vt:lpstr>
      <vt:lpstr>Data: DEMO SPIN Leveling</vt:lpstr>
      <vt:lpstr>DEMO SPIN</vt:lpstr>
      <vt:lpstr>DEMO SPIN: Leveling Video</vt:lpstr>
      <vt:lpstr>Future Plans: Where We Stand</vt:lpstr>
      <vt:lpstr>Future Plans: Path to Lesson 31</vt:lpstr>
      <vt:lpstr>GenAI Use Documentation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Harris, Wyatt J Lt Col USAF USAFA DF/DFAS</dc:creator>
  <cp:lastModifiedBy>Weissinger, Derek H C2C USAF USAFA CW/CS40</cp:lastModifiedBy>
  <cp:revision>13</cp:revision>
  <dcterms:created xsi:type="dcterms:W3CDTF">2025-07-17T17:53:42Z</dcterms:created>
  <dcterms:modified xsi:type="dcterms:W3CDTF">2026-10-31T05:55:17Z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0x01010079E104B47FA86644A46CA5C8803E74CD</vt:lpwstr>
  </property>
  <property fmtid="{D5CDD505-2E9C-101B-9397-08002B2CF9AE}" pid="3" name="MediaServiceImageTags">
    <vt:lpwstr/>
  </property>
</Properties>
</file>