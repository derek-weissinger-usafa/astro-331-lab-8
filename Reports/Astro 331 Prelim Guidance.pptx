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61D9B-2723-410C-9C62-1539AF8F8591}" v="1" dt="2026-10-19T19:08:2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6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yer, Jamee M Capt USAF USAFA AW/ESAS" userId="149f54e3-d5e6-4746-85bc-cd1b24504573" providerId="ADAL" clId="{5ED09819-E15C-4BF9-8D5B-332C5221AC72}"/>
    <pc:docChg chg="modSld">
      <pc:chgData name="Boyer, Jamee M Capt USAF USAFA AW/ESAS" userId="149f54e3-d5e6-4746-85bc-cd1b24504573" providerId="ADAL" clId="{5ED09819-E15C-4BF9-8D5B-332C5221AC72}" dt="2026-10-19T19:11:49.590" v="89" actId="113"/>
      <pc:docMkLst>
        <pc:docMk/>
      </pc:docMkLst>
      <pc:sldChg chg="modSp mod">
        <pc:chgData name="Boyer, Jamee M Capt USAF USAFA AW/ESAS" userId="149f54e3-d5e6-4746-85bc-cd1b24504573" providerId="ADAL" clId="{5ED09819-E15C-4BF9-8D5B-332C5221AC72}" dt="2026-10-19T19:11:49.590" v="89" actId="113"/>
        <pc:sldMkLst>
          <pc:docMk/>
          <pc:sldMk cId="0" sldId="257"/>
        </pc:sldMkLst>
        <pc:spChg chg="mod">
          <ac:chgData name="Boyer, Jamee M Capt USAF USAFA AW/ESAS" userId="149f54e3-d5e6-4746-85bc-cd1b24504573" providerId="ADAL" clId="{5ED09819-E15C-4BF9-8D5B-332C5221AC72}" dt="2026-10-19T19:11:49.590" v="89" actId="113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">
        <pc:chgData name="Boyer, Jamee M Capt USAF USAFA AW/ESAS" userId="149f54e3-d5e6-4746-85bc-cd1b24504573" providerId="ADAL" clId="{5ED09819-E15C-4BF9-8D5B-332C5221AC72}" dt="2026-10-19T19:08:25.128" v="64"/>
        <pc:sldMkLst>
          <pc:docMk/>
          <pc:sldMk cId="0" sldId="259"/>
        </pc:sldMkLst>
        <pc:spChg chg="add del mod">
          <ac:chgData name="Boyer, Jamee M Capt USAF USAFA AW/ESAS" userId="149f54e3-d5e6-4746-85bc-cd1b24504573" providerId="ADAL" clId="{5ED09819-E15C-4BF9-8D5B-332C5221AC72}" dt="2026-10-19T19:08:25.128" v="64"/>
          <ac:spMkLst>
            <pc:docMk/>
            <pc:sldMk cId="0" sldId="259"/>
            <ac:spMk id="2" creationId="{9782A701-7529-82F2-927F-C7E7C94D99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84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04D9F65-4457-466A-C6F4-F337781AACFB}"/>
              </a:ext>
            </a:extLst>
          </p:cNvPr>
          <p:cNvSpPr/>
          <p:nvPr userDrawn="1"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273191C-66DF-CC82-2A5C-7D66EE4810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25" y="19050"/>
            <a:ext cx="866775" cy="971550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2AE7E9EF-932D-F373-6E22-6B90817C94D3}"/>
              </a:ext>
            </a:extLst>
          </p:cNvPr>
          <p:cNvSpPr/>
          <p:nvPr userDrawn="1"/>
        </p:nvSpPr>
        <p:spPr>
          <a:xfrm>
            <a:off x="8352234" y="95250"/>
            <a:ext cx="791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Fall</a:t>
            </a:r>
            <a:endParaRPr lang="en-US" sz="1350" dirty="0"/>
          </a:p>
        </p:txBody>
      </p:sp>
      <p:sp>
        <p:nvSpPr>
          <p:cNvPr id="9" name="Text 47">
            <a:extLst>
              <a:ext uri="{FF2B5EF4-FFF2-40B4-BE49-F238E27FC236}">
                <a16:creationId xmlns:a16="http://schemas.microsoft.com/office/drawing/2014/main" id="{9269674C-98D7-331D-D38E-D189DAC37308}"/>
              </a:ext>
            </a:extLst>
          </p:cNvPr>
          <p:cNvSpPr/>
          <p:nvPr userDrawn="1"/>
        </p:nvSpPr>
        <p:spPr>
          <a:xfrm>
            <a:off x="2874645" y="6505575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Astro 331 Lab #8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23950" y="133350"/>
            <a:ext cx="400338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4350" b="1" kern="0" spc="-37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USAFA ASTRO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8352234" y="95250"/>
            <a:ext cx="791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Fall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104900" y="914400"/>
            <a:ext cx="7991475" cy="47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523580" y="1742675"/>
            <a:ext cx="208731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9059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#8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347823" y="2620761"/>
            <a:ext cx="444835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KestrelSAT Capstone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028423" y="3382761"/>
            <a:ext cx="50871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Preliminary Data Review Guidance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3679326" y="4305819"/>
            <a:ext cx="17758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DUE: LSN 27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00100" y="5878427"/>
            <a:ext cx="7543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ASTRO 331 – Space Systems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5250" y="14287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b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Reqts &amp; Progress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95250" y="18859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Analysis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5250" y="23431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&amp; Delivery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152525" y="133350"/>
            <a:ext cx="726252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&amp; Progress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104900" y="819150"/>
            <a:ext cx="7991475" cy="47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90625" y="1028700"/>
            <a:ext cx="7946708" cy="8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min presentation/discussion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your instructor on the work done so far and your plan to meet requirements by the Final Presentation. No specific format is required, but it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 data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slide-show presentation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190625" y="1980158"/>
            <a:ext cx="84867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</a:t>
            </a:r>
            <a:r>
              <a:rPr lang="en-US" sz="14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(must be solidified by this review)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228725" y="2341066"/>
            <a:ext cx="15746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405235" y="2341066"/>
            <a:ext cx="675946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Briefly state your project objective and intended KestrelSAT capability.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228725" y="2677269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405235" y="2677269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3 verifiable threshold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1 stretch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requirement, with how each will be tested and its current status.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190625" y="3368725"/>
            <a:ext cx="7715250" cy="110490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200150" y="3378250"/>
            <a:ext cx="2565350" cy="314325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200150" y="3683050"/>
            <a:ext cx="256535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95400" y="3435400"/>
            <a:ext cx="24518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65500" y="3378250"/>
            <a:ext cx="3078510" cy="314325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765500" y="3683050"/>
            <a:ext cx="307851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765500" y="3378250"/>
            <a:ext cx="9525" cy="31432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70275" y="3435400"/>
            <a:ext cx="2970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method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44010" y="3378250"/>
            <a:ext cx="2052191" cy="314325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44010" y="3683050"/>
            <a:ext cx="2052191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44010" y="3378250"/>
            <a:ext cx="9525" cy="31432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48785" y="3435400"/>
            <a:ext cx="19283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at review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95400" y="3740200"/>
            <a:ext cx="245181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1–3 (measurable)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765500" y="3692575"/>
            <a:ext cx="9525" cy="47625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870275" y="3740200"/>
            <a:ext cx="2970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test + pass criterion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44010" y="3692575"/>
            <a:ext cx="9525" cy="47625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48785" y="3740200"/>
            <a:ext cx="19283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/ in progress / not tested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200150" y="4168825"/>
            <a:ext cx="2565350" cy="952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95400" y="4225975"/>
            <a:ext cx="24518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Stretch (objective)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765500" y="4168825"/>
            <a:ext cx="3078510" cy="952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765500" y="4168825"/>
            <a:ext cx="9525" cy="29527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870275" y="4225975"/>
            <a:ext cx="2970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Defined test / desired performance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44010" y="4168825"/>
            <a:ext cx="2052191" cy="952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844010" y="4168825"/>
            <a:ext cx="9525" cy="29527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948785" y="4225975"/>
            <a:ext cx="19283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3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190625" y="4645075"/>
            <a:ext cx="84867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</a:t>
            </a:r>
            <a:endParaRPr lang="en-US" sz="1725" dirty="0"/>
          </a:p>
        </p:txBody>
      </p:sp>
      <p:sp>
        <p:nvSpPr>
          <p:cNvPr id="42" name="Text 39"/>
          <p:cNvSpPr/>
          <p:nvPr/>
        </p:nvSpPr>
        <p:spPr>
          <a:xfrm>
            <a:off x="1228725" y="5005983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43" name="Text 40"/>
          <p:cNvSpPr/>
          <p:nvPr/>
        </p:nvSpPr>
        <p:spPr>
          <a:xfrm>
            <a:off x="1405235" y="5005983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what you have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built, programmed, integrated, and tested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photos, CAD, diagrams, or other evidence.</a:t>
            </a:r>
            <a:endParaRPr lang="en-US" sz="1575" dirty="0"/>
          </a:p>
        </p:txBody>
      </p:sp>
      <p:sp>
        <p:nvSpPr>
          <p:cNvPr id="44" name="Text 41"/>
          <p:cNvSpPr/>
          <p:nvPr/>
        </p:nvSpPr>
        <p:spPr>
          <a:xfrm>
            <a:off x="1228725" y="5602188"/>
            <a:ext cx="15746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45" name="Text 42"/>
          <p:cNvSpPr/>
          <p:nvPr/>
        </p:nvSpPr>
        <p:spPr>
          <a:xfrm>
            <a:off x="1405235" y="5602188"/>
            <a:ext cx="576835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recorded, or partial subsystem demos are encouraged.</a:t>
            </a:r>
            <a:endParaRPr lang="en-US" sz="1575" dirty="0"/>
          </a:p>
        </p:txBody>
      </p:sp>
      <p:sp>
        <p:nvSpPr>
          <p:cNvPr id="47" name="Text 44"/>
          <p:cNvSpPr/>
          <p:nvPr/>
        </p:nvSpPr>
        <p:spPr>
          <a:xfrm>
            <a:off x="8947547" y="6505575"/>
            <a:ext cx="158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5250" y="14287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Reqts &amp; Progress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95250" y="18859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b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Analysis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5250" y="23431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&amp; Delivery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152525" y="133350"/>
            <a:ext cx="726252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Data, Plots &amp; Analysis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104900" y="819150"/>
            <a:ext cx="7991475" cy="47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90625" y="1066800"/>
            <a:ext cx="84867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Preliminary data is the centerpiece of this review.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228725" y="1542008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405235" y="1542008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least 2 meaningful engineering plots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3–4 distinct, relevant plots show stronger progress.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28725" y="2157264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405235" y="2157264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satellite test data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theoretical/expected performance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plots, unless coordinated otherwise with your instructor.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28725" y="2772519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405235" y="2772519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Plots must be readable: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titles, labeled axes with units, legends,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relevant </a:t>
            </a: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conditions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190625" y="3483025"/>
            <a:ext cx="84867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plot, explain: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190625" y="3838277"/>
            <a:ext cx="1857375" cy="136267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00150" y="3847802"/>
            <a:ext cx="1838325" cy="300038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95400" y="3904952"/>
            <a:ext cx="1724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125" b="1" kern="0" spc="75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MEASURE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1295400" y="4224040"/>
            <a:ext cx="1724025" cy="706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you measure, and under what conditions?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3143250" y="3838277"/>
            <a:ext cx="1857375" cy="136267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152775" y="3847802"/>
            <a:ext cx="1838325" cy="300038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48025" y="3904952"/>
            <a:ext cx="1724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125" b="1" kern="0" spc="75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COMPARE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3248025" y="4224040"/>
            <a:ext cx="1724025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you expect from theory, simulation, or the requirement?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095875" y="3838277"/>
            <a:ext cx="1857375" cy="136267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05400" y="3847802"/>
            <a:ext cx="1838325" cy="300038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200650" y="3904952"/>
            <a:ext cx="1724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125" b="1" kern="0" spc="75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EXPLAIN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5200650" y="4224040"/>
            <a:ext cx="172402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 the results mean?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048500" y="3838277"/>
            <a:ext cx="1857375" cy="136267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058025" y="3847802"/>
            <a:ext cx="1838325" cy="300038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153275" y="3904952"/>
            <a:ext cx="1724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125" b="1" kern="0" spc="75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NEXT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7153275" y="4224040"/>
            <a:ext cx="1724025" cy="706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will you do next: retest, redesign, calibrate?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228725" y="5391448"/>
            <a:ext cx="1574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575" dirty="0"/>
          </a:p>
        </p:txBody>
      </p:sp>
      <p:sp>
        <p:nvSpPr>
          <p:cNvPr id="35" name="Text 32"/>
          <p:cNvSpPr/>
          <p:nvPr/>
        </p:nvSpPr>
        <p:spPr>
          <a:xfrm>
            <a:off x="1405235" y="5391448"/>
            <a:ext cx="772565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unsuccessful or unexpected results. </a:t>
            </a:r>
            <a:r>
              <a:rPr lang="en-US" sz="15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part of real engineering; present them with engineering analysis, not just raw data.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8947547" y="6505575"/>
            <a:ext cx="158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5250" y="14287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Reqts &amp; Progress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95250" y="18859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Analysis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5250" y="2343150"/>
            <a:ext cx="952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" b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&amp; Delivery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152525" y="133350"/>
            <a:ext cx="726252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Forward &amp; Presentation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104900" y="819150"/>
            <a:ext cx="7991475" cy="47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90625" y="1028700"/>
            <a:ext cx="4096703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&amp; plan forward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190625" y="1364903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46002" y="1364903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completed tests support your design assumptions?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90625" y="1886694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46002" y="1886694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challenges, unexpected behavior, and 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vs. predicted 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differences.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90625" y="2408486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46002" y="2408486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 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1 meaningful improvement 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previous labs or baseline KestrelSAT.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90625" y="2930277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46002" y="2930277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remaining hardware, software, integration, and verification tasks.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90625" y="3452068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346002" y="3452068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your 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to meet requirements by </a:t>
            </a:r>
            <a:r>
              <a:rPr lang="en-US" sz="1350" b="1" dirty="0" err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Lsn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31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key risks, next tests, stretch-goal plans.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81600" y="1028700"/>
            <a:ext cx="4096703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5181600" y="1364903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336977" y="1364903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for 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min 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presentation and discussion; leave time for feedback.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181600" y="1886694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336977" y="1886694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plots, photos, and diagrams instead of large amounts of text.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181600" y="2408486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336977" y="2408486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2–3 cadets contribute 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understand the engineering.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181600" y="2930277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336977" y="2930277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separate completed work, preliminary findings, and remaining tasks.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181600" y="3452068"/>
            <a:ext cx="145852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336977" y="3452068"/>
            <a:ext cx="367596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GenAI use per the course </a:t>
            </a: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GenAI Level 4 </a:t>
            </a:r>
            <a:r>
              <a:rPr lang="en-US" sz="13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190625" y="4069110"/>
            <a:ext cx="7715250" cy="1639788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200150" y="4078635"/>
            <a:ext cx="7696200" cy="378023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200150" y="4447133"/>
            <a:ext cx="76962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33500" y="4145310"/>
            <a:ext cx="7660386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review should answer:</a:t>
            </a:r>
            <a:endParaRPr lang="en-US" sz="1425" dirty="0"/>
          </a:p>
        </p:txBody>
      </p:sp>
      <p:sp>
        <p:nvSpPr>
          <p:cNvPr id="36" name="Text 33"/>
          <p:cNvSpPr/>
          <p:nvPr/>
        </p:nvSpPr>
        <p:spPr>
          <a:xfrm>
            <a:off x="1314450" y="4551908"/>
            <a:ext cx="144163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75" dirty="0"/>
          </a:p>
        </p:txBody>
      </p:sp>
      <p:sp>
        <p:nvSpPr>
          <p:cNvPr id="37" name="Text 34"/>
          <p:cNvSpPr/>
          <p:nvPr/>
        </p:nvSpPr>
        <p:spPr>
          <a:xfrm>
            <a:off x="1314450" y="4762351"/>
            <a:ext cx="837009" cy="45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have you built?</a:t>
            </a:r>
            <a:endParaRPr lang="en-US" sz="1275" dirty="0"/>
          </a:p>
        </p:txBody>
      </p:sp>
      <p:sp>
        <p:nvSpPr>
          <p:cNvPr id="38" name="Shape 35"/>
          <p:cNvSpPr/>
          <p:nvPr/>
        </p:nvSpPr>
        <p:spPr>
          <a:xfrm>
            <a:off x="2739330" y="4456658"/>
            <a:ext cx="9525" cy="124271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2863155" y="4551908"/>
            <a:ext cx="1431161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75" dirty="0"/>
          </a:p>
        </p:txBody>
      </p:sp>
      <p:sp>
        <p:nvSpPr>
          <p:cNvPr id="40" name="Text 37"/>
          <p:cNvSpPr/>
          <p:nvPr/>
        </p:nvSpPr>
        <p:spPr>
          <a:xfrm>
            <a:off x="2863155" y="4762351"/>
            <a:ext cx="1258491" cy="878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have you tested, and what does your data prove?</a:t>
            </a:r>
            <a:endParaRPr lang="en-US" sz="1275" dirty="0"/>
          </a:p>
        </p:txBody>
      </p:sp>
      <p:sp>
        <p:nvSpPr>
          <p:cNvPr id="41" name="Shape 38"/>
          <p:cNvSpPr/>
          <p:nvPr/>
        </p:nvSpPr>
        <p:spPr>
          <a:xfrm>
            <a:off x="4278511" y="4456658"/>
            <a:ext cx="9525" cy="124271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02336" y="4551908"/>
            <a:ext cx="143132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75" dirty="0"/>
          </a:p>
        </p:txBody>
      </p:sp>
      <p:sp>
        <p:nvSpPr>
          <p:cNvPr id="43" name="Text 40"/>
          <p:cNvSpPr/>
          <p:nvPr/>
        </p:nvSpPr>
        <p:spPr>
          <a:xfrm>
            <a:off x="4402336" y="4762351"/>
            <a:ext cx="13004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working?</a:t>
            </a:r>
            <a:endParaRPr lang="en-US" sz="1275" dirty="0"/>
          </a:p>
        </p:txBody>
      </p:sp>
      <p:sp>
        <p:nvSpPr>
          <p:cNvPr id="44" name="Shape 41"/>
          <p:cNvSpPr/>
          <p:nvPr/>
        </p:nvSpPr>
        <p:spPr>
          <a:xfrm>
            <a:off x="5817840" y="4456658"/>
            <a:ext cx="9525" cy="124271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941665" y="4551908"/>
            <a:ext cx="1431161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75" dirty="0"/>
          </a:p>
        </p:txBody>
      </p:sp>
      <p:sp>
        <p:nvSpPr>
          <p:cNvPr id="46" name="Text 43"/>
          <p:cNvSpPr/>
          <p:nvPr/>
        </p:nvSpPr>
        <p:spPr>
          <a:xfrm>
            <a:off x="5941665" y="4762351"/>
            <a:ext cx="1106835" cy="45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needs improvement?</a:t>
            </a:r>
            <a:endParaRPr lang="en-US" sz="1275" dirty="0"/>
          </a:p>
        </p:txBody>
      </p:sp>
      <p:sp>
        <p:nvSpPr>
          <p:cNvPr id="47" name="Shape 44"/>
          <p:cNvSpPr/>
          <p:nvPr/>
        </p:nvSpPr>
        <p:spPr>
          <a:xfrm>
            <a:off x="7357021" y="4456658"/>
            <a:ext cx="9525" cy="124271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480846" y="4551908"/>
            <a:ext cx="143132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b="1" dirty="0">
                <a:solidFill>
                  <a:srgbClr val="007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75" dirty="0"/>
          </a:p>
        </p:txBody>
      </p:sp>
      <p:sp>
        <p:nvSpPr>
          <p:cNvPr id="49" name="Text 46"/>
          <p:cNvSpPr/>
          <p:nvPr/>
        </p:nvSpPr>
        <p:spPr>
          <a:xfrm>
            <a:off x="7480846" y="4762351"/>
            <a:ext cx="1355527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will you complete and verify the project?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8947547" y="6505575"/>
            <a:ext cx="158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5345611777FD4685FEF2B4A0B2C5CC" ma:contentTypeVersion="7" ma:contentTypeDescription="Create a new document." ma:contentTypeScope="" ma:versionID="ead705a1919537f0397e1ebbaa6ece88">
  <xsd:schema xmlns:xsd="http://www.w3.org/2001/XMLSchema" xmlns:xs="http://www.w3.org/2001/XMLSchema" xmlns:p="http://schemas.microsoft.com/office/2006/metadata/properties" xmlns:ns2="7d33cdcd-50a6-4f27-a046-e8c41b9e68c9" targetNamespace="http://schemas.microsoft.com/office/2006/metadata/properties" ma:root="true" ma:fieldsID="e965bb37f4b42ca0163ee3bb1ba48bf2" ns2:_="">
    <xsd:import namespace="7d33cdcd-50a6-4f27-a046-e8c41b9e68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33cdcd-50a6-4f27-a046-e8c41b9e68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142D56-34A8-443A-B237-E9D3BFDFB5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E0868-D890-4F80-BA70-21886C9283B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3.xml><?xml version="1.0" encoding="utf-8"?>
<ds:datastoreItem xmlns:ds="http://schemas.openxmlformats.org/officeDocument/2006/customXml" ds:itemID="{C4C0D3CB-9DAF-4D79-A82E-850E568188C9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560</Words>
  <Application>Microsoft Office PowerPoint</Application>
  <PresentationFormat>On-screen Show (4:3)</PresentationFormat>
  <Paragraphs>97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Boyer, Jamee M Capt USAF USAFA AW/ESAS</cp:lastModifiedBy>
  <cp:revision>4</cp:revision>
  <dcterms:created xsi:type="dcterms:W3CDTF">2026-10-19T15:57:23Z</dcterms:created>
  <dcterms:modified xsi:type="dcterms:W3CDTF">2026-10-19T19:11:49Z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0x010100365345611777FD4685FEF2B4A0B2C5CC</vt:lpwstr>
  </property>
  <property fmtid="{D5CDD505-2E9C-101B-9397-08002B2CF9AE}" pid="3" name="MediaServiceImageTags">
    <vt:lpwstr/>
  </property>
</Properties>
</file>